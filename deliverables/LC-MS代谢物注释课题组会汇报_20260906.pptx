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592b18604e4184" /><Relationship Type="http://schemas.openxmlformats.org/officeDocument/2006/relationships/extended-properties" Target="/docProps/app.xml" Id="Rf38a7cc614354625" /><Relationship Type="http://schemas.openxmlformats.org/officeDocument/2006/relationships/officeDocument" Target="/ppt/presentation.xml" Id="R8eada445b4514c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e637150118477a"/>
  </p:sldMasterIdLst>
  <p:notesMasterIdLst>
    <p:notesMasterId xmlns:r="http://schemas.openxmlformats.org/officeDocument/2006/relationships" r:id="R244887f7fd7643c8"/>
  </p:notesMasterIdLst>
  <p:sldIdLst>
    <p:sldId xmlns:r="http://schemas.openxmlformats.org/officeDocument/2006/relationships" id="256" r:id="R858aae6a027743f6"/>
    <p:sldId xmlns:r="http://schemas.openxmlformats.org/officeDocument/2006/relationships" id="257" r:id="Rd4d91c8ce7df4441"/>
    <p:sldId xmlns:r="http://schemas.openxmlformats.org/officeDocument/2006/relationships" id="258" r:id="R3a64555f69594f09"/>
    <p:sldId xmlns:r="http://schemas.openxmlformats.org/officeDocument/2006/relationships" id="259" r:id="R8efa29bcaa664b3d"/>
    <p:sldId xmlns:r="http://schemas.openxmlformats.org/officeDocument/2006/relationships" id="260" r:id="R10e998568be54636"/>
    <p:sldId xmlns:r="http://schemas.openxmlformats.org/officeDocument/2006/relationships" id="261" r:id="Rbdfb3e3cbc434228"/>
    <p:sldId xmlns:r="http://schemas.openxmlformats.org/officeDocument/2006/relationships" id="262" r:id="Rd649809864794cc6"/>
    <p:sldId xmlns:r="http://schemas.openxmlformats.org/officeDocument/2006/relationships" id="263" r:id="R340e6d7c8686411e"/>
    <p:sldId xmlns:r="http://schemas.openxmlformats.org/officeDocument/2006/relationships" id="264" r:id="Rd54e5df2e06b448d"/>
    <p:sldId xmlns:r="http://schemas.openxmlformats.org/officeDocument/2006/relationships" id="265" r:id="R411220741e7d490c"/>
    <p:sldId xmlns:r="http://schemas.openxmlformats.org/officeDocument/2006/relationships" id="266" r:id="Ra283455089544321"/>
    <p:sldId xmlns:r="http://schemas.openxmlformats.org/officeDocument/2006/relationships" id="267" r:id="R67e7854323e24984"/>
    <p:sldId xmlns:r="http://schemas.openxmlformats.org/officeDocument/2006/relationships" id="268" r:id="Raacb0e237c1344b8"/>
    <p:sldId xmlns:r="http://schemas.openxmlformats.org/officeDocument/2006/relationships" id="269" r:id="R21446146038849d9"/>
    <p:sldId xmlns:r="http://schemas.openxmlformats.org/officeDocument/2006/relationships" id="270" r:id="R449f04b1ae644962"/>
    <p:sldId xmlns:r="http://schemas.openxmlformats.org/officeDocument/2006/relationships" id="271" r:id="R8939c7b355294691"/>
    <p:sldId xmlns:r="http://schemas.openxmlformats.org/officeDocument/2006/relationships" id="272" r:id="Rd11c77b9306d4dbd"/>
    <p:sldId xmlns:r="http://schemas.openxmlformats.org/officeDocument/2006/relationships" id="273" r:id="R983e150993f84b70"/>
    <p:sldId xmlns:r="http://schemas.openxmlformats.org/officeDocument/2006/relationships" id="274" r:id="R804948d16a864377"/>
    <p:sldId xmlns:r="http://schemas.openxmlformats.org/officeDocument/2006/relationships" id="275" r:id="R113c4c7811fa40ab"/>
    <p:sldId xmlns:r="http://schemas.openxmlformats.org/officeDocument/2006/relationships" id="276" r:id="Re51d5ebedb0b494f"/>
    <p:sldId xmlns:r="http://schemas.openxmlformats.org/officeDocument/2006/relationships" id="277" r:id="R177d5a2087cb412a"/>
    <p:sldId xmlns:r="http://schemas.openxmlformats.org/officeDocument/2006/relationships" id="278" r:id="R9c04bf71876043c7"/>
    <p:sldId xmlns:r="http://schemas.openxmlformats.org/officeDocument/2006/relationships" id="279" r:id="Reebabc257ebd42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8308faf26a44ea" /><Relationship Type="http://schemas.openxmlformats.org/officeDocument/2006/relationships/slideMaster" Target="/ppt/slideMasters/slideMaster1.xml" Id="R1be637150118477a" /><Relationship Type="http://schemas.openxmlformats.org/officeDocument/2006/relationships/notesMaster" Target="/ppt/notesMasters/notesMaster1.xml" Id="R244887f7fd7643c8" /><Relationship Type="http://schemas.openxmlformats.org/officeDocument/2006/relationships/presProps" Target="/ppt/presProps.xml" Id="Raaf44536b12f43f9" /><Relationship Type="http://schemas.openxmlformats.org/officeDocument/2006/relationships/tableStyles" Target="/ppt/tableStyles.xml" Id="R18b81ff0931843ed" /><Relationship Type="http://schemas.openxmlformats.org/officeDocument/2006/relationships/slide" Target="/ppt/slides/slide1.xml" Id="R858aae6a027743f6" /><Relationship Type="http://schemas.openxmlformats.org/officeDocument/2006/relationships/slide" Target="/ppt/slides/slide2.xml" Id="Rd4d91c8ce7df4441" /><Relationship Type="http://schemas.openxmlformats.org/officeDocument/2006/relationships/slide" Target="/ppt/slides/slide3.xml" Id="R3a64555f69594f09" /><Relationship Type="http://schemas.openxmlformats.org/officeDocument/2006/relationships/slide" Target="/ppt/slides/slide4.xml" Id="R8efa29bcaa664b3d" /><Relationship Type="http://schemas.openxmlformats.org/officeDocument/2006/relationships/slide" Target="/ppt/slides/slide5.xml" Id="R10e998568be54636" /><Relationship Type="http://schemas.openxmlformats.org/officeDocument/2006/relationships/slide" Target="/ppt/slides/slide6.xml" Id="Rbdfb3e3cbc434228" /><Relationship Type="http://schemas.openxmlformats.org/officeDocument/2006/relationships/slide" Target="/ppt/slides/slide7.xml" Id="Rd649809864794cc6" /><Relationship Type="http://schemas.openxmlformats.org/officeDocument/2006/relationships/slide" Target="/ppt/slides/slide8.xml" Id="R340e6d7c8686411e" /><Relationship Type="http://schemas.openxmlformats.org/officeDocument/2006/relationships/slide" Target="/ppt/slides/slide9.xml" Id="Rd54e5df2e06b448d" /><Relationship Type="http://schemas.openxmlformats.org/officeDocument/2006/relationships/slide" Target="/ppt/slides/slide10.xml" Id="R411220741e7d490c" /><Relationship Type="http://schemas.openxmlformats.org/officeDocument/2006/relationships/slide" Target="/ppt/slides/slide11.xml" Id="Ra283455089544321" /><Relationship Type="http://schemas.openxmlformats.org/officeDocument/2006/relationships/slide" Target="/ppt/slides/slide12.xml" Id="R67e7854323e24984" /><Relationship Type="http://schemas.openxmlformats.org/officeDocument/2006/relationships/slide" Target="/ppt/slides/slide13.xml" Id="Raacb0e237c1344b8" /><Relationship Type="http://schemas.openxmlformats.org/officeDocument/2006/relationships/slide" Target="/ppt/slides/slide14.xml" Id="R21446146038849d9" /><Relationship Type="http://schemas.openxmlformats.org/officeDocument/2006/relationships/slide" Target="/ppt/slides/slide15.xml" Id="R449f04b1ae644962" /><Relationship Type="http://schemas.openxmlformats.org/officeDocument/2006/relationships/slide" Target="/ppt/slides/slide16.xml" Id="R8939c7b355294691" /><Relationship Type="http://schemas.openxmlformats.org/officeDocument/2006/relationships/slide" Target="/ppt/slides/slide17.xml" Id="Rd11c77b9306d4dbd" /><Relationship Type="http://schemas.openxmlformats.org/officeDocument/2006/relationships/slide" Target="/ppt/slides/slide18.xml" Id="R983e150993f84b70" /><Relationship Type="http://schemas.openxmlformats.org/officeDocument/2006/relationships/slide" Target="/ppt/slides/slide19.xml" Id="R804948d16a864377" /><Relationship Type="http://schemas.openxmlformats.org/officeDocument/2006/relationships/slide" Target="/ppt/slides/slide20.xml" Id="R113c4c7811fa40ab" /><Relationship Type="http://schemas.openxmlformats.org/officeDocument/2006/relationships/slide" Target="/ppt/slides/slide21.xml" Id="Re51d5ebedb0b494f" /><Relationship Type="http://schemas.openxmlformats.org/officeDocument/2006/relationships/slide" Target="/ppt/slides/slide22.xml" Id="R177d5a2087cb412a" /><Relationship Type="http://schemas.openxmlformats.org/officeDocument/2006/relationships/slide" Target="/ppt/slides/slide23.xml" Id="R9c04bf71876043c7" /><Relationship Type="http://schemas.openxmlformats.org/officeDocument/2006/relationships/slide" Target="/ppt/slides/slide24.xml" Id="Reebabc257ebd42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441a45d25442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ffeb08e22e41d1" /><Relationship Type="http://schemas.openxmlformats.org/officeDocument/2006/relationships/notesMaster" Target="/ppt/notesMasters/notesMaster1.xml" Id="R8b569adfea5941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5ccbff40434445" /><Relationship Type="http://schemas.openxmlformats.org/officeDocument/2006/relationships/notesMaster" Target="/ppt/notesMasters/notesMaster1.xml" Id="R697a1813e32e46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1839f96ba34cc0" /><Relationship Type="http://schemas.openxmlformats.org/officeDocument/2006/relationships/notesMaster" Target="/ppt/notesMasters/notesMaster1.xml" Id="R48d1134e057f4a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0be82883534e13" /><Relationship Type="http://schemas.openxmlformats.org/officeDocument/2006/relationships/notesMaster" Target="/ppt/notesMasters/notesMaster1.xml" Id="R7874dfd1151747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c54ac988e94ba5" /><Relationship Type="http://schemas.openxmlformats.org/officeDocument/2006/relationships/notesMaster" Target="/ppt/notesMasters/notesMaster1.xml" Id="R9a07996a7f2d4c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f6e2bc1a494c4c" /><Relationship Type="http://schemas.openxmlformats.org/officeDocument/2006/relationships/notesMaster" Target="/ppt/notesMasters/notesMaster1.xml" Id="R1fa93915d1fe48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28cc83a6cd486e" /><Relationship Type="http://schemas.openxmlformats.org/officeDocument/2006/relationships/notesMaster" Target="/ppt/notesMasters/notesMaster1.xml" Id="R82bc2b7db10342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1e75af834d4d48" /><Relationship Type="http://schemas.openxmlformats.org/officeDocument/2006/relationships/notesMaster" Target="/ppt/notesMasters/notesMaster1.xml" Id="Rf04fb90bc7ed4e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deb5d1efc64913" /><Relationship Type="http://schemas.openxmlformats.org/officeDocument/2006/relationships/notesMaster" Target="/ppt/notesMasters/notesMaster1.xml" Id="R8557757235e548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d577dc2fc74274" /><Relationship Type="http://schemas.openxmlformats.org/officeDocument/2006/relationships/notesMaster" Target="/ppt/notesMasters/notesMaster1.xml" Id="R4dfec82d527542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a485f525ab45c9" /><Relationship Type="http://schemas.openxmlformats.org/officeDocument/2006/relationships/notesMaster" Target="/ppt/notesMasters/notesMaster1.xml" Id="R256972ce6f7e46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219877d5e14b48" /><Relationship Type="http://schemas.openxmlformats.org/officeDocument/2006/relationships/notesMaster" Target="/ppt/notesMasters/notesMaster1.xml" Id="R3724dc0298864d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5ab6315ff440b0" /><Relationship Type="http://schemas.openxmlformats.org/officeDocument/2006/relationships/notesMaster" Target="/ppt/notesMasters/notesMaster1.xml" Id="Rdde06da7e6b545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2ff87ea9bd49b5" /><Relationship Type="http://schemas.openxmlformats.org/officeDocument/2006/relationships/notesMaster" Target="/ppt/notesMasters/notesMaster1.xml" Id="Rdf7a5f0af0f848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509e38d1fd41d7" /><Relationship Type="http://schemas.openxmlformats.org/officeDocument/2006/relationships/notesMaster" Target="/ppt/notesMasters/notesMaster1.xml" Id="R960095781ad147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565df0018248f8" /><Relationship Type="http://schemas.openxmlformats.org/officeDocument/2006/relationships/notesMaster" Target="/ppt/notesMasters/notesMaster1.xml" Id="R629ac34770ae43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30f49355734d13" /><Relationship Type="http://schemas.openxmlformats.org/officeDocument/2006/relationships/notesMaster" Target="/ppt/notesMasters/notesMaster1.xml" Id="R79d1d8fe2d4343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f3297a9b4b24a4c" /><Relationship Type="http://schemas.openxmlformats.org/officeDocument/2006/relationships/notesMaster" Target="/ppt/notesMasters/notesMaster1.xml" Id="Re6d6e97e64a545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234ab499a34887" /><Relationship Type="http://schemas.openxmlformats.org/officeDocument/2006/relationships/notesMaster" Target="/ppt/notesMasters/notesMaster1.xml" Id="Rc70f8e47ee04495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e619252b0f4df4" /><Relationship Type="http://schemas.openxmlformats.org/officeDocument/2006/relationships/notesMaster" Target="/ppt/notesMasters/notesMaster1.xml" Id="Rcf655fb8ebe1476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5862c4491f4d14" /><Relationship Type="http://schemas.openxmlformats.org/officeDocument/2006/relationships/notesMaster" Target="/ppt/notesMasters/notesMaster1.xml" Id="R5e2f1cc00be14ba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0653387cebd49c1" /><Relationship Type="http://schemas.openxmlformats.org/officeDocument/2006/relationships/notesMaster" Target="/ppt/notesMasters/notesMaster1.xml" Id="R872de5286bcd441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c64112bc5b24316" /><Relationship Type="http://schemas.openxmlformats.org/officeDocument/2006/relationships/notesMaster" Target="/ppt/notesMasters/notesMaster1.xml" Id="R322a2e6984144aa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375b4bfac204106" /><Relationship Type="http://schemas.openxmlformats.org/officeDocument/2006/relationships/notesMaster" Target="/ppt/notesMasters/notesMaster1.xml" Id="R0b4ac2241d6042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听众一个明确预期：这不是一次算法模块清单，也不是把前三次汇报拼接起来。今天要回答三个连续的问题。第一，非靶向代谢组学到底给了我们什么数据；第二，代谢物注释为什么难、我们怎样改进；第三，这些改进能否落到真实生物学问题，并且保留合理的不确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建议开场控制在四十秒以内，不要提前报很多指标。封面右侧只用一条谱图到候选排序的路径，帮助第一次接触课题的同学形成最初的任务图景。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这一页是听众导航。前半段会刻意放慢速度，因为很多同学第一次接触质谱数据。我们先把 feature、MS1、MS2 和谱库检索讲清楚，再进入模型。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后半段的组织原则不是时间顺序，而是证据层次：共享谱图表示、局部谱学证据、生化上下文。最后用真实队列说明，这些方法最终要服务于什么样的生物学结论。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这一页建议结合实验流程讲，而不是从模型讲起。非靶向代谢组学不会直接输出一张代谢物名单。液相色谱先按保留时间分离样本中的分子，MS1 扫描得到大量 m/z–RT 峰；对其中一部分母离子再采集 MS2 碎片谱。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后面所有计算都建立在这两个对象上：feature 用于跨样本定量，MS/MS 用于身份推断。特别强调，feature 编号只是一个信号索引，不等于代谢物身份。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这里把任务讲完整：输入不是 HMDB、GNPS 或 MoNA 这些数据库，而是一条真实实验中的待注释证据记录。数据库承担训练、候选生成、参考检索或评估角色。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输出也不是一个孤立的化合物名字。至少要包括候选排序、稳定结构标识符、支持证据和身份层级。遇到同分异构体无法区分时，输出结构类别比强行报一个精确名称更科学。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这页不要说成单纯的分类问题。MS/MS 注释本质上是一个欠定的逆问题：正向上，结构在特定条件下产生碎片；逆向上，我们从不完整且条件依赖的碎片反推结构。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三个困难分别对应后面的三类方法：谱图表征要处理同分子跨条件变化，局部证据要找近邻结构之间少数关键差异，生化上下文要在多个谱学相近候选之间提供额外约束。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这一页是整场汇报的口径边界。对课题组汇报时，明确说我们做的是候选检索与排序，而不是不受约束的从头结构生成。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同样重要的是生物学解释边界：一个 feature 丰度升高，只能说明静态丰度差异；不能直接推出通量、酶活性或某条通路被激活。后面讲 MTBLS13729 时会继续沿用这个边界。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这页是方法部分的总图。三个模块不是一条必须顺序通过的流水线，也不是可以把百分点直接相加的三个插件。共享 embedding 改变所有谱图的表示；P2b 和 BioAware 是候选级专家，分别利用局部谱学证据和样本内生化上下文。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每个模块必须在与它匹配的查询集、候选集和评价协议下判断。后面报结果时，会始终把开发、封存和外部数据边界说清楚。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这一页对非计算听众只讲两件事。第一，DreaMS 不是直接背化合物名称，而是先从大规模未注释谱图中学习峰之间的统计规律。第二，它把每张谱图压缩成一个固定长度向量，之后通过向量相似度完成谱库检索。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不需要在正文解释 Transformer 的注意力公式。真正需要听众理解的是：embedding 是对整张谱图的全局摘要；它很强，但压缩过程可能丢失少量决定近邻结构差异的局部证据。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DreaMS paper and repository implementation context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这页必须讲清，因为后面所有数字都依赖评价协议。我们不是看模型给的最高分像不像，而是在已知真值的查询上，先按质量误差和加合物冻结候选集合，再看真实分子排第几。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Recall@1 最直观；MRR 能反映真实分子从较后位置向前移动；near-core 是压力测试，专门看高度相似的近邻结构。不同协议下的百分点不能拼接，这也是为什么后面三个模块会分开汇报。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D:/DreaMS/docs/OFFICIAL_DREAMS_CHECKPOINT_BASELINE_LEDGER_20260829.md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 DreaMS 在普通谱库检索上已经达到很高准确率，因此后续提升不会来自大面积翻转。完整错误图谱中有 1,805 条 Top-1 错误，其中 1,446 条属于近邻结构错误，占约八成。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这说明真正有价值的问题不是再做一个宽泛分类器，而是识别哪些局部证据导致近邻候选排序错误，并尽可能修正错误而不破坏原本正确的查询。严格 near-core 只有约 48.8%，也提醒我们近异构体仍是最硬的边界。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D:/DreaMS/docs/OFFICIAL_DREAMS_CHECKPOINT_BASELINE_LEDGER_20260829.md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我们的关键转折是把错误分析从相关性推进到反事实。对一条错误 query，只改变一组可解释的谱峰，再看真实候选排名是否恢复；同时必须与同剂量的随机峰操作比较。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定向操作和随机操作一样有效，就不能说模型学到了某种化学机制。只有超过匹配对照的增量，才可以归因于这组峰。这里不展开已经放弃的具体训练分支，只保留它对当前研究设计最重要的启发：任何定向扰动都要有因果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共享 embedding 路线的目标很克制：保持 DreaMS 主体架构和推理接口不变，只用开发阶段得到的定向峰信息改善编码器。部署时仍然只输入干净谱图。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训练和评价按分子式分折，避免同一分子式家族同时进入训练和验证；每折运行多个随机种子，判断提升是否稳定。后面展示的是目前最可靠的多折结果，而不是单次最好值。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目前最可靠的共享表示结果是 E4-A high-LR multifold。五个分子式折、每折三个随机种子，Recall@1 平均提升 0.6362 个百分点，MRR 提升 0.4246 个百分点，near Recall@1 提升 0.5300 个百分点；十五次运行方向全部为正。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这个数字不大，但有两个价值：它改变的是共享 embedding，而不是只对少量候选做后处理；并且多折多种子稳定。口径上仍应称为开发期 OOF 证据，不能包装成独立外部盲测。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D:/DreaMS/docs/NOISE_REVIEW_BOARD_AND_NEXT_FINETUNING_DECISION_20260905.md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这是最新结果带来的核心认识。我们已经能在单条谱图上找到有用的局部修正，但近期严格的配对对照显示，简单地把这些动作灌入共享编码器，并不能产生独立的 Top-1 增量。多数表面提升来自原有成熟模型或共同的继续训练。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因此已经放弃的动态直接训练路线不需要在组会上展开。只需说明：它完成了排除性验证，告诉我们瓶颈在“动作到共享表示的转移”，下一步应研究有效性路由和更直接的边界学习。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D:/DreaMS/docs/NOISE_REVIEW_BOARD_AND_NEXT_FINETUNING_DECISION_20260905.md</a:t>
            </a:r>
          </a:p>
          <a:p xmlns:a="http://schemas.openxmlformats.org/drawingml/2006/main">
            <a:r>
              <a:t>- D:/DreaMS/docs/NOISE_FINAL_DYNAMIC_DIRECT_PHASE_A_RESULT_20260905.md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P2b 的直觉是：embedding 对整张谱图做压缩，有些决定候选差异的局部峰和中性丢失可能被弱化。于是我们在冻结的候选集合中，再用局部证据调整排名。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它不改变 DreaMS embedding，也不生成候选分子，只是候选级后处理专家。这样定位很重要，因为它解释了为什么 P2b 的结果不能与共享表示的百分点直接相加。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P2b 在封存的三千条主面板上把 Recall@1 从 0.8793 提高到 0.8900，提升 1.07 个百分点，净修正 32 条，McNemar 检验 p 值约 0.010。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但在 496 条严格 near-core 上，它反而下降 4.23 个百分点。这个负结果必须与主结果同页展示，因为它定义了真实部署边界：局部中性丢失证据能够帮助一般困难候选，却可能误导高度相似的异构体。后续需要仅依赖推理时可得信息的安全门控。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D:/DreaMS/docs/P2B_RANK_FUSION_FORMAL_RECORD_20260823.md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BioAware 解决的是另一类问题：当两种候选的谱学分数非常接近时，查看同一样本中是否检测到合理的底物、产物或反应邻居。它使用的是候选特异的上下文，不是把反应邻居当成同一个分子的正样本。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上下文只作为第二层证据，必须建立在质量、加合物和原始 MS2 边完整性门控之上。没有谱学支持时，不能仅凭通路关系指定身份。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在化学完整性过滤后的 548 条外部 Level-1 负离子查询上，保守 BioAware 专家提升 3.47 个百分点，修正 19 条且没有新增错误；移除严格边门控后提升更高，但出现一条新增错误。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这个结果证明样本内候选上下文确实能提供独立排序信息。口径上必须保留两个限制：四个生物来源都进入过开发流程，因此不是独立盲测；它是候选级专家，不代表共享谱图 embedding 已经改善。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D:/DreaMS/docs/BIOAWARE_MILESTONE_AND_B4_DIRECT_SHARED_EMBEDDING_20260905.md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这一页把三个模块放到同一张图里，但避免制造一个虚假的总分。E4-A 回答共享表示能否变好；P2b 回答局部谱学证据是否能补充全局向量；BioAware 回答样本上下文是否能进一步约束候选。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它们的查询集、候选集和验证级别不同，所以不能把 0.64、1.07 和 3.47 相加。我们最终要整合的是证据链和门控规则，而不是百分点。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MTBLS13729 包含三十名患者的肿瘤与配对正常组织，共六十个生物样本。病理分为左侧管状、右侧管状和右侧黏液性各十对。每个样本采集四个色谱—离子模式面板，因此共有 240 个 mzML 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这套数据的价值是既有真实复杂样本，又有患者配对设计。当前正式生物学主结果来自重新冻结的 RPLC 空间；HILIC 不在同一完整协议下，因此不把四个面板混成一个总体注释率。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D:/DreaMS/data/mtbls13729/clinical_metadata_s2.tsv</a:t>
            </a:r>
          </a:p>
          <a:p xmlns:a="http://schemas.openxmlformats.org/drawingml/2006/main">
            <a:r>
              <a:t>- D:/DreaMS/docs/MTBLS13729_ANNOTATION_TO_BIOLOGY_BENCHMARK_20260901.md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 16,953 个共同 RPLC target 中，官方 DreaMS 覆盖 20.16%，E6 为 20.21%，P2b 为 21.16%。但候选覆盖不等于强注释证据。按本项目冻结的 Level 2a-supported 标准，官方有 254 个，E6 增加到 276 个，P2b 反而只有 230 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这里需要主动解释：该真实应用面板是在 E4-A 多折结果形成之前冻结的，因此 shared embedding 使用 E6 fixed-v2-sw2。它是冻结应用协议的一部分，不代表 E6 优于当前 E4-A。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 P2b-only 身份更适合作为需要正交验证的假设，而不是直接纳入主要生物学结论。三路共识优先用于复核，三路并集只能代表候选发现上限。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D:/DreaMS/docs/MTBLS13729_ANNOTATION_TO_BIOLOGY_BENCHMARK_20260901.md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3222 是当前最稳定的主结果。它的 m/z 为 448.33946255，保留时间约 631.066 秒，三路方法一致支持 C20:4 arachidonoylcarnitine-like，达到项目定义的 Level 2a-supported；靶向 EIC 在相关样本中百分之百检出。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在黏液性肿瘤与配对正常组织之间，log2 fold-change 在不同归一化下为 1.228 到 1.760，约二点三四到三点三九倍，主效应最大 q 值为 0.0925。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但它与右侧管状肿瘤的交互检验没有通过 FDR 10%，所以不能说“黏液性特异”。目前只能把结构写到长链酰基肉碱类别或 C20:4-like；精确双键位置和异构体仍需标准品。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D:/DreaMS/docs/MTBLS13729_FROZEN_BIOLOGY_RESULT_20260829.md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这一页把最终落地路径讲清。计算注释提供的是候选和证据，不是自动获得 MSI Level 1。L3 可能只有分子式或候选集合；L2b 能支持结构类别；L2a 有较强参考谱和诊断碎片支持；L1 仍要求同方法标准品、保留时间、全谱和加标共洗脱。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当前优先人工复核 3019、1717 和 3222 的 MS2、加合物和异构体；对 3222 先确认长链酰基肉碱类别，再决定是否购买或合成具体标准品。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用四句话收束。第一，我们已经把任务、输入输出和评价协议定义清楚。第二，三类模块分别对应全局表示、局部谱学证据和样本上下文。第三，当前结果既有稳定正向，也有清楚的失败与安全边界。第四，真实数据中已经得到可复核的候选和丰度信号，但最终身份仍需实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下一阶段优先做三件事：建立真正独立的盲测；围绕错误决策边界改进共享 embedding，而不是扩大已经失效的训练核；对 3019、1717 和 3222 完成人工谱学复核与标准品验证。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结束时可以说：以上是目前课题的完整进展，欢迎大家从质谱实验、代谢生物学和统计设计三个角度提出意见。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615d144014e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7c1df2f0874c9e" /><Relationship Type="http://schemas.openxmlformats.org/officeDocument/2006/relationships/slideLayout" Target="/ppt/slideLayouts/slideLayout1.xml" Id="R75d71c003a2c4b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d71c003a2c4b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a50090fca4d37" /><Relationship Type="http://schemas.openxmlformats.org/officeDocument/2006/relationships/image" Target="/ppt/media/image.jpeg" Id="R50a2b45cd29b4109" /><Relationship Type="http://schemas.openxmlformats.org/officeDocument/2006/relationships/notesSlide" Target="/ppt/notesSlides/notesSlide1.xml" Id="R2dd02fdcd29140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92e4aeb5f4e89" /><Relationship Type="http://schemas.openxmlformats.org/officeDocument/2006/relationships/notesSlide" Target="/ppt/notesSlides/notesSlide2.xml" Id="R452f55c57e754b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ecc83484a4d4f" /><Relationship Type="http://schemas.openxmlformats.org/officeDocument/2006/relationships/notesSlide" Target="/ppt/notesSlides/notesSlide3.xml" Id="Rbd2652b99ee146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d4649c54c4a18" /><Relationship Type="http://schemas.openxmlformats.org/officeDocument/2006/relationships/notesSlide" Target="/ppt/notesSlides/notesSlide4.xml" Id="R197df8d6916247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0c0fe9600458e" /><Relationship Type="http://schemas.openxmlformats.org/officeDocument/2006/relationships/notesSlide" Target="/ppt/notesSlides/notesSlide5.xml" Id="Rdac2b832982a4c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b6c64b026473b" /><Relationship Type="http://schemas.openxmlformats.org/officeDocument/2006/relationships/notesSlide" Target="/ppt/notesSlides/notesSlide6.xml" Id="R8d0d837186c74c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3209ef4e6468e" /><Relationship Type="http://schemas.openxmlformats.org/officeDocument/2006/relationships/notesSlide" Target="/ppt/notesSlides/notesSlide7.xml" Id="Rae46d8da42274c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dcd01362c48f7" /><Relationship Type="http://schemas.openxmlformats.org/officeDocument/2006/relationships/image" Target="/ppt/media/image.png" Id="R47ffff14b1f24021" /><Relationship Type="http://schemas.openxmlformats.org/officeDocument/2006/relationships/notesSlide" Target="/ppt/notesSlides/notesSlide8.xml" Id="R960417829aad46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8912a09244881" /><Relationship Type="http://schemas.openxmlformats.org/officeDocument/2006/relationships/notesSlide" Target="/ppt/notesSlides/notesSlide9.xml" Id="Rfcb287e726c549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b1a5035be40a1" /><Relationship Type="http://schemas.openxmlformats.org/officeDocument/2006/relationships/notesSlide" Target="/ppt/notesSlides/notesSlide10.xml" Id="R59b571952f2a4f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036c823254fd3" /><Relationship Type="http://schemas.openxmlformats.org/officeDocument/2006/relationships/notesSlide" Target="/ppt/notesSlides/notesSlide11.xml" Id="R7717f1b486864c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ad75b807046b6" /><Relationship Type="http://schemas.openxmlformats.org/officeDocument/2006/relationships/notesSlide" Target="/ppt/notesSlides/notesSlide12.xml" Id="R28e4f5e4523d4b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96e62996b40ef" /><Relationship Type="http://schemas.openxmlformats.org/officeDocument/2006/relationships/chart" Target="/ppt/slides/charts/chart1.xml" Id="Ra94d63498a5146d3" /><Relationship Type="http://schemas.openxmlformats.org/officeDocument/2006/relationships/notesSlide" Target="/ppt/notesSlides/notesSlide13.xml" Id="R9f6b52f0277048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675a0f73f448a" /><Relationship Type="http://schemas.openxmlformats.org/officeDocument/2006/relationships/notesSlide" Target="/ppt/notesSlides/notesSlide14.xml" Id="R5a596baf9b3e44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8f963089b428b" /><Relationship Type="http://schemas.openxmlformats.org/officeDocument/2006/relationships/notesSlide" Target="/ppt/notesSlides/notesSlide15.xml" Id="R88765e2f6c484f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d95efeb8f4b8f" /><Relationship Type="http://schemas.openxmlformats.org/officeDocument/2006/relationships/chart" Target="/ppt/slides/charts/chart2.xml" Id="R9169aa5d8af94e1a" /><Relationship Type="http://schemas.openxmlformats.org/officeDocument/2006/relationships/notesSlide" Target="/ppt/notesSlides/notesSlide16.xml" Id="Rf0ae823d770249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7a58a251f4792" /><Relationship Type="http://schemas.openxmlformats.org/officeDocument/2006/relationships/notesSlide" Target="/ppt/notesSlides/notesSlide17.xml" Id="Raaf723867fa645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d099306164108" /><Relationship Type="http://schemas.openxmlformats.org/officeDocument/2006/relationships/chart" Target="/ppt/slides/charts/chart3.xml" Id="R8efed4e5c1604c03" /><Relationship Type="http://schemas.openxmlformats.org/officeDocument/2006/relationships/notesSlide" Target="/ppt/notesSlides/notesSlide18.xml" Id="Rc92067159073495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80e781f8a428e" /><Relationship Type="http://schemas.openxmlformats.org/officeDocument/2006/relationships/notesSlide" Target="/ppt/notesSlides/notesSlide19.xml" Id="Rf50b1e848fab40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73765dbaa4b4d" /><Relationship Type="http://schemas.openxmlformats.org/officeDocument/2006/relationships/notesSlide" Target="/ppt/notesSlides/notesSlide20.xml" Id="R364783a2e31948e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3f1538ba94dad" /><Relationship Type="http://schemas.openxmlformats.org/officeDocument/2006/relationships/chart" Target="/ppt/slides/charts/chart4.xml" Id="R0e98550e3c2441dd" /><Relationship Type="http://schemas.openxmlformats.org/officeDocument/2006/relationships/chart" Target="/ppt/slides/charts/chart5.xml" Id="Rc2e8f2bb6e054d3a" /><Relationship Type="http://schemas.openxmlformats.org/officeDocument/2006/relationships/notesSlide" Target="/ppt/notesSlides/notesSlide21.xml" Id="R212fc527b28c45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aae16ee534a64" /><Relationship Type="http://schemas.openxmlformats.org/officeDocument/2006/relationships/notesSlide" Target="/ppt/notesSlides/notesSlide22.xml" Id="Rb6280a4b318d40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5803a1c4f4d1a" /><Relationship Type="http://schemas.openxmlformats.org/officeDocument/2006/relationships/notesSlide" Target="/ppt/notesSlides/notesSlide23.xml" Id="Reb95d690b53a4d7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259dfcde14f54" /><Relationship Type="http://schemas.openxmlformats.org/officeDocument/2006/relationships/notesSlide" Target="/ppt/notesSlides/notesSlide24.xml" Id="Red81ca49124c4a9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E4-A：相对匹配官方 DreaMS 的平均提升（百分点）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B2430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平均提升</c:v>
          </c:tx>
          <c:spPr>
            <a:solidFill xmlns:a="http://schemas.openxmlformats.org/drawingml/2006/main">
              <a:srgbClr val="6F237C"/>
            </a:solidFill>
          </c:spPr>
          <c:cat>
            <c:strLit>
              <c:ptCount val="3"/>
              <c:pt idx="0">
                <c:v>Recall@1</c:v>
              </c:pt>
              <c:pt idx="1">
                <c:v>MRR</c:v>
              </c:pt>
              <c:pt idx="2">
                <c:v>near Recall@1</c:v>
              </c:pt>
            </c:strLit>
          </c:cat>
          <c:val>
            <c:numLit>
              <c:formatCode>0.0000</c:formatCode>
              <c:ptCount val="3"/>
              <c:pt idx="0">
                <c:v>0.6362</c:v>
              </c:pt>
              <c:pt idx="1">
                <c:v>0.4246</c:v>
              </c:pt>
              <c:pt idx="2">
                <c:v>0.53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B24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707985"/>
                    </a:solidFill>
                    <a:latin typeface="Microsoft YaHei"/>
                    <a:ea typeface="Microsoft YaHei"/>
                    <a:cs typeface="Microsoft YaHei"/>
                  </a:rPr>
                  <a:t>百分点（pp）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70798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DE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DE3"/>
      </a:solidFill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冻结 P2b 相对官方 DreaMS 的 Recall@1 变化（百分点）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B2430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变化</c:v>
          </c:tx>
          <c:spPr>
            <a:solidFill xmlns:a="http://schemas.openxmlformats.org/drawingml/2006/main">
              <a:srgbClr val="6F237C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3D8B6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94C55"/>
              </a:solidFill>
            </c:spPr>
          </c:dPt>
          <c:cat>
            <c:strLit>
              <c:ptCount val="2"/>
              <c:pt idx="0">
                <c:v>P3 主面板
(n=3,000)</c:v>
              </c:pt>
              <c:pt idx="1">
                <c:v>near-core
(n=496)</c:v>
              </c:pt>
            </c:strLit>
          </c:cat>
          <c:val>
            <c:numLit>
              <c:formatCode>0.00;-0.00</c:formatCode>
              <c:ptCount val="2"/>
              <c:pt idx="0">
                <c:v>1.07</c:v>
              </c:pt>
              <c:pt idx="1">
                <c:v>-4.23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B24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DE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-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707985"/>
                    </a:solidFill>
                    <a:latin typeface="Microsoft YaHei"/>
                    <a:ea typeface="Microsoft YaHei"/>
                    <a:cs typeface="Microsoft YaHei"/>
                  </a:rPr>
                  <a:t>百分点（pp）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70798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DE3"/>
      </a:solidFill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548 条外部 Level-1 [M−H]− 查询上的开发期增量（百分点）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B2430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Recall@1 提升</c:v>
          </c:tx>
          <c:spPr>
            <a:solidFill xmlns:a="http://schemas.openxmlformats.org/drawingml/2006/main">
              <a:srgbClr val="197F7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D8B6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9773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B6EA8"/>
              </a:solidFill>
            </c:spPr>
          </c:dPt>
          <c:cat>
            <c:strLit>
              <c:ptCount val="3"/>
              <c:pt idx="0">
                <c:v>保守门控
full_bioaware</c:v>
              </c:pt>
              <c:pt idx="1">
                <c:v>移除边门控
no_edge_gate</c:v>
              </c:pt>
              <c:pt idx="2">
                <c:v>谱学+已知拓扑</c:v>
              </c:pt>
            </c:strLit>
          </c:cat>
          <c:val>
            <c:numLit>
              <c:formatCode>0.00</c:formatCode>
              <c:ptCount val="3"/>
              <c:pt idx="0">
                <c:v>3.47</c:v>
              </c:pt>
              <c:pt idx="1">
                <c:v>4.01</c:v>
              </c:pt>
              <c:pt idx="2">
                <c:v>2.92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B24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DE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707985"/>
                    </a:solidFill>
                    <a:latin typeface="Microsoft YaHei"/>
                    <a:ea typeface="Microsoft YaHei"/>
                    <a:cs typeface="Microsoft YaHei"/>
                  </a:rPr>
                  <a:t>百分点（pp）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70798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DE3"/>
      </a:solidFill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共同 RPLC 目标空间的候选覆盖率（16,953 targets）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B2430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覆盖率</c:v>
          </c:tx>
          <c:spPr>
            <a:solidFill xmlns:a="http://schemas.openxmlformats.org/drawingml/2006/main">
              <a:srgbClr val="3B6EA8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6F237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9773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97F7A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B94C55"/>
              </a:solidFill>
            </c:spPr>
          </c:dPt>
          <c:cat>
            <c:strLit>
              <c:ptCount val="5"/>
              <c:pt idx="0">
                <c:v>官方 DreaMS</c:v>
              </c:pt>
              <c:pt idx="1">
                <c:v>E6 embedding</c:v>
              </c:pt>
              <c:pt idx="2">
                <c:v>冻结 P2b</c:v>
              </c:pt>
              <c:pt idx="3">
                <c:v>三路共识</c:v>
              </c:pt>
              <c:pt idx="4">
                <c:v>三路并集</c:v>
              </c:pt>
            </c:strLit>
          </c:cat>
          <c:val>
            <c:numLit>
              <c:formatCode>0.00</c:formatCode>
              <c:ptCount val="5"/>
              <c:pt idx="0">
                <c:v>20.16</c:v>
              </c:pt>
              <c:pt idx="1">
                <c:v>20.21</c:v>
              </c:pt>
              <c:pt idx="2">
                <c:v>21.16</c:v>
              </c:pt>
              <c:pt idx="3">
                <c:v>12.75</c:v>
              </c:pt>
              <c:pt idx="4">
                <c:v>21.23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B24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DE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707985"/>
                    </a:solidFill>
                    <a:latin typeface="Microsoft YaHei"/>
                    <a:ea typeface="Microsoft YaHei"/>
                    <a:cs typeface="Microsoft YaHei"/>
                  </a:rPr>
                  <a:t>覆盖率（%）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70798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DE3"/>
      </a:solidFill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达到 Level 2a-supported 强谱学证据的 feature 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B2430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feature 数</c:v>
          </c:tx>
          <c:spPr>
            <a:solidFill xmlns:a="http://schemas.openxmlformats.org/drawingml/2006/main">
              <a:srgbClr val="197F7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3D8B6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97732"/>
              </a:solidFill>
            </c:spPr>
          </c:dPt>
          <c:cat>
            <c:strLit>
              <c:ptCount val="3"/>
              <c:pt idx="0">
                <c:v>官方 DreaMS</c:v>
              </c:pt>
              <c:pt idx="1">
                <c:v>E6 embedding</c:v>
              </c:pt>
              <c:pt idx="2">
                <c:v>冻结 P2b</c:v>
              </c:pt>
            </c:strLit>
          </c:cat>
          <c:val>
            <c:numLit>
              <c:formatCode>0</c:formatCode>
              <c:ptCount val="3"/>
              <c:pt idx="0">
                <c:v>254</c:v>
              </c:pt>
              <c:pt idx="1">
                <c:v>276</c:v>
              </c:pt>
              <c:pt idx="2">
                <c:v>230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B243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DE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C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DE3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F0AF24-88FD-4892-997C-533DD21C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82D34-1E9B-48DC-8B79-2B6DB26C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2b45cd29b4109"/>
          <a:stretch xmlns:a="http://schemas.openxmlformats.org/drawingml/2006/main"/>
        </p:blipFill>
        <p:spPr>
          <a:xfrm xmlns:a="http://schemas.openxmlformats.org/drawingml/2006/main">
            <a:off x="8048625" y="400050"/>
            <a:ext cx="3067050" cy="1314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BBD95-5C7B-405B-8EC1-4FC8688A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2381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课题组组会 · 阶段性汇报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8D0AA-5385-4F74-8769-A6F83170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基于 DreaMS 的</a:t>
            </a:r>
          </a:p>
          <a:p xmlns:a="http://schemas.openxmlformats.org/drawingml/2006/main">
            <a:pPr algn="l">
              <a:defRPr sz="36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LC–MS/MS 代谢物注释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5F433-C905-4FD6-9F67-916034F2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8D4A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8D4A99"/>
                </a:solidFill>
                <a:latin typeface="Microsoft YaHei"/>
                <a:ea typeface="Microsoft YaHei"/>
                <a:cs typeface="Microsoft YaHei"/>
              </a:rPr>
              <a:t>从谱图表示、候选排序到真实队列中的生物学验证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A6F3A-015C-4944-B790-4DBC0F81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542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3F97A-5A2B-4A08-BBDE-3F91CCA3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汇报重点：问题是什么｜怎样判断做对了｜目前做到了哪一步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77156-2208-4F46-9D3B-03284F5B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14550"/>
            <a:ext cx="3162300" cy="3190875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78D7F-659C-4257-A52D-A26AC277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052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4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828B0-CDA1-4612-A60A-8E08B48A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98698"/>
            <a:ext cx="38100" cy="1969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6716D-26E5-4BAA-B0D4-91EA79BA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056" y="3083814"/>
            <a:ext cx="38100" cy="411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ACE5C-E2A1-4C67-8C85-96DE4E96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218117"/>
            <a:ext cx="38100" cy="2775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9ECDE-7F39-4E60-84F3-D9AD3E01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169" y="2761488"/>
            <a:ext cx="38100" cy="7341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B532A-9A21-40E9-A7B0-3B3D05DA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94279"/>
            <a:ext cx="38100" cy="5013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64D68-5682-4C16-967E-DCD7E495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281" y="2645093"/>
            <a:ext cx="38100" cy="8505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97F6F-9563-41A4-B95C-2BC185C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838" y="3119628"/>
            <a:ext cx="38100" cy="3760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D4DB2-498D-446D-8504-4EB8AD77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9394" y="2886837"/>
            <a:ext cx="38100" cy="608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B917F-54FE-47FF-83FD-2C4E7162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44977"/>
            <a:ext cx="38100" cy="2506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9EAF70-3B51-4831-8E4E-52D4AF3C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5528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1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1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m/z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86052-B99B-453C-9382-E35E20C6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514350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D7196B-EB6C-4AF8-B350-AA65F66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076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375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DreaMS embedding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A9577-466C-4ED9-B8B5-03E3E73F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196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候选 1  &gt;  候选 2  &gt;  候选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104628-7A7E-4D88-BD95-95D89D90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2026.09.06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0F14A2-E574-49A6-B664-23A99479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57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汇报人：________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1A92DE-6E46-4AF0-AD17-69309D89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清华大学</a:t>
            </a:r>
          </a:p>
        </p:txBody>
      </p:sp>
    </p:spTree>
    <p:extLst>
      <p:ext uri="{BB962C8B-B14F-4D97-AF65-F5344CB8AC3E}">
        <p14:creationId xmlns:p14="http://schemas.microsoft.com/office/powerpoint/2010/main" val="579357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A498E2-3866-4A68-B0D1-F15C8B98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92FA5-F134-45E0-89C1-C55CA26B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3C6DC-78F6-411F-8A2F-0086BF0F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C4931-547C-48F7-976D-6537F63C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F63CE-BCE7-4003-8327-7BBBA64D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汇报路线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11EA2-A2E3-4904-A52F-B192687A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先建立共同语言，再讨论方法与结果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6682D-494E-4025-A728-3AC59358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40FC0-3630-4AA9-97D8-FF05A560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4A553-E801-47A5-AE15-54C51AEC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20560-AE8D-4A69-95FE-F4A4F3A9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286000" cy="2933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7FC77-E5EA-4A00-B6EB-B2749480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EAD93-F2E3-4D8D-88B2-2DC5496D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82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看懂数据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ADE20-DFC8-4D66-9192-D2226A96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1447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97414-453C-4B05-84CC-54C06DE9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790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LC–MS 如何产生</a:t>
            </a:r>
          </a:p>
          <a:p xmlns:a="http://schemas.openxmlformats.org/drawingml/2006/main">
            <a:pPr algn="ctr">
              <a:def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feature 与 MS/MS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BE6F7-5D93-40CA-BA02-9EE294ED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99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82C6A-C96A-4615-AA3A-9DFB52CF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762125"/>
            <a:ext cx="2286000" cy="2933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2B391-9082-415A-B6CC-CAD94898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971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C472A-2FDA-44E2-97A9-904B205B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552700"/>
            <a:ext cx="182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定义问题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46DA7-A070-4059-A2AE-84AC0B91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067050"/>
            <a:ext cx="1447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2CAB9-F3B0-479F-8960-ED930C65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09950"/>
            <a:ext cx="1790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输入、输出与</a:t>
            </a:r>
          </a:p>
          <a:p xmlns:a="http://schemas.openxmlformats.org/drawingml/2006/main">
            <a:pPr algn="ctr">
              <a:def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评价标准是什么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5F4F1-6A3D-43E6-BD49-FDA84300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099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05400C-3139-4FDC-AF96-B7832712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62125"/>
            <a:ext cx="2286000" cy="2933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A04D1-9696-42C6-A98E-B712BB51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71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8F31A-0A7A-4CAF-9276-E816916A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182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理解改进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77FBD-D037-47D4-A980-6833CF27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1447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55DDB3-7ABF-4F20-8B35-FAD8C775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1790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三类互补证据</a:t>
            </a:r>
          </a:p>
          <a:p xmlns:a="http://schemas.openxmlformats.org/drawingml/2006/main">
            <a:pPr algn="ctr">
              <a:def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分别解决什么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42E40D-7ADC-41E1-ABCD-3F8D2AA5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0FBF6F-BCA8-44CB-AC7F-7DBF89A2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762125"/>
            <a:ext cx="2286000" cy="2933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09ADDA-1EC1-4CC3-8571-3B6DBE65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971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C71BD8-9B4A-41A5-8425-02AEB3FD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52700"/>
            <a:ext cx="182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回到生物学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D71590-D386-4D5E-9091-9BA4A3ED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67050"/>
            <a:ext cx="1447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D73ADD-7CA2-495C-A31A-F0D34E75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09950"/>
            <a:ext cx="1790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在 MTBLS13729 中</a:t>
            </a:r>
          </a:p>
          <a:p xmlns:a="http://schemas.openxmlformats.org/drawingml/2006/main">
            <a:pPr algn="ctr">
              <a:def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得到了什么结论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C12879-CC7C-419A-964C-405B0C07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953500" cy="609600"/>
          </a:xfrm>
          <a:prstGeom xmlns:a="http://schemas.openxmlformats.org/drawingml/2006/main" prst="roundRect">
            <a:avLst>
              <a:gd name="adj" fmla="val 2343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4EB00A-4C51-4F2F-9180-9FE544A1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67325"/>
            <a:ext cx="849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主线不是“做过哪些模型”，而是“证据如何一步步缩小结构不确定性”。</a:t>
            </a:r>
          </a:p>
        </p:txBody>
      </p:sp>
    </p:spTree>
    <p:extLst>
      <p:ext uri="{BB962C8B-B14F-4D97-AF65-F5344CB8AC3E}">
        <p14:creationId xmlns:p14="http://schemas.microsoft.com/office/powerpoint/2010/main" val="351804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ED15FF-AA32-4372-A19D-7D134E60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AC99F-1E84-49EF-89DC-F01F04FE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DF669-7EF4-4C46-9F3E-16315A40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56D14-1C49-43EA-839E-7C8CEE45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90CD9-480F-4D7F-9CA9-6747B9DD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38507-740C-4A53-9842-62D2F656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非靶向代谢组学首先得到的是“信号”，不是代谢物名称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1845A-AA6E-45B8-A037-AA4DFA30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BFD0E-BB57-48B1-AB8D-58F0BA4E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84E44-2F1D-4604-AFB2-B1F1FE99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BEA08-F006-4D79-80C8-7D921859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600200" cy="26479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65758-EE5E-4AC0-99ED-15C90665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71675"/>
            <a:ext cx="571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6A4EF-B4DB-47D3-8227-02D45A38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生物样本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13FC4-2803-461B-A3E8-1F3B99B8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组织、血液或细胞</a:t>
            </a:r>
          </a:p>
          <a:p xmlns:a="http://schemas.openxmlformats.org/drawingml/2006/main">
            <a:pPr algn="ctr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复杂分子混合物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4619F-43D7-4DE1-8366-58132E73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62275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F7D9C-8539-4EDF-80E8-CD1B9DCC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71650"/>
            <a:ext cx="1600200" cy="26479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DE591-DD67-4B27-9995-811D022B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71675"/>
            <a:ext cx="571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4B070-1BF8-462E-8A86-001A991C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24125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LC 分离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7D8DE-80FA-4EEE-8ABF-BEDE1C79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按保留时间分离</a:t>
            </a:r>
          </a:p>
          <a:p xmlns:a="http://schemas.openxmlformats.org/drawingml/2006/main">
            <a:pPr algn="ctr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仍可能共洗脱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0E179-E631-4A36-A579-A30B5E0F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62275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B6D02-68CE-4C6A-83F2-4236BC8D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1600200" cy="26479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D4EDB6-3427-4CB5-AA37-21809A29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71675"/>
            <a:ext cx="571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03CB4-348E-411A-8E4F-B765D02E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24125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MS1 扫描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CE676-FAB2-42B7-BD20-3D4D51CE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0515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检测 m/z–RT 峰</a:t>
            </a:r>
          </a:p>
          <a:p xmlns:a="http://schemas.openxmlformats.org/drawingml/2006/main">
            <a:pPr algn="ctr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并量化峰面积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B8A3AF-DF2A-4249-A415-364EA8F0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62275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2A5184-74E9-4710-BB40-5C9CFA61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71650"/>
            <a:ext cx="1600200" cy="26479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1182F7-B518-492A-AFC4-F37B8954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71675"/>
            <a:ext cx="571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7E0360-3CBB-4E4E-87FE-A52FE0DA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24125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选择母离子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984331-62B8-4893-B755-8CCE7C7C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隔离一个 precursor</a:t>
            </a:r>
          </a:p>
          <a:p xmlns:a="http://schemas.openxmlformats.org/drawingml/2006/main">
            <a:pPr algn="ctr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进入碰撞池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BAC3F2-92EB-41BE-BC2D-7E383E3A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62275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EF0966-1DEA-419D-B8A8-C4469046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71650"/>
            <a:ext cx="1600200" cy="26479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2507D5-B81C-4446-80AC-6B660641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71675"/>
            <a:ext cx="571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382CBE-6692-4FF1-A4CF-40BF21B2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24125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MS2 碎裂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F756F2-751C-4D58-8803-38135FA8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0515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获得碎片峰列</a:t>
            </a:r>
          </a:p>
          <a:p xmlns:a="http://schemas.openxmlformats.org/drawingml/2006/main">
            <a:pPr algn="ctr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提供结构证据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6F7BB8-F247-482F-9584-6996E558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0591800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E9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D56F74-35B9-4EF6-B4FA-F0986B78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10058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893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代谢特征（feature）= precursor m/z + 保留时间 RT + 各样本峰面积；MS/MS 是与该 feature 关联的一组碎片证据。</a:t>
            </a:r>
          </a:p>
        </p:txBody>
      </p:sp>
    </p:spTree>
    <p:extLst>
      <p:ext uri="{BB962C8B-B14F-4D97-AF65-F5344CB8AC3E}">
        <p14:creationId xmlns:p14="http://schemas.microsoft.com/office/powerpoint/2010/main" val="7331151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0C033B-23D8-43AB-AC5A-50220DA2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7AF28-7FED-4026-AA0E-6E585A5A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3208F-CD9A-487E-A3A6-87337A21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79206-6B3A-4192-A01E-F6DF3DF5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C6200-30A4-47D3-B28A-497F825E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88FB9-7F87-4072-94CD-83707D17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我们的任务：把一条待注释谱图转化为可追溯的候选身份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8D9CF-4E58-4CC5-A437-475F67C3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A3BD9-2D85-4B48-9184-C8CE92D3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F6156-38D9-411A-B252-11E234D4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9E2DE-2639-4409-8083-225F01CA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3286125" cy="39052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4A0A6-A82A-4DFB-8808-ABE2A27C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62125"/>
            <a:ext cx="1695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输入：待注释证据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CE4B0-4161-43DA-BC24-9349353F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2524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4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5F07E-9D3D-4E46-97C5-5EB1A31B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57DD2-0B35-484B-8105-745C065D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566" y="29527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FFD9D-25B6-44F4-828F-9123299C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981" y="3095625"/>
            <a:ext cx="38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89E50-5BFC-4394-A90E-4E993BC1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397" y="260985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A9A89-8C1C-4877-9ED0-15518D13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28575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6C46A-3121-4864-A375-765915AA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228" y="2486025"/>
            <a:ext cx="381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5258E-6191-40B8-9616-0151D19D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644" y="29908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5FF47-7E2B-4C27-B95C-2576021C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059" y="274320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B1C7B7-122B-4D7C-8099-48056A9C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242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16D2C-A028-4B16-AFDC-0DEF2D22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448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1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1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m/z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059B0-032D-449F-9897-DA60F7E4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476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precursor m/z</a:t>
            </a:r>
          </a:p>
          <a:p xmlns:a="http://schemas.openxmlformats.org/drawingml/2006/main">
            <a:pPr algn="l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保留时间 RT</a:t>
            </a:r>
          </a:p>
          <a:p xmlns:a="http://schemas.openxmlformats.org/drawingml/2006/main">
            <a:pPr algn="l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加合物 / 电荷</a:t>
            </a:r>
          </a:p>
          <a:p xmlns:a="http://schemas.openxmlformats.org/drawingml/2006/main">
            <a:pPr algn="l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MS/MS：[(fragment m/z, intensity), …]</a:t>
            </a:r>
          </a:p>
          <a:p xmlns:a="http://schemas.openxmlformats.org/drawingml/2006/main">
            <a:pPr algn="l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仪器与碰撞条件（若可得）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CE32F-49CC-4DED-ABC4-71F8288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95625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3F3899-FE47-46EE-BE8A-317A1492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0225"/>
            <a:ext cx="2095500" cy="3295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CA608E-C9E9-4BDE-B2CD-FB0D45B0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574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计算任务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5BF8AD-54A5-4755-AA15-D632E1E0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670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谱图表示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5B5164-50BF-4650-8C1A-42BD92B4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0765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84B1B-CBF4-41A4-AEB2-968E2B61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242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候选检索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7F294A-03FF-46D1-A1FD-83E2C578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9338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736E18-A914-4BE4-A602-F75DCA32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815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证据排序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2DFB2F-DE4A-402E-862E-347888F9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EFE43D-D8D7-417C-8180-EA7CDB01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62100"/>
            <a:ext cx="3314700" cy="39052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E9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C0ACFC-148C-4854-84CC-17B466FF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62125"/>
            <a:ext cx="1885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输出：带边界的结论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544774-862B-49EE-BF7C-AC19C79E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Top-k 候选身份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1478AE-AEAC-4CC2-AC2C-F4933E20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InChIKey / SMILES / 分子式 / 名称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BFCC01-8539-49CF-AAF3-80218215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排序分数与证据链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11562D-7281-4BA4-B84A-585954AE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谱图相似、质量误差、局部碎片、上下文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6F9AFE-6AB0-400A-B06D-E8BB8360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434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身份层级与不确定性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6788E1-93AE-4FBC-9E34-44BA0384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67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精确结构 / 结构类别 / 未知</a:t>
            </a:r>
          </a:p>
        </p:txBody>
      </p:sp>
    </p:spTree>
    <p:extLst>
      <p:ext uri="{BB962C8B-B14F-4D97-AF65-F5344CB8AC3E}">
        <p14:creationId xmlns:p14="http://schemas.microsoft.com/office/powerpoint/2010/main" val="7714734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85025B-55F1-45FC-9F33-1D2BABE8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6ECA5-7C37-4CC2-8D67-17FB1A65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DD6F0-87BC-4CA8-A239-3E6FFA15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A3801-F222-40D3-AD54-2F797069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A4BAE-0210-41CE-8EEB-12EE937F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科学难点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BF20D-7C6B-4F36-9CD7-C850CAA6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为什么一张 MS/MS 谱图通常不能唯一确定结构？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38215-7D7A-4234-ABDD-FDF6E9BF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471A7-DCDC-4CBC-99B4-7B5D83D6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5D6E9-B486-44BE-8131-97C4727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D6FF7-5D94-4D2A-8BC2-CCA4FE75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8580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3A037-C812-402C-9321-F3A9BF85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E5EF6-F014-453B-AD8E-CB089E99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0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同一分子，谱图会变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8915D-8167-4A9E-AE24-CBE9D78A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仪器、碰撞能、加合物和共洗脱干扰会改变碎片强度与缺失模式。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7180E-6FA6-401B-8A5F-0AA44D3A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8580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6C429-A3CD-402D-B0EE-D17753AE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0522D-6301-49F9-93F5-4086B881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575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不同分子，谱图会很像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B5432-7D03-4B4A-9481-655515DC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718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同分异构体和近邻结构往往共享大部分碎片，真正区分它们的峰很少。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CDCC5-480F-4303-BE8F-FCDFCC17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68580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8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58277-6ABB-4E4A-B1FA-FA95F693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C5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63B36-0F0C-4A1C-B438-4B48A259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参考谱库覆盖有限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6A61C-6CBD-4F97-B8B8-9911AE02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291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真实队列中的大多数信号没有匹配的标准品谱图，且跨实验条件存在域偏移。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E4694-64D5-4667-A3E6-BFAFFCB2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505200" cy="352425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B52C2-909B-4E86-A6B1-18D09886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81175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逆问题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8FCC3-3E34-4DF3-9745-A5DA30DF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35280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4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85EEF-9375-443D-9A1E-568BB4F9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48394"/>
            <a:ext cx="38100" cy="194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433078-EC4B-4B9F-9716-7F53C90B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444" y="2935796"/>
            <a:ext cx="38100" cy="40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A6781F-733B-4A4C-A142-7E0019EC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068669"/>
            <a:ext cx="38100" cy="2746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49298B-B599-48D8-B93F-77A51A7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1181" y="2616899"/>
            <a:ext cx="38100" cy="726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1EE956-1CE9-4706-8DB4-ACCB34A2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47213"/>
            <a:ext cx="38100" cy="496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29F4A-AC99-401C-A239-A89BF5A3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919" y="2501741"/>
            <a:ext cx="38100" cy="8415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922530-B339-41F4-8518-089EE553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88" y="2971229"/>
            <a:ext cx="38100" cy="3720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81D98A-5BC8-47DB-8089-8D9C5CD5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656" y="2740914"/>
            <a:ext cx="38100" cy="602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E378C6-F030-480B-BB35-FBD05EFC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095244"/>
            <a:ext cx="38100" cy="248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55445B-86FA-438D-B76B-DF33ACDC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4004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1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1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m/z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17A8B1-B0D9-48D9-AF77-BD26D533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不完整、受条件影响的观测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FE0E9C-862A-4888-9BB7-CF208D51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52875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9ECAD8-22D9-4959-803A-9F360B49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多个结构候选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345C92-E670-40CD-B2E4-2D97D149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57825"/>
            <a:ext cx="933450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1937EE-94F5-47C7-BEA2-2C4C071A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91175"/>
            <a:ext cx="883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核心科学问题：怎样从可变碎裂观测中恢复稳定、可迁移的分子结构信息？</a:t>
            </a:r>
          </a:p>
        </p:txBody>
      </p:sp>
    </p:spTree>
    <p:extLst>
      <p:ext uri="{BB962C8B-B14F-4D97-AF65-F5344CB8AC3E}">
        <p14:creationId xmlns:p14="http://schemas.microsoft.com/office/powerpoint/2010/main" val="3273387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A584C3-4E94-434B-8572-B2BEEA09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ACC87-6CE3-405A-8991-0C05DAEC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66175-9096-41AB-8319-5F26934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49225-262A-40B6-B374-5EEC364E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0863B-3DDD-43FA-92F7-E3619B55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科学问题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C6D4F-F779-45CF-BC2F-6502BE1C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本课题的目标与边界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61794-96F5-474D-AD9E-9E6D5870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699F1-24FD-4E7E-87CC-E59148D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C8372-0409-4289-8536-257E23C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DDE31-EB47-4D5A-BD49-9592424D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048250" cy="347662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7495F-ED7D-4376-9DD0-DEE88C94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1295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我们要做到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CCEAC-C90B-440C-AF46-917AFE80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01761-C6AB-4AF4-9DBD-2CB2C3CD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3886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学习对仪器与碰撞条件更稳健的谱图表示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CDD95-B088-4CF3-BB81-C0A6FEF7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A5A51-E4BA-4AAC-A742-63AE403C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57525"/>
            <a:ext cx="3886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在限定候选集合中提高真实分子的排序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15E5F-0222-426F-80E0-C08DAEFD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10C77-ADA9-4DFE-9315-2E2081D5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3886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把全局、局部与生化证据组织成可审计链条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58276-CA67-4503-8AE5-6E328B94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814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61AE1-8219-4F69-A1E2-C10E7165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19575"/>
            <a:ext cx="3886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47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将注释结果回填到真实 feature 表并支持后续统计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C5E87-92F3-4128-8F90-AC37D062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5048250" cy="347662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8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ED584-5B01-4CBB-9B29-084AE78A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288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C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当前不宣称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F9C52-60C9-45A4-B3E4-2A5576F9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3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C5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20F36F-DEA7-4E47-9872-D3B1CB2D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76500"/>
            <a:ext cx="3886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仅凭一张谱图无约束地生成唯一结构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C2BDE-7C77-4267-85F6-B1E7C2DA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19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C5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FB928-4525-494E-82ED-41AB127C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57525"/>
            <a:ext cx="3886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把候选命中直接等同于标准品确认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656B7-B60A-4DBF-8ED8-D68267A2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0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C5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849915-18C5-469B-8900-ACBC845B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38550"/>
            <a:ext cx="3886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把开发集提升当成独立外部验证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F265A0-BD54-43A0-B4B8-21621C19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814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C5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905A5-A5C8-4467-BE36-8FA690BE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9575"/>
            <a:ext cx="3886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由静态丰度直接推出代谢通量或酶活性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072A53-8795-44CF-92ED-3172F24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38775"/>
            <a:ext cx="88392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412DCB-35B6-4BC3-A60B-45E171A7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72125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目标是提高“可验证身份”的覆盖率和可靠性，而不是消除所有不确定性。</a:t>
            </a:r>
          </a:p>
        </p:txBody>
      </p:sp>
    </p:spTree>
    <p:extLst>
      <p:ext uri="{BB962C8B-B14F-4D97-AF65-F5344CB8AC3E}">
        <p14:creationId xmlns:p14="http://schemas.microsoft.com/office/powerpoint/2010/main" val="8195143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989D14-4C2D-4A61-BB15-9FE0EF98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FB0D0-A323-4780-8B9C-989451F1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2C177-0882-4FC7-B8DC-AB41A3B9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9405F-7E1E-4087-B486-D79BF835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8DA43-8E9F-4527-83A8-D3F701A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研究设计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0CCA3-8FDE-4E38-92E1-B4F04491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总体框架：三类互补证据，最终服务于真实样本注释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CA397-D71B-4B65-A2C9-02FB89A5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69CA6-3DFC-4814-9EA2-B046F2B4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ED39E-A7AC-472A-B203-031BAAC8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E5DDC-6684-4B17-A0C7-9F7CB1DA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2000250" cy="3333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E985A-EBED-455F-B443-E1D1BB58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76425"/>
            <a:ext cx="1409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4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E5F92-3F42-40D1-AEB1-0E3AC5C5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95650"/>
            <a:ext cx="1409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4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32A89-35CC-4192-A2A4-50E84E0C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35249"/>
            <a:ext cx="38100" cy="150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4F2CA-4F77-4A97-A38B-D513E11B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8" y="2970657"/>
            <a:ext cx="38100" cy="315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0B803-EAC3-4DAB-A82C-B1046B52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73527"/>
            <a:ext cx="38100" cy="212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73584-D80E-44B6-8219-FBE03B48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3" y="2723769"/>
            <a:ext cx="38100" cy="562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AE36E-9372-4E4B-B819-A49BFB1A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02077"/>
            <a:ext cx="381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88D429-FEF1-478F-AD07-B5337054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8" y="2634615"/>
            <a:ext cx="38100" cy="651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97162-6F9E-4A24-A5C7-6E230B42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98089"/>
            <a:ext cx="3810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832B2-E0B4-46DE-AFCA-0B0C2427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963" y="2819781"/>
            <a:ext cx="38100" cy="466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E33AF-5144-40FE-B40A-7CC54B43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094101"/>
            <a:ext cx="38100" cy="192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17288-1729-4681-A69D-E2E6FEAE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3432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1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1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m/z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820528-B43C-4A1B-B379-0F255D14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56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待注释 MS/MS</a:t>
            </a:r>
          </a:p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+ precursor 信息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72D892-AB69-4F19-A2C8-74EC3B55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9562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79FBD-3B6A-4F08-8C7E-2425D47D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66875"/>
            <a:ext cx="2133600" cy="333375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085EFD-4DC9-4E10-A7E5-C3F0F60B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76425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E4-A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E14BA5-789A-4C2D-A71D-F2BB9277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共享谱图表示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6C8BD1-FACB-4BA3-81CF-DABE623C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1657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让同一分子的谱图</a:t>
            </a:r>
          </a:p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在表示空间更稳定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1CA3FA-C3CF-463E-AE1B-7DC4F70C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338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改变共享 embedding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809FB9-4243-471A-BC15-01E52F56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956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79EDF2-0C86-4738-9EF3-95EE3BF7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66875"/>
            <a:ext cx="2133600" cy="333375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A13AE8-27F4-4948-8483-1CEE8F1D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76425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P2b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B08DC5-C794-4F36-8CFA-58224D48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669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局部谱学证据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CDDCB3-2607-442B-902B-39DBB4EF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095625"/>
            <a:ext cx="1657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补回中性丢失与</a:t>
            </a:r>
          </a:p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关键局部峰信息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348AE4-D035-4F2F-AB60-9132F63A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1338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rPr>
              <a:t>候选级后处理专家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1BFBCB-8F9C-4F68-AD2A-1EFA7A5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956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DB96ED-385F-4455-877D-025BC4CB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66875"/>
            <a:ext cx="2133600" cy="333375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E9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A5F4BF-463A-4EAB-9113-CA4DE1BA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76425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BioAware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51CBC4-394A-450F-81B4-2751FA5B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669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生化上下文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CFF005-FB96-4DF4-BD35-70E1E84C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095625"/>
            <a:ext cx="1657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利用同一样本中的</a:t>
            </a:r>
          </a:p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反应邻域约束候选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103C89-B303-4F31-9D75-48190BDD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338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9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97F7A"/>
                </a:solidFill>
                <a:latin typeface="Microsoft YaHei"/>
                <a:ea typeface="Microsoft YaHei"/>
                <a:cs typeface="Microsoft YaHei"/>
              </a:rPr>
              <a:t>候选级后处理专家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FCE28C-99DC-4923-80F2-8C325D96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095625"/>
            <a:ext cx="4095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7AB464-9DE9-4C96-B662-7E3B1DAD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362200"/>
            <a:ext cx="685800" cy="14382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B96B8E-9138-4B7A-8BD6-6494E8EF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76525"/>
            <a:ext cx="41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958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D8B64"/>
                </a:solidFill>
                <a:latin typeface="Microsoft YaHei"/>
                <a:ea typeface="Microsoft YaHei"/>
                <a:cs typeface="Microsoft YaHei"/>
              </a:rPr>
              <a:t>真实</a:t>
            </a:r>
          </a:p>
          <a:p xmlns:a="http://schemas.openxmlformats.org/drawingml/2006/main">
            <a:pPr algn="ctr">
              <a:defRPr sz="1350" b="1" i="0">
                <a:solidFill>
                  <a:srgbClr val="3D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D8B64"/>
                </a:solidFill>
                <a:latin typeface="Microsoft YaHei"/>
                <a:ea typeface="Microsoft YaHei"/>
                <a:cs typeface="Microsoft YaHei"/>
              </a:rPr>
              <a:t>队列</a:t>
            </a:r>
          </a:p>
          <a:p xmlns:a="http://schemas.openxmlformats.org/drawingml/2006/main">
            <a:pPr algn="ctr">
              <a:defRPr sz="1350" b="1" i="0">
                <a:solidFill>
                  <a:srgbClr val="3D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D8B6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635BCA-E6F2-478D-9E83-A9171838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10134600" cy="542925"/>
          </a:xfrm>
          <a:prstGeom xmlns:a="http://schemas.openxmlformats.org/drawingml/2006/main" prst="roundRect">
            <a:avLst>
              <a:gd name="adj" fmla="val 24561"/>
            </a:avLst>
          </a:prstGeom>
          <a:solidFill xmlns:a="http://schemas.openxmlformats.org/drawingml/2006/main">
            <a:srgbClr val="F8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407B47-8B2B-4FD6-947C-4A0DE2C7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340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94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94C55"/>
                </a:solidFill>
                <a:latin typeface="Microsoft YaHei"/>
                <a:ea typeface="Microsoft YaHei"/>
                <a:cs typeface="Microsoft YaHei"/>
              </a:rPr>
              <a:t>三个模块的评价协议与作用位置不同，提升值不能相加，也不能互相替代。</a:t>
            </a:r>
          </a:p>
        </p:txBody>
      </p:sp>
    </p:spTree>
    <p:extLst>
      <p:ext uri="{BB962C8B-B14F-4D97-AF65-F5344CB8AC3E}">
        <p14:creationId xmlns:p14="http://schemas.microsoft.com/office/powerpoint/2010/main" val="1291332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5F720-46FA-4F89-8125-EC8D424C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B9608-BD7B-4485-A411-72D62769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9E6FA-B2FA-4378-B196-045EE8AC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BBAF7-AB87-492E-B51F-EE15FDB9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C6BB8-1401-4EFA-9CFD-7FFE035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基础模型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9664C-0249-44F0-8B6E-E5394EE9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DreaMS：先用海量未注释谱图学习“谱图语言”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9FC4E-3CA2-4F13-A9A7-AF27D9D0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5D36B-0F83-42F4-AD28-FB789873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6E63E-3CD0-4D53-80A7-16779BE8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fff14b1f24021"/>
          <a:stretch xmlns:a="http://schemas.openxmlformats.org/drawingml/2006/main"/>
        </p:blipFill>
        <p:spPr>
          <a:xfrm xmlns:a="http://schemas.openxmlformats.org/drawingml/2006/main">
            <a:off x="609600" y="1506057"/>
            <a:ext cx="6858000" cy="336963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E26B1-4A9B-4665-BC9D-D4BBBAE9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24000"/>
            <a:ext cx="3695700" cy="33528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19409-6ABA-4B3F-B4BF-C69DBE0E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43075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一句话理解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71FEE-AEDD-408C-8E67-9F896543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16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把一条变长的碎片峰列</a:t>
            </a:r>
          </a:p>
          <a:p xmlns:a="http://schemas.openxmlformats.org/drawingml/2006/main">
            <a:pPr algn="l">
              <a:defRPr sz="18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编码成固定长度向量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F6956-C232-44BD-AF1B-1F7312C6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自监督任务迫使模型学习：</a:t>
            </a:r>
          </a:p>
          <a:p xmlns:a="http://schemas.openxmlformats.org/drawingml/2006/main">
            <a:pPr algn="l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• 哪些峰经常共同出现</a:t>
            </a:r>
          </a:p>
          <a:p xmlns:a="http://schemas.openxmlformats.org/drawingml/2006/main">
            <a:pPr algn="l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• precursor 与碎片的关系</a:t>
            </a:r>
          </a:p>
          <a:p xmlns:a="http://schemas.openxmlformats.org/drawingml/2006/main">
            <a:pPr algn="l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• 相邻扫描之间的保留时间顺序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05785-5CDF-46DD-856B-8BC1B3D1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9829800" cy="600075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9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308D0-EFA9-4D76-B0F7-04243A64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91150"/>
            <a:ext cx="935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833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检索时：query embedding 与参考谱 embedding 计算余弦相似度，并在候选分子之间排序。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3C15A-428F-4F46-8590-4EB26FA2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图源：DreaMS 论文自监督预训练示意图（原汇报素材）</a:t>
            </a:r>
          </a:p>
        </p:txBody>
      </p:sp>
    </p:spTree>
    <p:extLst>
      <p:ext uri="{BB962C8B-B14F-4D97-AF65-F5344CB8AC3E}">
        <p14:creationId xmlns:p14="http://schemas.microsoft.com/office/powerpoint/2010/main" val="4405600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60460F-6E47-4BC2-A1E4-D865B25A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712DD-7727-43C2-B962-B5D766E9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B6D25-4A0E-43FB-9221-A1FCD4BC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E4151-AE08-425E-B2F0-144005F0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A57BB-5A65-4A65-BF30-B5DB301B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评价协议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680D2-8578-4679-8909-1A15354C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怎样判断“注释对了”？先冻结候选集合，再看真实分子排第几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0D33A-F479-4270-A3F3-C05EDB89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D90AE-27C6-4A45-ABF0-63EBBA3E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0C014-4327-4CD6-9902-18DAAE9C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1BC5A-AF63-4B63-9B6A-5945C38A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4095750" cy="3810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00042-622F-4AC4-B195-12F9137C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581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一个查询的判定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255F5-6137-4443-8A07-C9432CF0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1. 真实分子身份已知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ED973-442C-4C8D-8A81-FA5F54DE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通常来自标准品谱或严格整理的参考谱。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207CE-6994-445A-813E-789D7955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2. 冻结候选集合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12CAB-F18A-4004-8BBB-4B1D25E3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04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相同加合物、precursor 质量误差 ≤10 ppm；按分子聚合，避免同一分子多张谱重复计数。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9D8A9-8D80-4E18-9D43-9774297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3. 比较排序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1DD43-7C7C-4BEB-8870-D524E1AB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真实分子排第 1 记为命中。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31012-93CC-4257-B4F8-F0D46727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14525"/>
            <a:ext cx="2000250" cy="2381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0D190-92ED-4A46-864B-B4263279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717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Recall@1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DCB21-9B0E-4421-9EA6-FE22A5B3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14650"/>
            <a:ext cx="1581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真实分子排第一的查询比例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8FD2B-B434-48AA-8B4F-F99F9B71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14525"/>
            <a:ext cx="2000250" cy="2381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9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C8690-C588-4A0D-A2B7-D76B9194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717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9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97F7A"/>
                </a:solidFill>
                <a:latin typeface="Microsoft YaHei"/>
                <a:ea typeface="Microsoft YaHei"/>
                <a:cs typeface="Microsoft YaHei"/>
              </a:rPr>
              <a:t>MRR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D5EAC-CA0D-400B-9F5D-9AB7944F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1581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同时奖励排在第 2、3 位的改善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8678C-B25A-4E47-8748-2998AE1B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14525"/>
            <a:ext cx="2000250" cy="2381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ACF0D7-64FF-4536-B026-2FED7A6E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717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rPr>
              <a:t>near-core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93F800-1C58-42B5-93CC-7C2DC9D0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14650"/>
            <a:ext cx="1581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专门测试极近结构与异构体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A902AC-A07B-405B-BF12-1B4EA715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48200"/>
            <a:ext cx="6438900" cy="714375"/>
          </a:xfrm>
          <a:prstGeom xmlns:a="http://schemas.openxmlformats.org/drawingml/2006/main" prst="roundRect">
            <a:avLst>
              <a:gd name="adj" fmla="val 21333"/>
            </a:avLst>
          </a:prstGeom>
          <a:solidFill xmlns:a="http://schemas.openxmlformats.org/drawingml/2006/main">
            <a:srgbClr val="F8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D784CD-2764-4468-A666-34E0E568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38700"/>
            <a:ext cx="592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B94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B94C55"/>
                </a:solidFill>
                <a:latin typeface="Microsoft YaHei"/>
                <a:ea typeface="Microsoft YaHei"/>
                <a:cs typeface="Microsoft YaHei"/>
              </a:rPr>
              <a:t>同一模型若换了 query、候选池或过滤规则，数值就不再可直接比较。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579480-38EB-4494-A4BA-6F5B44A7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协议依据：OFFICIAL_DREAMS_CHECKPOINT_BASELINE_LEDGER_20260829.md</a:t>
            </a:r>
          </a:p>
        </p:txBody>
      </p:sp>
    </p:spTree>
    <p:extLst>
      <p:ext uri="{BB962C8B-B14F-4D97-AF65-F5344CB8AC3E}">
        <p14:creationId xmlns:p14="http://schemas.microsoft.com/office/powerpoint/2010/main" val="12162317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8339A9-A0F0-4275-B12A-F6DC4B74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B05B6-403A-4AE2-A3A2-AE428BC9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8FFF0-974A-4923-87ED-CF7A170C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CF601-6D78-40A1-B7F2-ED085570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72FED-6F7A-4039-94A7-4B1BD026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基线审计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D539C-B3CA-4538-B037-F7B37843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官方 DreaMS 已经很强，但剩余错误高度集中在困难候选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5F0C7-E865-4912-BD5F-6D7E34D0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16246-02D2-492A-AB61-13E0B1F5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0140D-D482-45A9-8D04-49453195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9FC52-A849-422B-9241-9546FF70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3812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F12AB-6C7E-42E1-B6C9-BCF55A86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完整错误图谱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627C7-8779-48E7-B161-C905780F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23,876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A2CBB-9696-48A7-8378-6EEF8BD3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条冻结查询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15B29-1FC0-48B0-8709-2BF260A5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23812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8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D5ACF-5523-4BCD-A86E-44D9B2C0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94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B94C55"/>
                </a:solidFill>
                <a:latin typeface="Microsoft YaHei"/>
                <a:ea typeface="Microsoft YaHei"/>
                <a:cs typeface="Microsoft YaHei"/>
              </a:rPr>
              <a:t>Top-1 错误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5DF61-C878-43EE-8689-15ABD043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1,805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5566E-B6DE-4DFF-A66D-23BC53CB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95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条官方 DreaMS 错误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10965-425F-4409-8F99-BCAA01DE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19250"/>
            <a:ext cx="23812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B62E8-65FD-4A8D-9156-F9F8E9FA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71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rPr>
              <a:t>near 错误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1D5CB-FD23-464C-A148-58047E54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38350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1,446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1787D-8959-44C0-942C-5DF38EA2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占全部错误约 80%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4936FA-5BED-47F1-9FE0-906070B5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9527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9C194-4A11-423D-8905-44100D6A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71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严格 near-core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867C9-A51E-4D0F-B7E0-A64EF490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48.8%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7A5EEE-CAC5-4A83-B2A3-4E73DE53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官方 Recall@1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E871E-9221-482D-9FAA-9DE1C234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394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865038-1B1B-44CA-AF6F-364B2CBF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剩余错误的典型形态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8B5AFE-331D-43D1-A28E-EB850BB0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E03D9-FF32-40DE-A754-F7A41560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同分异构体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64B72A-9E90-4809-9437-470A1C01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48175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全局谱图相似度很接近，少数诊断峰决定排序。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DEB624-ECF2-4713-9F0C-39AEC3A2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24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ADF86E-ED7F-4A10-BF1F-29C3FB16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1052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干扰与缺峰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C9BF7A-777A-4FF9-BF03-A7E938FE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48175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共洗脱、峰缺失或异常强度改变 embedding。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B96B90-68BF-405B-B40C-1C52227F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24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12FF71-EBF4-437E-B588-3EB7CBDB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052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候选证据冲突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8FBC6C-C5AE-4DD3-B0F1-55F0C78D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48175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全局相似度、局部碎片和生化背景可能给出不同答案。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E85538-263C-4BDE-81B7-225E56CE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来源：OFFICIAL_DREAMS_CHECKPOINT_BASELINE_LEDGER_20260829.md</a:t>
            </a:r>
          </a:p>
        </p:txBody>
      </p:sp>
    </p:spTree>
    <p:extLst>
      <p:ext uri="{BB962C8B-B14F-4D97-AF65-F5344CB8AC3E}">
        <p14:creationId xmlns:p14="http://schemas.microsoft.com/office/powerpoint/2010/main" val="7819269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CBBDD4-9AFA-48CF-A95B-16C11989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CBE5C-E16C-409E-91B9-37875F9C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DAA1F-4076-4249-9B51-DCA41736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A6427-2712-4BD2-AF86-1EC3CBB6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8EABB-819B-49AA-9EDB-C54B8BA8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机制分析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75C4E-83BD-4C81-A12D-9BEF196A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从“模型错了”进一步追问：究竟是哪部分谱峰在误导排序？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76779-F78F-4EED-B3C9-EABD9077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4F46B-8A53-4AFE-817A-11474A39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64E50-7D17-4F25-865E-408156F0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D0A91-97FD-43E7-AF79-A56D0077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2385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FD1DB-91A1-43D2-B29F-4FE5C3C3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原始 query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98DCC-24FD-41D5-9F5A-05AEE97C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2514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4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01A9F-A14A-4DCA-B4C7-4D688F79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8134"/>
            <a:ext cx="38100" cy="213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DD827-8515-4F25-9D06-FD3BF833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124962"/>
            <a:ext cx="38100" cy="446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EAFAE-6737-4421-8270-7C0632BB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70695"/>
            <a:ext cx="38100" cy="3011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EBFAB-D924-4A21-BA6E-60EE66BD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775204"/>
            <a:ext cx="38100" cy="7966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49B99-3B4F-4282-8CC5-FBFF8589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27807"/>
            <a:ext cx="38100" cy="544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3CC34-CDBE-427C-87C9-F299E8E7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48903"/>
            <a:ext cx="38100" cy="922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3CCCD-FB16-41F1-B9DD-46EA435D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63824"/>
            <a:ext cx="38100" cy="4080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111358-2A4A-402A-9BE4-6B1907E6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911221"/>
            <a:ext cx="38100" cy="6606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E88AD-C386-4E30-8C53-565080BB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99841"/>
            <a:ext cx="38100" cy="27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861F7C-3AF3-4C14-B2C8-5091B113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290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1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1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m/z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EB13C-D8E0-416A-ACF9-D84C2D98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433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全局 embedding 将所有峰压缩为一个向量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12C70D-15C5-4EB4-B8DF-E733E061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0515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293D6B-9412-471F-8ECF-37069895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95450"/>
            <a:ext cx="32385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9E1A6C-AAE0-44A5-B685-81F435B9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240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rPr>
              <a:t>定向反事实操作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5BA84-A7A1-4B82-96C7-F559D3BE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81400"/>
            <a:ext cx="2514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43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81A282-0F77-4371-9E34-FD110A51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58134"/>
            <a:ext cx="38100" cy="213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ABAD57-8481-4AAB-AE1C-1BBE5D09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124962"/>
            <a:ext cx="38100" cy="446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E6336E-4D36-487A-9D07-DFBB53CA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70695"/>
            <a:ext cx="38100" cy="3011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4A6663-E514-4B3A-85F8-E2988F67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775204"/>
            <a:ext cx="38100" cy="7966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F4A0CA-825A-4A57-8455-A5C81855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7807"/>
            <a:ext cx="38100" cy="544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2820E6-0290-481E-9C93-B266090A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48903"/>
            <a:ext cx="38100" cy="922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7CD5F3-23C0-4418-B26E-3735F8EC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63824"/>
            <a:ext cx="38100" cy="4080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DF32CC-FC29-4D04-9B68-8315A817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911221"/>
            <a:ext cx="38100" cy="6606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CB7DFC-7AC4-4415-8F3A-22445FE8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99841"/>
            <a:ext cx="38100" cy="27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3012EB-607D-4C4A-82EC-42609EBB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290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1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1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m/z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2D6231-A66C-490E-916B-1469E1B3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695575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C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2B5FF0-F71A-4B01-8842-FAEC46F4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433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只改变一组可解释峰，观察真实候选排名是否恢复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8FEDF4-4632-471C-BE94-18206A2B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A6A371-1687-4E52-AAC0-9F63EA14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667000" cy="31432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3E4254-7724-4947-B111-2F1ACA5E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240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9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97F7A"/>
                </a:solidFill>
                <a:latin typeface="Microsoft YaHei"/>
                <a:ea typeface="Microsoft YaHei"/>
                <a:cs typeface="Microsoft YaHei"/>
              </a:rPr>
              <a:t>因果对照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2D1BA1-8E70-4911-973F-97193DFE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81275"/>
            <a:ext cx="1581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定向操作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BD469E-DE71-4B86-A5CF-E79B39A4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67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0C6DD1-45C2-44BB-98EC-0CB66414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95675"/>
            <a:ext cx="1581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匹配随机操作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109CCE-4B8D-469D-AB40-6FB0404D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48125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只有超过匹配对照的改善，才归因于所选峰。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B69378-1003-4329-9773-F00CDA92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857250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3BD939-BEDC-4931-B46E-7B927A7A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391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这一分析既用于解释错误，也用于构造更有信息量的微调样本。</a:t>
            </a:r>
          </a:p>
        </p:txBody>
      </p:sp>
    </p:spTree>
    <p:extLst>
      <p:ext uri="{BB962C8B-B14F-4D97-AF65-F5344CB8AC3E}">
        <p14:creationId xmlns:p14="http://schemas.microsoft.com/office/powerpoint/2010/main" val="6699188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36CB0A-5E2A-4A40-A070-0A812856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F8CF4-0DDA-4FFC-A00D-D23C894D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D3164-CE88-4CD2-9624-5796E355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92A28-45FF-4203-A3F8-31F7AB22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D85DA-E9B6-46A9-ABAD-50286513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方法一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33351-1131-4E19-A07B-4C162516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模块一：用定向峰扰动训练更稳健的共享谱图表示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8CDE0-8EFD-4BD3-AC2A-138AC9E8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E9811-B9B3-45C9-A306-F598A57E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A97C0-4F2B-4188-9484-D5750BE9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44B65-46D7-41B7-B1EC-E0111703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133600" cy="268605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E8849-AD50-4FD3-86DF-AB01D378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90ADC-CFC7-4F16-B463-170F6324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6692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93395-6A4F-41A8-9CB1-61C6C9A7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6075"/>
            <a:ext cx="1600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在官方错误中寻找</a:t>
            </a:r>
          </a:p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可能造成排序偏差的峰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A4560-E002-486C-AFF5-6CA45036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408EE-CA4B-4F2B-928B-1E6B4020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47850"/>
            <a:ext cx="2133600" cy="268605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96426-1DAB-4778-ACAD-FE03C715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57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6B8C6-41D8-4FDB-93F6-2A4207B0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6692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构造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BF884-CD27-45C3-BB59-D833A7E6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86075"/>
            <a:ext cx="1600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生成定向操作与</a:t>
            </a:r>
          </a:p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剂量匹配的随机对照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1B6C5-91B5-4ADA-AFE3-FE585205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480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533E3-8F1F-4672-BED6-67E7434B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47850"/>
            <a:ext cx="2133600" cy="268605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4F9582-66AE-46A6-BB8E-C849AC15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57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48DE49-4C19-46D7-A82D-7146D99C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6692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微调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95019-CACC-48AF-B4D6-8E816853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86075"/>
            <a:ext cx="1600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保持 DreaMS 架构不变</a:t>
            </a:r>
          </a:p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仅调整共享编码器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F47ED1-15DB-4F8D-95D7-3EDEF351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725134-71A8-4649-9072-A57FE20D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47850"/>
            <a:ext cx="2133600" cy="268605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E9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08C45C-6D37-4047-B864-E7C3B89C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57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1D6E1-425F-4AB0-AA89-98027EE7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6692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检验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180952-1C24-4802-886D-09688E86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86075"/>
            <a:ext cx="1600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按分子式分折</a:t>
            </a:r>
          </a:p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多 seed 重复评估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4898A1-0E33-41B6-B00A-D3011579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C2BAC2-E307-40A5-96C5-327A5F68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72075"/>
            <a:ext cx="918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设计目标：训练结束后，部署端只需输入干净谱图，不依赖候选标签或额外专家。</a:t>
            </a:r>
          </a:p>
        </p:txBody>
      </p:sp>
    </p:spTree>
    <p:extLst>
      <p:ext uri="{BB962C8B-B14F-4D97-AF65-F5344CB8AC3E}">
        <p14:creationId xmlns:p14="http://schemas.microsoft.com/office/powerpoint/2010/main" val="4527473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1DA61-19CA-43BD-BB2A-43527BD0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142E1-435F-4ED1-B66E-DE1A89C0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A4B9D-8B09-41A8-93A7-7100BF9F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92127-E97C-44FF-BE8B-366E5299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109ED-F2E5-421B-996D-CCF6D9FF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结果一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6F606-466A-4DB9-94A6-AFAD7508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共享 embedding 获得稳定但克制的提升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9B190-B91C-418C-80ED-76046D7B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F4FA4-8F69-456B-9697-15FE793E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DA6DB-A87C-486F-9E4F-478BDC03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28650" y="154305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4d63498a5146d3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44397-A5C5-41E2-9510-81725665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04975"/>
            <a:ext cx="37147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FBD5E-831B-4132-8F80-D1BDE840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57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8B64"/>
                </a:solidFill>
                <a:latin typeface="Microsoft YaHei"/>
                <a:ea typeface="Microsoft YaHei"/>
                <a:cs typeface="Microsoft YaHei"/>
              </a:rPr>
              <a:t>稳定性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C4956-4DFD-4D3B-A19E-3CD8B646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240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15 / 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83012-671E-41FB-AB33-C3688661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812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5 个 formula folds × 3 seeds 均为正向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677FB-411A-475C-8576-80BFF8E1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9925"/>
            <a:ext cx="37147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C7580-2B85-4BB1-BE48-AB8E7DDC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623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净变化（累计）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F2B42-3AB2-47DB-9E57-935E773F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290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559 / 104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E3B59-1E79-41D6-AE08-A48A4997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862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修正 / 新增错误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A3949F-3B50-46EB-A534-8D297F6E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14875"/>
            <a:ext cx="371475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32B9A3-D06E-42F0-A7EB-C00CA190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958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rPr>
              <a:t>定位：开发期 OOF 的共享权重结果；尚不是独立外部盲测。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AE934-B00C-4BC7-A555-7E5CE020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来源：NOISE_REVIEW_BOARD_AND_NEXT_FINETUNING_DECISION_20260905.md</a:t>
            </a:r>
          </a:p>
        </p:txBody>
      </p:sp>
    </p:spTree>
    <p:extLst>
      <p:ext uri="{BB962C8B-B14F-4D97-AF65-F5344CB8AC3E}">
        <p14:creationId xmlns:p14="http://schemas.microsoft.com/office/powerpoint/2010/main" val="2807194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8F4261-47EE-4BD2-9C47-7FFF1D94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CF4B3-F033-4CE2-B782-03503026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CBE20-BDC7-4A8B-BA1F-0DFA8FB5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7FBF9-2CC4-4DFB-BF56-5B2681F1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3DCD2-9293-40F3-9725-98413B0B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机制边界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42DB4-799B-48B8-9C51-0B357213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当前瓶颈：找到“有用的局部动作”不等于模型真正学会了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E3B35-A9B6-4C64-AEDF-5556F4CA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9DF6F-041D-417B-B68B-630222AA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7FFEE-49A0-4C8E-A380-EB93F735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A6C7F-C565-4D31-98D7-8D3EF064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4667250" cy="3171825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E9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D4A96-2D77-4902-81FC-35BF7124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33575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已经证明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B1426-F657-4465-97C2-C93546F1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00325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对部分错误谱图，定向改变少量峰可以显著恢复真实候选的排名。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63A58-9BD3-4B22-803C-CC7AD1B1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52850"/>
            <a:ext cx="4057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说明误差信号具有局部、可解释的结构。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5312C-EB74-40F7-B7BE-691DAE53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7620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B0D6C-0EAC-4C04-977D-5F1643C2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14500"/>
            <a:ext cx="4857750" cy="3171825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242D2-AFBB-45E6-98CA-4932D064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33575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尚未解决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69F6C-AC62-4740-B626-CE1A1E54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00325"/>
            <a:ext cx="4267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怎样把这些局部修正稳定迁移到共享 clean-spectrum embedding？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B2455-944F-42BA-9FD7-D4F53217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5285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近期配对对照显示：简单的转移算子没有带来独立 Top-1 增量。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BC7B6-02BA-448B-B5ED-CD9FA378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953500" cy="619125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F5E3CC-196E-4CEE-AD90-D42E956C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00675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下一步科学问题：学习“哪些局部证据值得迁移”，而不是扩大已经无效的训练路线。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087AB-023B-4CA8-B498-938264F6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依据：NOISE_REVIEW_BOARD…；NOISE_FINAL_DYNAMIC_DIRECT_PHASE_A_RESULT_20260905.md</a:t>
            </a:r>
          </a:p>
        </p:txBody>
      </p:sp>
    </p:spTree>
    <p:extLst>
      <p:ext uri="{BB962C8B-B14F-4D97-AF65-F5344CB8AC3E}">
        <p14:creationId xmlns:p14="http://schemas.microsoft.com/office/powerpoint/2010/main" val="3003039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DCF0AB-8105-4049-8D6D-4BEB44F0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9C8CD-4F40-4DF2-B487-5134BF06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CA706-C3C4-4060-93D3-C126C358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9A608-1718-4DE1-A5C5-CEE9C300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36CED-1334-4C8E-B07E-D5E59DBD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方法二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BD0BB-0172-458E-970C-0394D52E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模块二：P2b 补回 embedding 压缩后丢失的局部谱学证据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E214E-37F9-4508-B103-C201DB3C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D33E4-F4A0-445B-A1D3-333F99BB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0CA08-5AEC-4A60-B0EE-255351F9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AEBAE-90A9-46AA-B8AE-2211C7A9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857500" cy="3333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35C3E-ED82-4D2C-B68A-0617B1C0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14525"/>
            <a:ext cx="1409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5661C-538B-4925-84AC-EB85A0F8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DreaMS cosine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145CE-10E8-45EE-A1CD-D0D72B89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755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整张谱图的整体相似性</a:t>
            </a:r>
          </a:p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稳健，但可能压缩细节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C9FBB-C49B-4BA8-88BE-168C7525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71825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7B754-B0C2-498F-8F29-57D023F1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95450"/>
            <a:ext cx="33337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2DAE9-399A-4BF7-8B4F-E14B9FAC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914525"/>
            <a:ext cx="1485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局部证据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F7DB4-E6E5-45AE-84FA-FB7A7D35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0985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中性丢失 + 关键峰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CC122-6D37-4C13-8F25-1FDE627D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4802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哪些碎片差值符合候选结构？</a:t>
            </a:r>
          </a:p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局部证据与全局相似是否冲突？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36FCD-634D-44C5-B521-ED3749DD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71825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70DC5-FD61-4B0D-B5A2-5794B0B9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95450"/>
            <a:ext cx="2914650" cy="3333750"/>
          </a:xfrm>
          <a:prstGeom xmlns:a="http://schemas.openxmlformats.org/drawingml/2006/main" prst="roundRect">
            <a:avLst>
              <a:gd name="adj" fmla="val 6536"/>
            </a:avLst>
          </a:prstGeom>
          <a:solidFill xmlns:a="http://schemas.openxmlformats.org/drawingml/2006/main">
            <a:srgbClr val="E9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B31FC-5AEF-4DB4-8A70-D959AB6F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14525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融合排序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CE3D6-8F11-4AEB-9E7E-FF8B8E89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098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候选级 rerank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8F6EA-B4B7-4595-8CD7-662F16C6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48025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只改变候选排序</a:t>
            </a:r>
          </a:p>
          <a:p xmlns:a="http://schemas.openxmlformats.org/drawingml/2006/main">
            <a:pPr algn="ctr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不生成新的谱图 embedding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5B52BF-9ACD-426D-8630-7BD4C0DE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895350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04A84-BCAE-4C50-9D48-1CDD8E82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86400"/>
            <a:ext cx="842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P2b 是“后置专家”，与共享 embedding 改进不是同一个结果层级。</a:t>
            </a:r>
          </a:p>
        </p:txBody>
      </p:sp>
    </p:spTree>
    <p:extLst>
      <p:ext uri="{BB962C8B-B14F-4D97-AF65-F5344CB8AC3E}">
        <p14:creationId xmlns:p14="http://schemas.microsoft.com/office/powerpoint/2010/main" val="13695110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390AF6-1E76-4D19-B2DE-EF9AD595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D8B59-AB71-4440-A674-1BED9C0E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5F1D0-979F-44BE-B20D-50CB8F29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D60BC-9F64-4C09-BF9A-1235811E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891C8-153D-4136-B6FF-C76C1E23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结果二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7FB76-32E5-41FD-B2E8-89B773F1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P2b 在封存主面板有效，但在极近结构上存在明确风险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B887F-D6DD-46CF-8709-F18BC5A5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764C0-7D27-4FFA-B006-C425D6C8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68A08-D3AB-41F2-B764-757EC0B1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28650" y="1524000"/>
          <a:ext xmlns:a="http://schemas.openxmlformats.org/drawingml/2006/main" cx="6858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69aa5d8af94e1a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F1CA6-F448-43CE-9A90-200ED555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95450"/>
            <a:ext cx="34861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054E2-4EBE-431D-93D9-94021D76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8B64"/>
                </a:solidFill>
                <a:latin typeface="Microsoft YaHei"/>
                <a:ea typeface="Microsoft YaHei"/>
                <a:cs typeface="Microsoft YaHei"/>
              </a:rPr>
              <a:t>主面板净修正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F50CE-C1F7-4621-AAB1-F62A143F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14550"/>
            <a:ext cx="3105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0F7A0-9858-428D-9D16-D020780E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89 条修正，57 条新增错误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0316B-3EFF-41BE-9CBA-507CE8B9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00400"/>
            <a:ext cx="34861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E0620-E1FD-47DD-A797-0E96865C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显著性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771039-6020-49AB-8609-BF700D9E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3105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p = 0.010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F1DE0-9578-4496-AC21-0377702F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767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formula-cluster CI 为正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B0027-99D3-476A-8774-5A42E8E6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34861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8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13F6C-822E-4AD7-A2DF-C3D69CE7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94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B94C55"/>
                </a:solidFill>
                <a:latin typeface="Microsoft YaHei"/>
                <a:ea typeface="Microsoft YaHei"/>
                <a:cs typeface="Microsoft YaHei"/>
              </a:rPr>
              <a:t>硬边界：不能直接部署到高度相似的 near-isomer 候选集合。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C0F29-5E6E-4776-9A3A-0D1F144A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来源：P2B_RANK_FUSION_FORMAL_RECORD_20260823.md</a:t>
            </a:r>
          </a:p>
        </p:txBody>
      </p:sp>
    </p:spTree>
    <p:extLst>
      <p:ext uri="{BB962C8B-B14F-4D97-AF65-F5344CB8AC3E}">
        <p14:creationId xmlns:p14="http://schemas.microsoft.com/office/powerpoint/2010/main" val="4584301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0D15F3-B5BB-424D-97E4-F7457B47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F30E7-DFA5-4D50-B43E-B509C4A0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3006E-AE33-4D1C-AF3D-687A589D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E94C4-56C1-400B-B49A-911847CE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70655-1E52-4886-AB69-970CB351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方法三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E2983-8CD5-4E6C-BBE3-01C68179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模块三：BioAware 用样本内代谢网络为候选提供上下文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C16AF-2D09-4B9C-B651-0C84AA64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5DA46-E696-41BF-82F7-8B9DDEA8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5B1D2-5580-46F7-8D45-4871E0E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85FB1-3426-4537-9DB1-EA6B43DC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095750" cy="376237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37847-7AC2-4A2C-BE10-46A88419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单条谱图视角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65870-5FDD-41C7-836D-BD08116D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14725"/>
            <a:ext cx="3105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4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96A05-7497-467B-B518-725B6BC6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23774-8518-4EA9-BEDE-8BA0BB0A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494" y="30670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5D109-FCB4-46F4-8B34-4829C055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38" y="3209925"/>
            <a:ext cx="38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68CAB-2E2A-40B1-BB06-F16F97D9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581" y="272415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A0029-4E6E-4672-AFF9-5821C938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718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909AB-60FA-4493-91A9-09EFEA9F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69" y="2600325"/>
            <a:ext cx="381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82497-6159-4110-AA7C-29D4CEB8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31051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0B46D-53C1-42A8-89E2-60958B98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756" y="285750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8EC9F6-2377-46E3-9E88-37A9160D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385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A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2B6F8-B261-42BD-8A93-27864A36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62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1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1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m/z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E23930-2BE3-48E5-95C7-4773FDA5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76675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候选 A、B 的谱学分数接近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4D4A28-C78C-4958-B55D-84872670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38650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C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信息不足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166541-B9D6-42CC-AD02-5E6497C9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71825"/>
            <a:ext cx="571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02FF3F-4C50-4555-9B4F-B871B404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19250"/>
            <a:ext cx="5753100" cy="376237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9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6B7904-B79B-441C-A69F-6B635379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47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9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97F7A"/>
                </a:solidFill>
                <a:latin typeface="Microsoft YaHei"/>
                <a:ea typeface="Microsoft YaHei"/>
                <a:cs typeface="Microsoft YaHei"/>
              </a:rPr>
              <a:t>样本内上下文视角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959676-48F8-48D2-810D-F3DE98C7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24175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02A02D-1D33-43D8-ABF5-DF1A727E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24175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7D7BF8-A5B5-4804-B7D2-E029A483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05275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8680C8-3E65-4CE5-8BEF-50D17651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105275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9F11D3-CA65-4504-8455-6553E8F3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7810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9932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已注释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底物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0FE13C-3909-4700-8BED-F48F34A1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62250"/>
            <a:ext cx="7810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64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 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EBC323-5AE1-43BE-B2B2-7A678034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62250"/>
            <a:ext cx="7810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9932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已注释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A6A5F0-C2FD-4D95-A3A7-10A26061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7810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9932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共现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代谢物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A5F604-193B-48C2-94EC-12B68C9A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43350"/>
            <a:ext cx="7810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 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C28500-4B7D-48D1-B31E-08262564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43350"/>
            <a:ext cx="7810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反应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A0B852-AF35-4891-B258-2308D1E6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9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若 A 与已检测到的底物/产物构成一致反应邻域，</a:t>
            </a:r>
          </a:p>
          <a:p xmlns:a="http://schemas.openxmlformats.org/drawingml/2006/main">
            <a:pPr algn="ctr">
              <a:defRPr sz="120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其候选可信度可以提高；上下文不能替代谱学证据。</a:t>
            </a:r>
          </a:p>
        </p:txBody>
      </p:sp>
    </p:spTree>
    <p:extLst>
      <p:ext uri="{BB962C8B-B14F-4D97-AF65-F5344CB8AC3E}">
        <p14:creationId xmlns:p14="http://schemas.microsoft.com/office/powerpoint/2010/main" val="3134837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83302-71FF-439E-A4B9-215B8E58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A3F9F-5551-458E-899A-FD3663CB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E97EF-B3BF-48FB-95E3-8D7AA0AF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97A3D-9E99-400E-8267-5A48607B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FA7CA-487A-4A79-BF79-59DB6A0E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结果三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864AB-F651-496D-B73C-E3622F6D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BioAware v2 证明候选上下文有增量价值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71BA9-C70A-4C5E-AE87-54CA968F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4C1EE-DD49-488A-86FD-7B0A9455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6C555-27AE-42AB-87B3-4E89C191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590550" y="1504950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fed4e5c1604c03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9CE6C-C187-4973-99D0-D651D054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37338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C9359-C76C-42BB-B923-12266ECA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8B64"/>
                </a:solidFill>
                <a:latin typeface="Microsoft YaHei"/>
                <a:ea typeface="Microsoft YaHei"/>
                <a:cs typeface="Microsoft YaHei"/>
              </a:rPr>
              <a:t>保守专家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64DD1-7D33-467A-8EF6-65F9A58E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19 /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9473F-05DC-4E7D-8334-AFB5AC09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修正 / 新增错误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1D000-858A-460A-A4BE-B24D7D23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37338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33112-2061-4A8A-9B52-789AA181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rPr>
              <a:t>高召回专家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85592-729E-45C7-8706-5AA4EEB6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23 /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95F76-3874-4AD2-90BD-FAED8F38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7670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覆盖更高，但风险上升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A2908-B5F6-4AEC-A104-550F1F89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05350"/>
            <a:ext cx="3733800" cy="847725"/>
          </a:xfrm>
          <a:prstGeom xmlns:a="http://schemas.openxmlformats.org/drawingml/2006/main" prst="roundRect">
            <a:avLst>
              <a:gd name="adj" fmla="val 17978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7BC49-385F-42D9-846A-36FC7EA0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6727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385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结论：证明“候选上下文有用”；</a:t>
            </a:r>
          </a:p>
          <a:p xmlns:a="http://schemas.openxmlformats.org/drawingml/2006/main">
            <a:pPr algn="ctr">
              <a:defRPr sz="1275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尚不等于共享 embedding 已改善，也不是独立盲测。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11FB4-C564-42FB-8841-3327BFE0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来源：BIOAWARE_MILESTONE_AND_B4_DIRECT_SHARED_EMBEDDING_20260905.md</a:t>
            </a:r>
          </a:p>
        </p:txBody>
      </p:sp>
    </p:spTree>
    <p:extLst>
      <p:ext uri="{BB962C8B-B14F-4D97-AF65-F5344CB8AC3E}">
        <p14:creationId xmlns:p14="http://schemas.microsoft.com/office/powerpoint/2010/main" val="2758228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488BCF-42EE-429D-B630-00AA3A96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09A74-26DA-4CB5-AA25-8EBF286D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C4362-1429-4298-ABED-4BDF26F2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DAA7A-1BEF-4EC7-BB62-10914990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9B997-82F4-4E7A-BFA1-6E8FF245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结果整合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D1996-9E5A-432D-B507-23D6E189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三个模块解决的是不同层次的问题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EF828-B52A-4247-8598-16260AC4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CC8CE-65A9-4493-A96C-6746FD52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DD8A1-95E6-4064-908D-FDC337D2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F9147-AC0A-4A7B-8FB6-C0479EA2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04313-7836-45A3-A610-0653BE87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025FA-1E17-46CE-8B47-E960CC07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192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E256F-7C3D-49C0-BF9A-81CDD366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62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回答的问题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ED545-9626-46EA-8A1D-0ACEA00D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30F24-434D-4C3C-A0C4-8C91377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62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改变什么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6CF37-1028-4DBB-B141-839ADADF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7CC79-2621-429F-ADA7-836FA2AB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当前证据与边界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BCA60-3A42-446B-906F-7B15CD6D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3812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E9AA1D-FBEB-4775-9A04-E4862709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526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E4-A</a:t>
            </a:r>
          </a:p>
          <a:p xmlns:a="http://schemas.openxmlformats.org/drawingml/2006/main">
            <a:pPr algn="ctr">
              <a:defRPr sz="12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共享 embedding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31D049-671E-4707-B95B-12871382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71700"/>
            <a:ext cx="28575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1C200-620B-49F1-B5AD-D1A91222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52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同一分子的谱图能否在不同条件下保持稳定？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F00C8-73EF-4264-B26C-F14C09EC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71700"/>
            <a:ext cx="23812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5B2CC-EF5F-494F-A2C2-98136164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526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所有谱图的</a:t>
            </a:r>
          </a:p>
          <a:p xmlns:a="http://schemas.openxmlformats.org/drawingml/2006/main">
            <a:pPr algn="l">
              <a:def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共享表示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B4950-F248-48F0-854E-1E6DC5E7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8575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DC9C7A-C569-4622-B676-861B62E5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52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5 folds × 3 seeds 稳定正向；</a:t>
            </a:r>
          </a:p>
          <a:p xmlns:a="http://schemas.openxmlformats.org/drawingml/2006/main">
            <a:pPr algn="l">
              <a:def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仍是开发 OOF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F825FC-6E9C-4E45-B8E9-4E949736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23812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FE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99B0C-0EC9-4829-84B9-E327597E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P2b</a:t>
            </a:r>
          </a:p>
          <a:p xmlns:a="http://schemas.openxmlformats.org/drawingml/2006/main">
            <a:pPr algn="ctr">
              <a:defRPr sz="12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局部谱学专家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85F516-CCD0-40A7-8C10-BD78724A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025"/>
            <a:ext cx="28575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FE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A63980-2002-4DF3-8351-45EEE77D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290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哪些局部碎片或中性丢失区分候选？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7C0F10-6AA6-4389-9DB7-FC849732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48025"/>
            <a:ext cx="23812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FE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1FE5A7-61EA-4103-8AFE-CF352C5B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候选排序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58B360-D802-434F-82DB-B66CA64A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48025"/>
            <a:ext cx="28575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FE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1A3AF7-EF95-4F47-8595-6EE25C63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290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封存主面板 +1.07 pp；</a:t>
            </a:r>
          </a:p>
          <a:p xmlns:a="http://schemas.openxmlformats.org/drawingml/2006/main">
            <a:pPr algn="l">
              <a:def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near-core −4.23 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346E01-D0BC-456F-AC68-55078B15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23812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2DF95C-C085-4F4A-82E0-E06B82ED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053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BioAware</a:t>
            </a:r>
          </a:p>
          <a:p xmlns:a="http://schemas.openxmlformats.org/drawingml/2006/main">
            <a:pPr algn="ctr">
              <a:defRPr sz="12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上下文专家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94A906-2C8D-4501-A578-4482700A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24350"/>
            <a:ext cx="28575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E032D6-CE8F-49FD-97C0-B85A43DC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0532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样本内反应邻域能否约束模糊候选？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45F670-9774-490A-AA77-F6A06A36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23812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7558CC-E80E-4153-A311-4993C910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053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候选排序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EF1F71-5A16-4FD7-9354-08C94F55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28575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3A8120-DBE8-4DF0-A7C4-812241D6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0532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开发期 +3.47 pp、19/0；</a:t>
            </a:r>
          </a:p>
          <a:p xmlns:a="http://schemas.openxmlformats.org/drawingml/2006/main">
            <a:pPr algn="l">
              <a:def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不是独立盲测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274C19-EA76-4A46-94F7-385F7FA6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19750"/>
            <a:ext cx="9372600" cy="4191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F8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FE09D6-F863-4F01-9FD5-BAB5E27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15000"/>
            <a:ext cx="891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94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B94C55"/>
                </a:solidFill>
                <a:latin typeface="Microsoft YaHei"/>
                <a:ea typeface="Microsoft YaHei"/>
                <a:cs typeface="Microsoft YaHei"/>
              </a:rPr>
              <a:t>数值来自不同协议：不能相加；真正需要整合的是证据与安全边界。</a:t>
            </a:r>
          </a:p>
        </p:txBody>
      </p:sp>
    </p:spTree>
    <p:extLst>
      <p:ext uri="{BB962C8B-B14F-4D97-AF65-F5344CB8AC3E}">
        <p14:creationId xmlns:p14="http://schemas.microsoft.com/office/powerpoint/2010/main" val="10474149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204305-5947-4B53-AA67-C1EF09DB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B59E6-09FD-491D-AFA4-C70CB3FE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D8D0F-DCEB-46B7-BD66-CDEC9E43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94095-53EB-4551-B2CA-B517B9F8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A6F12-704D-4FD4-B094-D9AF6126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真实数据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E38BF-32F5-407F-B703-92879A66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真实应用：MTBLS13729 结直肠癌配对组织队列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4551A-6898-4A6C-9637-6D9C1043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9E4C2-F5D2-49C7-BFBD-825370E4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39DB7-939E-4EF5-8951-545C0E41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A8742-196D-4605-BE16-5798E070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23622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FE70E-52F7-43C8-B5BE-95818752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受试者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AB4EA-9FE4-4A31-9466-C09EFEB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907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30 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7B3E2-4C1E-4385-A4F7-8AC8E19E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肿瘤与配对邻近正常组织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315B6-1D60-426E-9986-6EA770E1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71625"/>
            <a:ext cx="23622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61E4D-8C2D-4FCD-A4C1-50EF742C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240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病理构成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F0F60-386F-4C85-9088-8A278975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907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10 + 10 + 10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7DAAA-B19B-40B0-A3B6-AB9EE92D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479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875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左侧管状 / 右侧管状 / 右侧黏液性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F01A1-1FBC-4BAD-8006-91AD233B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71625"/>
            <a:ext cx="23622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9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BE9E3-6A34-45A2-BD14-53C7C0DC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240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7F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97F7A"/>
                </a:solidFill>
                <a:latin typeface="Microsoft YaHei"/>
                <a:ea typeface="Microsoft YaHei"/>
                <a:cs typeface="Microsoft YaHei"/>
              </a:rPr>
              <a:t>采集面板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F1BDF-E12B-4AC7-9348-066C4DEC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907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B1774B-72B8-406F-BC23-14336247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479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RP± 与 HILIC±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00786-7E51-4613-9F7F-8FEE49AF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32194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256581-D1AA-43BC-8A99-CC32171B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24025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rPr>
              <a:t>原始文件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3131D9-AD88-4DB9-9074-B77A6B8B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90725"/>
            <a:ext cx="2838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240 mzML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C198CF-39F4-4FEA-95CC-B1E0CB06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479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60 个样本 × 4 个 LC–MS 面板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363F40-661A-4608-BEB8-4B7F17D0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77550" cy="2028825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ECD67-8C69-4701-A2EA-E562ACAB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15AD5B-56CC-44CC-B4A1-B3F0A06B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原始 mzML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4E27BE-1632-4926-93EF-52C59097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峰提取 / 对齐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272D6E-FAB5-4547-9145-1FDE0399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29075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E8CBD1-2DFC-4975-81EB-53BD146B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90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0FC0C9-3293-4785-B09D-DFDCEB02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feature 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213572-40ED-4F04-9BC0-939DD7F1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196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MS1 重定量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81DA88-12D2-4BC4-A08B-D3F6EB40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29075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E95712-E10F-42ED-BAF0-21364A51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90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CD77DA-928B-4E65-A352-82B43FA4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02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MS/MS 注释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E658EC-65CD-480A-A69A-AD11F721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196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DreaMS / E6 / P2b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2CC576-7875-4D31-9491-0CF23AB5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29075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1523B5-1D01-408B-AE90-BDA92552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90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1B0470-28D5-46D3-9A01-6E4D3847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配对统计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9507E4-7764-4B8A-B08F-56E6CC5B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196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Rmu vs RN</a:t>
            </a:r>
          </a:p>
          <a:p xmlns:a="http://schemas.openxmlformats.org/drawingml/2006/main">
            <a:pPr algn="ctr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及交互检验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964BC0-DFC0-46EC-86EC-D61EE9F6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29075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7985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82DEE3-E0D1-49C3-8212-02EDB03C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90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522056-70FD-42F5-AA38-3C90B6A8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验证清单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204FD4-D1DA-41C1-99DF-3B033D01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4196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MS2 / 加合物 / 标准品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E232AD-2B5E-4EAB-97F4-FFB5E439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数据：MetaboLights MTBLS13729；临床设计来自 clinical_metadata_s2.tsv</a:t>
            </a:r>
          </a:p>
        </p:txBody>
      </p:sp>
    </p:spTree>
    <p:extLst>
      <p:ext uri="{BB962C8B-B14F-4D97-AF65-F5344CB8AC3E}">
        <p14:creationId xmlns:p14="http://schemas.microsoft.com/office/powerpoint/2010/main" val="19271533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7C2DD-6C42-4EB9-9548-5F358DA4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47758-59CF-4C44-BB74-E254E506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2BC22-EC2E-408F-B737-7C9D3843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115E0-860E-4F93-BE15-284BFF4B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63466-79A9-46CD-8A45-7F66DE4F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真实数据结果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CF4C2-944B-4E9F-999E-AE038AE6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真实数据中，覆盖率增加与证据质量提升必须分开看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0A4D0-65F9-4064-89B8-535C5750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ED0E6-EE64-4565-99A7-660917CF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1A266-C809-4964-8422-393F1B38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14350" y="1504950"/>
          <a:ext xmlns:a="http://schemas.openxmlformats.org/drawingml/2006/main" cx="5905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98550e3c2441dd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629400" y="1504950"/>
          <a:ext xmlns:a="http://schemas.openxmlformats.org/drawingml/2006/main" cx="50101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e8f2bb6e054d3a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13816-0204-474B-B949-E58D5645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67350"/>
            <a:ext cx="9563100" cy="552450"/>
          </a:xfrm>
          <a:prstGeom xmlns:a="http://schemas.openxmlformats.org/drawingml/2006/main" prst="roundRect">
            <a:avLst>
              <a:gd name="adj" fmla="val 22414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72237-FB76-4726-B5CC-E7DC2362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81650"/>
            <a:ext cx="910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97732"/>
                </a:solidFill>
                <a:latin typeface="Microsoft YaHei"/>
                <a:ea typeface="Microsoft YaHei"/>
                <a:cs typeface="Microsoft YaHei"/>
              </a:rPr>
              <a:t>应用面板按当时冻结的 E6 运行（并非当前 E4-A）；P2b 提高覆盖但强证据数量下降，E6 更接近提高证据质量。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DF88C-EE18-43C4-8B80-FBF9EB16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来源：MTBLS13729_ANNOTATION_TO_BIOLOGY_BENCHMARK_20260901.md</a:t>
            </a:r>
          </a:p>
        </p:txBody>
      </p:sp>
    </p:spTree>
    <p:extLst>
      <p:ext uri="{BB962C8B-B14F-4D97-AF65-F5344CB8AC3E}">
        <p14:creationId xmlns:p14="http://schemas.microsoft.com/office/powerpoint/2010/main" val="16819630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87F7A9-94FE-4061-81E0-EA80F3DE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6CC98-E881-41A0-B9C0-99CFFF53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286AE-A1B1-4D75-952F-3023F54C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6CBB5-259B-4354-9AD9-B04BA4F7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B7599-EF10-41B8-B85F-AA0A692C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生物学结果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6A11F-882C-4D5C-990D-105CCD80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当前最稳定的生物学锚点：feature 3222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73512-D3E9-425D-ADAB-802D8CFF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BE967-C563-48BD-B0E6-E9840037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3DD1D-86DE-42CE-AA99-50741982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36260-750B-4C0B-81E4-F0DC72CA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3657600" cy="40386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144CC-B9BB-40A6-A40B-00C284BC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24025"/>
            <a:ext cx="2800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三路共识 · Level 2a-supported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E9467-E899-4D29-AE26-C06F3451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m/z 448.33946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0FE7B-3988-4644-B69E-CE898B77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RT 631.066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0AB01-1604-41B6-8C55-84D7C089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C20:4 arachidonoylcarnitine-like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B6D67-FABC-4ADE-9D11-345CB742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9527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924AA-F60E-41A9-A166-4246500C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8B64"/>
                </a:solidFill>
                <a:latin typeface="Microsoft YaHei"/>
                <a:ea typeface="Microsoft YaHei"/>
                <a:cs typeface="Microsoft YaHei"/>
              </a:rPr>
              <a:t>靶向 EIC 检出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2079B-5E73-4D05-804C-CA94966D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8B53E-FABE-45A9-B55E-9162F05E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5 ppm，局部峰解析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EC73C-6A9D-413E-8CCC-870F70EA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04950"/>
            <a:ext cx="6953250" cy="186690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36D37-4932-4772-82FA-E97C617A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33550"/>
            <a:ext cx="645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黏液性肿瘤 vs 配对正常（Rmu vs RN）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A9F4C-3387-48E0-8411-48088F55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574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+1.228 ～ +1.760 log2FC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E6798-F408-4792-9F81-E24C602C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717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约 2.34 ～ 3.39 倍；三种归一化下最大 primary q = 0.0925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0C561-CDEF-4AD4-9495-C0A883DF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695325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28336-7F2A-45DF-B3E5-8485475E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67150"/>
            <a:ext cx="1485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C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不能过度解释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E82989-C104-496D-8599-4CB6014D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62450"/>
            <a:ext cx="6305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Rmu vs Rtu 交互检验未通过 FDR 10%</a:t>
            </a:r>
          </a:p>
          <a:p xmlns:a="http://schemas.openxmlformats.org/drawingml/2006/main">
            <a:pPr algn="l">
              <a:def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因此尚不能称为“黏液性特异”</a:t>
            </a:r>
          </a:p>
          <a:p xmlns:a="http://schemas.openxmlformats.org/drawingml/2006/main">
            <a:pPr algn="l">
              <a:def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C20:4 双键位置与精确异构体仍未确定</a:t>
            </a:r>
          </a:p>
          <a:p xmlns:a="http://schemas.openxmlformats.org/drawingml/2006/main">
            <a:pPr algn="l">
              <a:def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静态丰度差异不等于脂肪酸氧化通量或酶活变化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E1D273-8EA9-45CF-A3E1-EDE20DB4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来源：MTBLS13729_FROZEN_BIOLOGY_RESULT_20260829.md；冻结表型盲三路面板</a:t>
            </a:r>
          </a:p>
        </p:txBody>
      </p:sp>
    </p:spTree>
    <p:extLst>
      <p:ext uri="{BB962C8B-B14F-4D97-AF65-F5344CB8AC3E}">
        <p14:creationId xmlns:p14="http://schemas.microsoft.com/office/powerpoint/2010/main" val="4455457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6AD0FB-206D-466E-A723-A9ADEB78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AFB67-EDA6-41B7-B5DD-D6094FF1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A0114-7AFC-418F-94E2-55D63EAC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2F8D1-643C-4F71-9969-560A4240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FEF6C-7EE0-4749-A813-08DCB8FF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验证路径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DA7B9-60D4-4D0E-804B-623C09F4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从“候选命中”到“可发表身份”，还需要逐级补齐证据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F13C5-A3B0-43DE-87D3-943A4605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20CAD-386B-4F71-810E-3590BDB5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21F90-7A5C-444E-868F-04EA6053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87D6A-F601-4DA3-AC06-83FC3AC0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668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D49AB-09E5-4571-BC35-882D0D84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9675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  同方法标准品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1E8E3-A2F5-4C59-A1FC-D83AC347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577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RT 共洗脱 + 全谱匹配 + spike-in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68C47-7853-4AB7-A4AC-F1CE935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952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9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EC814-7590-442C-8868-6F0C7EBE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67175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L2a  强谱学支持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ECCE0-94D8-48CB-B089-1881C812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参考谱一致，诊断碎片稳定；仍保留异构体边界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82BB9-EAFD-4AF5-8158-65CB2D25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52750"/>
            <a:ext cx="8382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CCEE5-F4D4-489D-8FCF-E59B5879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14675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L2b  结构类别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B0E96-EAFA-4C94-B7BB-D2E4D675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27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支持分子类别或骨架，无法锁定精确异构体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D9AD4-AC5D-4D6C-B13C-297492DD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0250"/>
            <a:ext cx="7239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B8B01-D181-4653-8B84-CCC5244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62175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4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L3  分子式 / 候选集合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62B480-0D16-4CF9-9351-B6C6D28C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02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质量与加合物约束下的待验证候选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D8740-FC3D-425C-8A1C-3CAB2830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00200"/>
            <a:ext cx="33909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881FD-8ACB-4F59-9AFC-5B757407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62125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近期验证优先级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5FE40-2DC4-4EF5-AB22-D1D89D39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05025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3019 / 1717 / 3222</a:t>
            </a:r>
          </a:p>
          <a:p xmlns:a="http://schemas.openxmlformats.org/drawingml/2006/main">
            <a:pPr algn="l">
              <a:defRPr sz="112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人工 MS2 + 加合物/异构体复核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B87AB6-05F4-4ACF-ACB2-FDEB100A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身份层级按本项目冻结证据口径表达；不把候选排名等同于标准品确认</a:t>
            </a:r>
          </a:p>
        </p:txBody>
      </p:sp>
    </p:spTree>
    <p:extLst>
      <p:ext uri="{BB962C8B-B14F-4D97-AF65-F5344CB8AC3E}">
        <p14:creationId xmlns:p14="http://schemas.microsoft.com/office/powerpoint/2010/main" val="220876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02CBA-820C-4273-8A3E-38CC709C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95905-D1D7-47B6-94B4-AA916AE2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BADBA-3CF5-4CD6-998D-700514D2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267450"/>
            <a:ext cx="152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23915-A6D2-4233-99D5-60B3B1AB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05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B5864-3E3E-4211-B55C-45317EF6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总结与下一步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4BC03-70AC-47EA-8706-2007C782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总结：我们正在把“相似谱图”推进为“可验证身份”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639F5-8FD3-48E6-A951-3717B27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14D3F-09EB-4214-BA30-C14A1D19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707985"/>
                </a:solidFill>
                <a:latin typeface="Microsoft YaHei"/>
                <a:ea typeface="Microsoft YaHei"/>
                <a:cs typeface="Microsoft YaHei"/>
              </a:rPr>
              <a:t>LC–MS/MS 代谢物注释课题组会汇报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4CB75-5F45-4F2F-ADD5-340266AF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F237C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D38B8-911B-49F7-9C89-4D8A1CFB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52197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3AA85-2578-4115-83D9-D95869D3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F5617-7A99-45DC-BEC6-87D84DF6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1C4FB-6D50-48FA-B181-9CD8B394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从条件依赖的 MS/MS 观测中恢复稳定结构信息，并在冻结候选中排序。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D80C8-6650-43F0-9669-271BB1C3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62100"/>
            <a:ext cx="52197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216F0-A9FD-4E01-8E88-6E0E421C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37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46944-B9B5-4DFF-8BAD-80929EF6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716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2E5EB-A9A4-4698-AA55-C877823C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共享 embedding、局部谱学专家和生化上下文分别补充不同证据。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DB0C15-B08D-40C9-8A9F-1461D581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52197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97AE1-879A-487F-8899-692F1A53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F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0D751-52D3-4D18-9E0B-79F5D353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43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71408-6705-4DAB-8E88-FC4C7916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E4-A 多折稳定正向；P2b 与 BioAware 有增量，但边界必须同时报告。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C88CA-CA82-4322-8BC0-290540C7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52197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A736BD-5CE6-46AA-BD68-7F0BDE7D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2669F2-8A0E-41FD-93B8-2E21850F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43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生物学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68D5C-BF70-42CE-813E-A3637DB6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E4853"/>
                </a:solidFill>
                <a:latin typeface="Microsoft YaHei"/>
                <a:ea typeface="Microsoft YaHei"/>
                <a:cs typeface="Microsoft YaHei"/>
              </a:rPr>
              <a:t>MTBLS13729 得到 feature 3222 稳定丰度信号，精确身份仍待标准品验证。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32044-71C7-4138-885E-422D4347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0"/>
            <a:ext cx="9944100" cy="695325"/>
          </a:xfrm>
          <a:prstGeom xmlns:a="http://schemas.openxmlformats.org/drawingml/2006/main" prst="roundRect">
            <a:avLst>
              <a:gd name="adj" fmla="val 21918"/>
            </a:avLst>
          </a:prstGeom>
          <a:solidFill xmlns:a="http://schemas.openxmlformats.org/drawingml/2006/main">
            <a:srgbClr val="2B1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8E1EBD-A79E-4901-89D2-40AFEDAE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38775"/>
            <a:ext cx="946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下一步：独立盲测｜面向决策边界的共享表示训练｜3019/1717/3222 标准品与正交验证</a:t>
            </a:r>
          </a:p>
        </p:txBody>
      </p:sp>
    </p:spTree>
    <p:extLst>
      <p:ext uri="{BB962C8B-B14F-4D97-AF65-F5344CB8AC3E}">
        <p14:creationId xmlns:p14="http://schemas.microsoft.com/office/powerpoint/2010/main" val="1190428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2026-09-05T16:52:57.3750000Z</dcterms:created>
  <dcterms:modified xsi:type="dcterms:W3CDTF">2026-09-05T16:52:57.3760000Z</dcterms:modified>
</coreProperties>
</file>