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0dcc1578bb4139" /><Relationship Type="http://schemas.openxmlformats.org/officeDocument/2006/relationships/extended-properties" Target="/docProps/app.xml" Id="R47c1b43fb9c24fec" /><Relationship Type="http://schemas.openxmlformats.org/officeDocument/2006/relationships/officeDocument" Target="/ppt/presentation.xml" Id="Rf8a74801be714713" /></Relationships>
</file>

<file path=ppt/presentation.xml><?xml version="1.0" encoding="utf-8"?>
<p:presentation xmlns:p="http://schemas.openxmlformats.org/presentationml/2006/main">
  <p:sldMasterIdLst>
    <p:sldMasterId xmlns:r="http://schemas.openxmlformats.org/officeDocument/2006/relationships" id="2147483648" r:id="R6f047e88498d4248"/>
  </p:sldMasterIdLst>
  <p:notesMasterIdLst>
    <p:notesMasterId xmlns:r="http://schemas.openxmlformats.org/officeDocument/2006/relationships" r:id="R8d26dd9a9a874d42"/>
  </p:notesMasterIdLst>
  <p:sldIdLst>
    <p:sldId xmlns:r="http://schemas.openxmlformats.org/officeDocument/2006/relationships" id="256" r:id="Rd37bb86c4151498a"/>
    <p:sldId xmlns:r="http://schemas.openxmlformats.org/officeDocument/2006/relationships" id="257" r:id="Rd92b5fef9807464e"/>
    <p:sldId xmlns:r="http://schemas.openxmlformats.org/officeDocument/2006/relationships" id="258" r:id="R15327bfddd3b4bef"/>
    <p:sldId xmlns:r="http://schemas.openxmlformats.org/officeDocument/2006/relationships" id="259" r:id="R63fd256e5746499f"/>
    <p:sldId xmlns:r="http://schemas.openxmlformats.org/officeDocument/2006/relationships" id="260" r:id="R8c2efb970c084f2c"/>
    <p:sldId xmlns:r="http://schemas.openxmlformats.org/officeDocument/2006/relationships" id="261" r:id="R80477ceaab3947e8"/>
    <p:sldId xmlns:r="http://schemas.openxmlformats.org/officeDocument/2006/relationships" id="262" r:id="R73699bf796f144c9"/>
    <p:sldId xmlns:r="http://schemas.openxmlformats.org/officeDocument/2006/relationships" id="263" r:id="R5828e7e267514de6"/>
    <p:sldId xmlns:r="http://schemas.openxmlformats.org/officeDocument/2006/relationships" id="264" r:id="R00f266ba70ab4edc"/>
    <p:sldId xmlns:r="http://schemas.openxmlformats.org/officeDocument/2006/relationships" id="265" r:id="Rd4b4d4d0a332463c"/>
    <p:sldId xmlns:r="http://schemas.openxmlformats.org/officeDocument/2006/relationships" id="266" r:id="Raf6017ad18d24da8"/>
    <p:sldId xmlns:r="http://schemas.openxmlformats.org/officeDocument/2006/relationships" id="267" r:id="R6745bcbf794144c5"/>
    <p:sldId xmlns:r="http://schemas.openxmlformats.org/officeDocument/2006/relationships" id="268" r:id="R1e9d0d5483ec48f5"/>
    <p:sldId xmlns:r="http://schemas.openxmlformats.org/officeDocument/2006/relationships" id="269" r:id="Rfb081fd132404b4c"/>
    <p:sldId xmlns:r="http://schemas.openxmlformats.org/officeDocument/2006/relationships" id="270" r:id="R86106762ff534b47"/>
    <p:sldId xmlns:r="http://schemas.openxmlformats.org/officeDocument/2006/relationships" id="271" r:id="R4babe19bc7914e45"/>
    <p:sldId xmlns:r="http://schemas.openxmlformats.org/officeDocument/2006/relationships" id="272" r:id="R3515a56a629d4e42"/>
    <p:sldId xmlns:r="http://schemas.openxmlformats.org/officeDocument/2006/relationships" id="273" r:id="R0a7d158719284644"/>
    <p:sldId xmlns:r="http://schemas.openxmlformats.org/officeDocument/2006/relationships" id="274" r:id="Rec535e29edda4dbb"/>
    <p:sldId xmlns:r="http://schemas.openxmlformats.org/officeDocument/2006/relationships" id="275" r:id="R5d332d2fc3704d3b"/>
    <p:sldId xmlns:r="http://schemas.openxmlformats.org/officeDocument/2006/relationships" id="276" r:id="R749735c665eb4ef1"/>
    <p:sldId xmlns:r="http://schemas.openxmlformats.org/officeDocument/2006/relationships" id="277" r:id="R3b35703f3f8c4e44"/>
    <p:sldId xmlns:r="http://schemas.openxmlformats.org/officeDocument/2006/relationships" id="278" r:id="R286668f234f7499d"/>
    <p:sldId xmlns:r="http://schemas.openxmlformats.org/officeDocument/2006/relationships" id="279" r:id="Ra9f59756ce76491d"/>
    <p:sldId xmlns:r="http://schemas.openxmlformats.org/officeDocument/2006/relationships" id="280" r:id="R0b28e75e197741fb"/>
    <p:sldId xmlns:r="http://schemas.openxmlformats.org/officeDocument/2006/relationships" id="281" r:id="R124216d611ec4c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294bd2b45d4d11" /><Relationship Type="http://schemas.openxmlformats.org/officeDocument/2006/relationships/slideMaster" Target="/ppt/slideMasters/slideMaster1.xml" Id="R6f047e88498d4248" /><Relationship Type="http://schemas.openxmlformats.org/officeDocument/2006/relationships/notesMaster" Target="/ppt/notesMasters/notesMaster1.xml" Id="R8d26dd9a9a874d42" /><Relationship Type="http://schemas.openxmlformats.org/officeDocument/2006/relationships/presProps" Target="/ppt/presProps.xml" Id="Rfbb1f4e88d654156" /><Relationship Type="http://schemas.openxmlformats.org/officeDocument/2006/relationships/tableStyles" Target="/ppt/tableStyles.xml" Id="Rc4ffb24845c341ce" /><Relationship Type="http://schemas.openxmlformats.org/officeDocument/2006/relationships/slide" Target="/ppt/slides/slide1.xml" Id="Rd37bb86c4151498a" /><Relationship Type="http://schemas.openxmlformats.org/officeDocument/2006/relationships/slide" Target="/ppt/slides/slide2.xml" Id="Rd92b5fef9807464e" /><Relationship Type="http://schemas.openxmlformats.org/officeDocument/2006/relationships/slide" Target="/ppt/slides/slide3.xml" Id="R15327bfddd3b4bef" /><Relationship Type="http://schemas.openxmlformats.org/officeDocument/2006/relationships/slide" Target="/ppt/slides/slide4.xml" Id="R63fd256e5746499f" /><Relationship Type="http://schemas.openxmlformats.org/officeDocument/2006/relationships/slide" Target="/ppt/slides/slide5.xml" Id="R8c2efb970c084f2c" /><Relationship Type="http://schemas.openxmlformats.org/officeDocument/2006/relationships/slide" Target="/ppt/slides/slide6.xml" Id="R80477ceaab3947e8" /><Relationship Type="http://schemas.openxmlformats.org/officeDocument/2006/relationships/slide" Target="/ppt/slides/slide7.xml" Id="R73699bf796f144c9" /><Relationship Type="http://schemas.openxmlformats.org/officeDocument/2006/relationships/slide" Target="/ppt/slides/slide8.xml" Id="R5828e7e267514de6" /><Relationship Type="http://schemas.openxmlformats.org/officeDocument/2006/relationships/slide" Target="/ppt/slides/slide9.xml" Id="R00f266ba70ab4edc" /><Relationship Type="http://schemas.openxmlformats.org/officeDocument/2006/relationships/slide" Target="/ppt/slides/slide10.xml" Id="Rd4b4d4d0a332463c" /><Relationship Type="http://schemas.openxmlformats.org/officeDocument/2006/relationships/slide" Target="/ppt/slides/slide11.xml" Id="Raf6017ad18d24da8" /><Relationship Type="http://schemas.openxmlformats.org/officeDocument/2006/relationships/slide" Target="/ppt/slides/slide12.xml" Id="R6745bcbf794144c5" /><Relationship Type="http://schemas.openxmlformats.org/officeDocument/2006/relationships/slide" Target="/ppt/slides/slide13.xml" Id="R1e9d0d5483ec48f5" /><Relationship Type="http://schemas.openxmlformats.org/officeDocument/2006/relationships/slide" Target="/ppt/slides/slide14.xml" Id="Rfb081fd132404b4c" /><Relationship Type="http://schemas.openxmlformats.org/officeDocument/2006/relationships/slide" Target="/ppt/slides/slide15.xml" Id="R86106762ff534b47" /><Relationship Type="http://schemas.openxmlformats.org/officeDocument/2006/relationships/slide" Target="/ppt/slides/slide16.xml" Id="R4babe19bc7914e45" /><Relationship Type="http://schemas.openxmlformats.org/officeDocument/2006/relationships/slide" Target="/ppt/slides/slide17.xml" Id="R3515a56a629d4e42" /><Relationship Type="http://schemas.openxmlformats.org/officeDocument/2006/relationships/slide" Target="/ppt/slides/slide18.xml" Id="R0a7d158719284644" /><Relationship Type="http://schemas.openxmlformats.org/officeDocument/2006/relationships/slide" Target="/ppt/slides/slide19.xml" Id="Rec535e29edda4dbb" /><Relationship Type="http://schemas.openxmlformats.org/officeDocument/2006/relationships/slide" Target="/ppt/slides/slide20.xml" Id="R5d332d2fc3704d3b" /><Relationship Type="http://schemas.openxmlformats.org/officeDocument/2006/relationships/slide" Target="/ppt/slides/slide21.xml" Id="R749735c665eb4ef1" /><Relationship Type="http://schemas.openxmlformats.org/officeDocument/2006/relationships/slide" Target="/ppt/slides/slide22.xml" Id="R3b35703f3f8c4e44" /><Relationship Type="http://schemas.openxmlformats.org/officeDocument/2006/relationships/slide" Target="/ppt/slides/slide23.xml" Id="R286668f234f7499d" /><Relationship Type="http://schemas.openxmlformats.org/officeDocument/2006/relationships/slide" Target="/ppt/slides/slide24.xml" Id="Ra9f59756ce76491d" /><Relationship Type="http://schemas.openxmlformats.org/officeDocument/2006/relationships/slide" Target="/ppt/slides/slide25.xml" Id="R0b28e75e197741fb" /><Relationship Type="http://schemas.openxmlformats.org/officeDocument/2006/relationships/slide" Target="/ppt/slides/slide26.xml" Id="R124216d611ec4c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ea98e5f07941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6549a5842f4ace" /><Relationship Type="http://schemas.openxmlformats.org/officeDocument/2006/relationships/notesMaster" Target="/ppt/notesMasters/notesMaster1.xml" Id="Reb9a9d0e3d584c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01d52548634bb0" /><Relationship Type="http://schemas.openxmlformats.org/officeDocument/2006/relationships/notesMaster" Target="/ppt/notesMasters/notesMaster1.xml" Id="R2327ff8dac044a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dec41f1e7e4ecf" /><Relationship Type="http://schemas.openxmlformats.org/officeDocument/2006/relationships/notesMaster" Target="/ppt/notesMasters/notesMaster1.xml" Id="R2689322c122145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a9c6913e845d0" /><Relationship Type="http://schemas.openxmlformats.org/officeDocument/2006/relationships/notesMaster" Target="/ppt/notesMasters/notesMaster1.xml" Id="R03e688f7cfeb47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83012942414640" /><Relationship Type="http://schemas.openxmlformats.org/officeDocument/2006/relationships/notesMaster" Target="/ppt/notesMasters/notesMaster1.xml" Id="R0a7dad8a10cc4e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a22ff0c5914085" /><Relationship Type="http://schemas.openxmlformats.org/officeDocument/2006/relationships/notesMaster" Target="/ppt/notesMasters/notesMaster1.xml" Id="R937c15d3945349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74bba0ba554911" /><Relationship Type="http://schemas.openxmlformats.org/officeDocument/2006/relationships/notesMaster" Target="/ppt/notesMasters/notesMaster1.xml" Id="Redcdc23847da4b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baa87b428d4c73" /><Relationship Type="http://schemas.openxmlformats.org/officeDocument/2006/relationships/notesMaster" Target="/ppt/notesMasters/notesMaster1.xml" Id="R7a80cbe7f57d4c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f5146addaf4655" /><Relationship Type="http://schemas.openxmlformats.org/officeDocument/2006/relationships/notesMaster" Target="/ppt/notesMasters/notesMaster1.xml" Id="R26e6f19439da4c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6d07d9e6c54f0f" /><Relationship Type="http://schemas.openxmlformats.org/officeDocument/2006/relationships/notesMaster" Target="/ppt/notesMasters/notesMaster1.xml" Id="Ra2c2cb2c40c84f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cf47a414d042e0" /><Relationship Type="http://schemas.openxmlformats.org/officeDocument/2006/relationships/notesMaster" Target="/ppt/notesMasters/notesMaster1.xml" Id="R46f7ef9aae544b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85393c94d04f36" /><Relationship Type="http://schemas.openxmlformats.org/officeDocument/2006/relationships/notesMaster" Target="/ppt/notesMasters/notesMaster1.xml" Id="Rf04959a9899e47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ec903d96134885" /><Relationship Type="http://schemas.openxmlformats.org/officeDocument/2006/relationships/notesMaster" Target="/ppt/notesMasters/notesMaster1.xml" Id="Rbce90d6c9dcb42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cf6393c381442a" /><Relationship Type="http://schemas.openxmlformats.org/officeDocument/2006/relationships/notesMaster" Target="/ppt/notesMasters/notesMaster1.xml" Id="R2fa8d5a489034b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c4332346084e1f" /><Relationship Type="http://schemas.openxmlformats.org/officeDocument/2006/relationships/notesMaster" Target="/ppt/notesMasters/notesMaster1.xml" Id="R5c983ba429e64a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0c7bc6b194407c" /><Relationship Type="http://schemas.openxmlformats.org/officeDocument/2006/relationships/notesMaster" Target="/ppt/notesMasters/notesMaster1.xml" Id="Ra8e9caaab6f54f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33a1af791b49cf" /><Relationship Type="http://schemas.openxmlformats.org/officeDocument/2006/relationships/notesMaster" Target="/ppt/notesMasters/notesMaster1.xml" Id="Rb4a61e3e11bf49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85760ab07442d7" /><Relationship Type="http://schemas.openxmlformats.org/officeDocument/2006/relationships/notesMaster" Target="/ppt/notesMasters/notesMaster1.xml" Id="R672471b8e95248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3f2e3a10fc42fa" /><Relationship Type="http://schemas.openxmlformats.org/officeDocument/2006/relationships/notesMaster" Target="/ppt/notesMasters/notesMaster1.xml" Id="R241497b8ab9644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c991286fbe488d" /><Relationship Type="http://schemas.openxmlformats.org/officeDocument/2006/relationships/notesMaster" Target="/ppt/notesMasters/notesMaster1.xml" Id="R2030688d1be34fb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ca3216e101419f" /><Relationship Type="http://schemas.openxmlformats.org/officeDocument/2006/relationships/notesMaster" Target="/ppt/notesMasters/notesMaster1.xml" Id="R7e2da7f124624c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3f5a4aa2ae4505" /><Relationship Type="http://schemas.openxmlformats.org/officeDocument/2006/relationships/notesMaster" Target="/ppt/notesMasters/notesMaster1.xml" Id="Rfe8416e6634945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9b0b270ea743f0" /><Relationship Type="http://schemas.openxmlformats.org/officeDocument/2006/relationships/notesMaster" Target="/ppt/notesMasters/notesMaster1.xml" Id="R165bbd926fe648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d1d77e110454e7f" /><Relationship Type="http://schemas.openxmlformats.org/officeDocument/2006/relationships/notesMaster" Target="/ppt/notesMasters/notesMaster1.xml" Id="Re7922def4daa4b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bb76d409c94aab" /><Relationship Type="http://schemas.openxmlformats.org/officeDocument/2006/relationships/notesMaster" Target="/ppt/notesMasters/notesMaster1.xml" Id="R75682d57e0eb4a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a0d22af8c94fe8" /><Relationship Type="http://schemas.openxmlformats.org/officeDocument/2006/relationships/notesMaster" Target="/ppt/notesMasters/notesMaster1.xml" Id="R1a135eb6006f4e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各位老师、师兄师姐好。今天汇报的核心问题是：面对非靶向代谢组学中大量无法直接定性的 MS/MS 信号，怎样借助预训练谱图模型，把正确代谢物从同分子式候选中更稳定地排到前面。</a:t>
            </a:r>
          </a:p>
          <a:p xmlns:a="http://schemas.openxmlformats.org/drawingml/2006/main">
            <a:r>
              <a:t>汇报按科学问题展开：先说明任务本身和 DreaMS 基线，再从错误审计出发，依次介绍定向谱峰扰动、局部谱学证据、化学碎裂先验和生物网络证据四类改进，最后展示真实数据与网页平台。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汇报按一个连续的问题链展开：先说明非靶向 LC–MS/MS 实验究竟产生什么数据，以及代谢物注释要输出什么；随后解释 DreaMS 如何完成候选检索、它还会在哪些情况下出错。</a:t>
            </a:r>
          </a:p>
          <a:p xmlns:a="http://schemas.openxmlformats.org/drawingml/2006/main">
            <a:r>
              <a:t>方法部分不是并列罗列四个模块，而是从错误来源推出两类算法动作：一类微调共享编码器，一类在固定候选集合内重新排序。最后再说明工具平台和真实数据中的使用方式。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非靶向代谢组学的实验目标，是尽可能全面、准确地测量样本中代谢物的种类和相对丰度。这里的“非靶向”首先描述覆盖范围，不等同于仪器已经知道每个峰的名字。</a:t>
            </a:r>
          </a:p>
          <a:p xmlns:a="http://schemas.openxmlformats.org/drawingml/2006/main">
            <a:r>
              <a:t>LC 先按保留时间分离化合物；MS1 记录前体离子的质量、保留时间和峰面积，形成 feature 和丰度矩阵；MS/MS 再把选中的前体离子打碎，给出一组碎片峰。我们的课题就从这些尚未定性的 MS/MS 出发，为对应 feature 寻找可能结构。</a:t>
            </a:r>
          </a:p>
          <a:p xmlns:a="http://schemas.openxmlformats.org/drawingml/2006/main">
            <a:r>
              <a:t/>
            </a:r>
          </a:p>
          <a:p xmlns:a="http://schemas.openxmlformats.org/drawingml/2006/main">
            <a:r>
              <a:t>参考资料：</a:t>
            </a:r>
          </a:p>
          <a:p xmlns:a="http://schemas.openxmlformats.org/drawingml/2006/main">
            <a:r>
              <a:t>Bushuiev et al. DreaMS. Nature Biotechnology. https://www.nature.com/articles/s41587-025-02663-3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把完整流程串起来看：样本先经过 LC 分离，MS1 提供 feature 和丰度，MS/MS 提供结构证据；完成结构注释后，丰度差异才可能进入通路和表型解释。</a:t>
            </a:r>
          </a:p>
          <a:p xmlns:a="http://schemas.openxmlformats.org/drawingml/2006/main">
            <a:r>
              <a:t>困难在于 feature、MS/MS 和结构名称之间并不是自动对应的。谱库覆盖有限，同分子式候选又非常相似，实验条件还会改变谱峰。因此本课题处理的是整个非靶向流程中最窄的一段：从实验谱图到候选结构。</a:t>
            </a:r>
          </a:p>
          <a:p xmlns:a="http://schemas.openxmlformats.org/drawingml/2006/main">
            <a:r>
              <a:t/>
            </a:r>
          </a:p>
          <a:p xmlns:a="http://schemas.openxmlformats.org/drawingml/2006/main">
            <a:r>
              <a:t>参考资料：</a:t>
            </a:r>
          </a:p>
          <a:p xmlns:a="http://schemas.openxmlformats.org/drawingml/2006/main">
            <a:r>
              <a:t>Zhou et al. Nature Communications 2022. https://www.nature.com/articles/s41467-022-34537-6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一次推断的直接输入，是一条查询 MS/MS 峰表和可用元数据。模型把它与同一候选约束下的参考谱比较，输出候选结构和排序分数，而不是未经验证的唯一答案。</a:t>
            </a:r>
          </a:p>
          <a:p xmlns:a="http://schemas.openxmlformats.org/drawingml/2006/main">
            <a:r>
              <a:t>右侧是真实查询例子：分子式 C18H16O5。DreaMS 的前五名都是不同位置的三甲氧基黄酮异构体或近结构分子，真实 Cabreuvin 位于第六。表中数值来自同一冻结官方 embedding 和同一 10 ppm、同 adduct 候选协议；为了听众易懂，正文称为置信分数，但它本质上是排序分数，并非概率。</a:t>
            </a:r>
          </a:p>
          <a:p xmlns:a="http://schemas.openxmlformats.org/drawingml/2006/main">
            <a:r>
              <a:t/>
            </a:r>
          </a:p>
          <a:p xmlns:a="http://schemas.openxmlformats.org/drawingml/2006/main">
            <a:r>
              <a:t>参考资料：</a:t>
            </a:r>
          </a:p>
          <a:p xmlns:a="http://schemas.openxmlformats.org/drawingml/2006/main">
            <a:r>
              <a:t>Local evidence: D:/DreaMS/data/validation/g8r_noise_v3_a4_exact_peak_scan/scan_queries.csv.gz; official embedding cache</a:t>
            </a:r>
          </a:p>
          <a:p xmlns:a="http://schemas.openxmlformats.org/drawingml/2006/main">
            <a:r>
              <a:t>Compound names checked against PubChem PUG REST by InChIKey.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这页用刚才同一个真实例子说明：结构不同，并不意味着 MS/MS 会完全不同。共享骨架会产生大量相同碎片，真正具有区分力的证据可能只有很少几处。</a:t>
            </a:r>
          </a:p>
          <a:p xmlns:a="http://schemas.openxmlformats.org/drawingml/2006/main">
            <a:r>
              <a:t>此外，同一化合物跨仪器和碰撞条件的谱峰也会变化；而单张谱图不包含组织、反应邻居或共现信息。这里先把可能困难列清楚，后面再用统一错误图谱判断它们到底怎样影响 DreaMS。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当前方法不是简单的第一代到第四代替代关系，而是四类可以组合的计算路线：标准谱库提供高可信证据，分子网络扩大数据集内覆盖，计算碎裂建立结构与峰的联系，谱图表征学习利用大规模数据。</a:t>
            </a:r>
          </a:p>
          <a:p xmlns:a="http://schemas.openxmlformats.org/drawingml/2006/main">
            <a:r>
              <a:t>我们选择 DreaMS 作为基础，是因为它能利用海量未标注谱图形成可迁移 embedding；但它并不会自动解决局部峰、化学机制和样本上下文缺失，所以后续方法仍需补回这些证据。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DreaMS 的工作可以一次讲清楚。第一步是自监督预训练：约 2400 万条未标注谱图进入模型，通过遮蔽峰预测和保留时间顺序学习通用的峰关系，输出一个共享 encoder 和 1024 维表示空间。</a:t>
            </a:r>
          </a:p>
          <a:p xmlns:a="http://schemas.openxmlformats.org/drawingml/2006/main">
            <a:r>
              <a:t>第二步是有身份标签的候选微调：查询谱是 Anchor，同一分子的参考谱是 Positive；官方 DreaMS 从前体质量差不超过 0.05 Da、身份不同的参考谱中构造 Negative，目标是让同身份更近、近质量异身份更远。这里不把本课题后续的同分子式候选限制倒写成官方训练设定。</a:t>
            </a:r>
          </a:p>
          <a:p xmlns:a="http://schemas.openxmlformats.org/drawingml/2006/main">
            <a:r>
              <a:t>真正注释时，query 和每一张候选参考谱经过参数共享的 encoder，分别得到 z_query 和 z_ref；计算二者 cosine similarity，得到用于排序的 DreaMS 分数，再对候选结构排序。</a:t>
            </a:r>
          </a:p>
          <a:p xmlns:a="http://schemas.openxmlformats.org/drawingml/2006/main">
            <a:r>
              <a:t/>
            </a:r>
          </a:p>
          <a:p xmlns:a="http://schemas.openxmlformats.org/drawingml/2006/main">
            <a:r>
              <a:t>参考资料：</a:t>
            </a:r>
          </a:p>
          <a:p xmlns:a="http://schemas.openxmlformats.org/drawingml/2006/main">
            <a:r>
              <a:t>Bushuiev et al. DreaMS. Nature Biotechnology. https://www.nature.com/articles/s41587-025-02663-3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在这个冻结的历史机制开发图中，23,876 条 query 共有 1,805 个官方 Top-1 错误，其中 1,446 个属于近结构 near 子群。</a:t>
            </a:r>
          </a:p>
          <a:p xmlns:a="http://schemas.openxmlformats.org/drawingml/2006/main">
            <a:r>
              <a:t>最重要的结果不是错误总数，而是错误性质：68.8% 是单纯的 positive deficit，也就是同一分子的 query 和参考谱在跨条件时没有被拉得足够近；另有 10.9% 同时存在正例不足和错误候选过高。纯粹的 negative excess 只占约一成。</a:t>
            </a:r>
          </a:p>
          <a:p xmlns:a="http://schemas.openxmlformats.org/drawingml/2006/main">
            <a:r>
              <a:t>因此，后续算法必须同时考虑恢复正例稳定性和抑制混淆候选。这里的 23,876-query 图用于机制拆解，不与修正后的全量候选图或其他任务百分比横向拼接。</a:t>
            </a:r>
          </a:p>
          <a:p xmlns:a="http://schemas.openxmlformats.org/drawingml/2006/main">
            <a:r>
              <a:t/>
            </a:r>
          </a:p>
          <a:p xmlns:a="http://schemas.openxmlformats.org/drawingml/2006/main">
            <a:r>
              <a:t>参考资料：</a:t>
            </a:r>
          </a:p>
          <a:p xmlns:a="http://schemas.openxmlformats.org/drawingml/2006/main">
            <a:r>
              <a:t>Local evidence: D:/DreaMS/docs/PPT_REPORT_SCRIPT_AFTER_SLIDE5_20260829.md</a:t>
            </a:r>
          </a:p>
          <a:p xmlns:a="http://schemas.openxmlformats.org/drawingml/2006/main">
            <a:r>
              <a:t>Scope correction: D:/DreaMS/docs/NOISE_CORRECTED_FULLGRAPH_METHOD_RESET_20260906.md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错误拆解后，方法自然分成两类。第一类改变共享 encoder：Noise 让模型重新分配峰级证据，ChemAware 把候选结构预测的碎裂冲突变成训练信号。</a:t>
            </a:r>
          </a:p>
          <a:p xmlns:a="http://schemas.openxmlformats.org/drawingml/2006/main">
            <a:r>
              <a:t>第二类不改 encoder，而在固定候选 Top-k 内重新排序：P2b 补回碎片强度和中性丢失，BioAware 补充样本中的反应邻居与共现环境。</a:t>
            </a:r>
          </a:p>
          <a:p xmlns:a="http://schemas.openxmlformats.org/drawingml/2006/main">
            <a:r>
              <a:t>因此四个模块不是四条割裂路线，而是作用于同一条候选排序链的不同位置。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评价候选检索不能只报一个 Recall@1。Recall@k 告诉我们真实结构进入前几名的比例；AUROC 和 AUPRC 观察真实候选与错误候选的整体区分；Top1–Top2 gap 描述第一名是否明显领先；MRR 和排名观察整个列表。</a:t>
            </a:r>
          </a:p>
          <a:p xmlns:a="http://schemas.openxmlformats.org/drawingml/2006/main">
            <a:r>
              <a:t>更重要的是比较协议。只有同一批 query、同一候选集合、同一身份聚合和同一数据划分，两个数字的差异才可以解释为模型变化。后面每个模块都只在自己的固定协议内与 DreaMS 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谱峰增强不是凭空提出的。MS2DeepScore 在训练时随机删除弱峰、扰动强度并加入弱峰，让谱图相似度对实验噪声更稳定；DreaMS 自己也在预训练中遮蔽约三成峰位再进行重建。</a:t>
            </a:r>
          </a:p>
          <a:p xmlns:a="http://schemas.openxmlformats.org/drawingml/2006/main">
            <a:r>
              <a:t>这些工作证明“从受扰动谱图中学习稳定表示”与质谱任务相容。但它们使用的是通用随机增强，并不知道当前 query 为什么把某个错误结构排到了前面。我们的进一步问题是：能否先分析真实排序错误，再选择与候选边界有关的峰动作。</a:t>
            </a:r>
          </a:p>
          <a:p xmlns:a="http://schemas.openxmlformats.org/drawingml/2006/main">
            <a:r>
              <a:t>CONCORD 是跨模态的鲁棒性启发，不是质谱定向删峰方法的直接来源；汇报中不把两者混为一谈。</a:t>
            </a:r>
          </a:p>
          <a:p xmlns:a="http://schemas.openxmlformats.org/drawingml/2006/main">
            <a:r>
              <a:t/>
            </a:r>
          </a:p>
          <a:p xmlns:a="http://schemas.openxmlformats.org/drawingml/2006/main">
            <a:r>
              <a:t>参考资料：</a:t>
            </a:r>
          </a:p>
          <a:p xmlns:a="http://schemas.openxmlformats.org/drawingml/2006/main">
            <a:r>
              <a:t>Huber et al. MS2DeepScore. Journal of Cheminformatics 2021. https://pmc.ncbi.nlm.nih.gov/articles/PMC8556919/</a:t>
            </a:r>
          </a:p>
          <a:p xmlns:a="http://schemas.openxmlformats.org/drawingml/2006/main">
            <a:r>
              <a:t>Bushuiev et al. DreaMS. Nature Biotechnology. https://www.nature.com/articles/s41587-025-02663-3</a:t>
            </a:r>
          </a:p>
          <a:p xmlns:a="http://schemas.openxmlformats.org/drawingml/2006/main">
            <a:r>
              <a:t>Zhu et al. CONCORD. Nature Biotechnology 2026. https://doi.org/10.1038/s41587-025-02950-z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我们先不训练新模型，而是冻结 DreaMS，逐项测试削弱某些峰会怎样改变真实候选与最强错误候选的排序边界。四联矩阵分别记录纠正、新增错误、净纠正和新增覆盖，避免只挑一个好看的数字。</a:t>
            </a:r>
          </a:p>
          <a:p xmlns:a="http://schemas.openxmlformats.org/drawingml/2006/main">
            <a:r>
              <a:t>探索阶段，删除全部混淆峰后可纠正 28.1% 的原错误，而数量匹配的随机删峰为 7.6%。更严格地冻结 8 项峰特征并在一次性测试集中确认后，定向动作纠正率为 10.74%，数量、强度和近似 m/z 都匹配的随机对照为 4.52%；公式平衡 margin 净改善的 95% CI 为 0.0229 到 0.0386。</a:t>
            </a:r>
          </a:p>
          <a:p xmlns:a="http://schemas.openxmlformats.org/drawingml/2006/main">
            <a:r>
              <a:t>这些结果说明峰级错误利用偏差可重复存在，但身份峰和混淆峰由已知真值定义，因此这里只能作为机制审计和训练信号来源，不能直接当作部署时性能。</a:t>
            </a:r>
          </a:p>
          <a:p xmlns:a="http://schemas.openxmlformats.org/drawingml/2006/main">
            <a:r>
              <a:t/>
            </a:r>
          </a:p>
          <a:p xmlns:a="http://schemas.openxmlformats.org/drawingml/2006/main">
            <a:r>
              <a:t>参考资料：</a:t>
            </a:r>
          </a:p>
          <a:p xmlns:a="http://schemas.openxmlformats.org/drawingml/2006/main">
            <a:r>
              <a:t>Local evidence: D:/DreaMS/docs/PEAK_EVIDENCE_STAGE_DECISION.md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训练样本不是简单给一张谱随机加噪。第一步先定义 query、真实候选和最强错误候选之间的排序边界；第二步在训练期利用已知真值，从冻结动作审计中保留能够改善 margin 的峰级衰减位置；第三步构造峰数、强度和 m/z 相匹配的随机对照；第四步始终保留原始干净谱。</a:t>
            </a:r>
          </a:p>
          <a:p xmlns:a="http://schemas.openxmlformats.org/drawingml/2006/main">
            <a:r>
              <a:t>这里有两套独立、同预算的训练臂。定向臂输入 clean query、定向扰动 query 与相同正负参考；matched-random 臂把定向谱替换为匹配随机谱。随机对照不是额外塞进定向训练单元，而是用于归因比较。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迁移到模型时，干净谱与定向扰动谱使用同一个共享 encoder。模型主体保持冻结，只更新最后一个 Transformer block 和投影层，让峰级变化能够影响最终 embedding，又尽量避免破坏大规模预训练得到的通用峰关系。</a:t>
            </a:r>
          </a:p>
          <a:p xmlns:a="http://schemas.openxmlformats.org/drawingml/2006/main">
            <a:r>
              <a:t>训练目标不用在组会上拆成复杂公式：第一，真实候选要高于最强错误候选；第二，干净谱和扰动谱的表示要保持一致；第三，原本已经正确的 query 不能大量被改错。</a:t>
            </a:r>
          </a:p>
          <a:p xmlns:a="http://schemas.openxmlformats.org/drawingml/2006/main">
            <a:r>
              <a:t>这一页画的是定向扰动训练臂；匹配随机是保持 query、正负参考、batch 顺序和训练预算相同的独立对照臂。部署时只输入普通干净谱，不需要提前知道真值，也不需要在推理阶段生成扰动。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本页所有数字都属于旧 23,876-query 历史机制开发协议，不能外推为修正后全量候选图的当前性能。结果分成两层。第一层是动作空间：对每条 query 事后观察所有峰动作，并允许选择最佳动作或不动作，可以揭示约 3.85 个百分点的可修正空间。它是 oracle headroom，不是模型成绩。</a:t>
            </a:r>
          </a:p>
          <a:p xmlns:a="http://schemas.openxmlformats.org/drawingml/2006/main">
            <a:r>
              <a:t>第二层是共享 clean-spectrum encoder：历史五折、三个 seed 的模型相对官方 DreaMS 分别提高 0.611、0.662 和 0.632 个百分点，平均约 0.635；近结构 near 子集平均提高 0.522，干净谱 embedding 的平均余弦保持度超过 0.995。</a:t>
            </a:r>
          </a:p>
          <a:p xmlns:a="http://schemas.openxmlformats.org/drawingml/2006/main">
            <a:r>
              <a:t>同初始化、同预算的三臂对照进一步表明，clean continuation 和 matched random 都是 +0.5065 pp，targeted 为 +0.5403 pp；targeted 相对 matched random 只多 0.0338 pp，公式簇置信区间下界没有严格大于零。因此可以说共享模型稳定改善，但不能把全部改善归因于定向峰语义。</a:t>
            </a:r>
          </a:p>
          <a:p xmlns:a="http://schemas.openxmlformats.org/drawingml/2006/main">
            <a:r>
              <a:t>Cabreuvin 是动作层真实案例：有效峰动作能把真实候选从第六推到第一，用来说明可修正信号存在；它不应被描述为部署模型已经自动完成的纠错。</a:t>
            </a:r>
          </a:p>
          <a:p xmlns:a="http://schemas.openxmlformats.org/drawingml/2006/main">
            <a:r>
              <a:t/>
            </a:r>
          </a:p>
          <a:p xmlns:a="http://schemas.openxmlformats.org/drawingml/2006/main">
            <a:r>
              <a:t>参考资料：</a:t>
            </a:r>
          </a:p>
          <a:p xmlns:a="http://schemas.openxmlformats.org/drawingml/2006/main">
            <a:r>
              <a:t>Local evidence: D:/DreaMS/docs/NOISE_E4A_HIGHLR_MULTIFOLD_RESULT_20260827.md</a:t>
            </a:r>
          </a:p>
          <a:p xmlns:a="http://schemas.openxmlformats.org/drawingml/2006/main">
            <a:r>
              <a:t>Local evidence: D:/DreaMS/docs/NOISE_E4A_CAUSAL_ATTRIBUTION_FINAL_RESULT_20260901.md</a:t>
            </a:r>
          </a:p>
          <a:p xmlns:a="http://schemas.openxmlformats.org/drawingml/2006/main">
            <a:r>
              <a:t>Action headroom boundary: D:/DreaMS/docs/NOISE_V3_A4_FORMAL_RESULT_AND_A4B_DECISION_20260825.md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Noise 已经使用谱峰信息，但它通过微调改变全局 embedding。局部重排解决的是另一个层面：1024 维向量仍可能丢失少数峰和中性丢失的细节，所以在候选 Top-k 上直接回到原始峰表。</a:t>
            </a:r>
          </a:p>
          <a:p xmlns:a="http://schemas.openxmlformats.org/drawingml/2006/main">
            <a:r>
              <a:t>第一个专家使用谱熵相似度，关注整组匹配碎片的强度分布；第二个专家使用中性丢失，把每个碎片转成前体减碎片的质量差，从而突出官能团脱除。冻结权重中中性丢失是主信号，DreaMS 保留全局锚点，谱熵做小幅校正。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3,000 条主面板 query 上，Recall@1 从 87.93% 提升到 89.13%，提高约 1.20 个百分点。</a:t>
            </a:r>
          </a:p>
          <a:p xmlns:a="http://schemas.openxmlformats.org/drawingml/2006/main">
            <a:r>
              <a:t>右侧展示完整 Top-5 变化。查询分子式为 C21H20O10，真实身份是 Aloe-emodin-8-O-beta-D-glucopyranoside。DreaMS 把真实结构排在第六；加入碎片谱熵和中性丢失后，它升到第一。候选集合没有变化，变化只来自局部谱学证据。</a:t>
            </a:r>
          </a:p>
          <a:p xmlns:a="http://schemas.openxmlformats.org/drawingml/2006/main">
            <a:r>
              <a:t/>
            </a:r>
          </a:p>
          <a:p xmlns:a="http://schemas.openxmlformats.org/drawingml/2006/main">
            <a:r>
              <a:t>参考资料：</a:t>
            </a:r>
          </a:p>
          <a:p xmlns:a="http://schemas.openxmlformats.org/drawingml/2006/main">
            <a:r>
              <a:t>Local evidence: D:/DreaMS/data/validation/g8r_p2b_p3_final.per_query.csv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局部谱学证据仍然是谱图对谱图的比较。当两个候选共享骨架、参考谱也很相似时，还需要回答一个更化学的问题：观测到的某个峰，究竟更符合哪个候选结构可能发生的键断裂。</a:t>
            </a:r>
          </a:p>
          <a:p xmlns:a="http://schemas.openxmlformats.org/drawingml/2006/main">
            <a:r>
              <a:t>我们使用 ICEBERG 作为结构条件的碎裂教师。它先从分子图生成可能的碎裂路径，再预测碎片峰强；对真实候选和最强错误候选分别预测后，就能找到两种结构对同一个观测峰意见不同的位置。</a:t>
            </a:r>
          </a:p>
          <a:p xmlns:a="http://schemas.openxmlformats.org/drawingml/2006/main">
            <a:r>
              <a:t/>
            </a:r>
          </a:p>
          <a:p xmlns:a="http://schemas.openxmlformats.org/drawingml/2006/main">
            <a:r>
              <a:t>参考资料：</a:t>
            </a:r>
          </a:p>
          <a:p xmlns:a="http://schemas.openxmlformats.org/drawingml/2006/main">
            <a:r>
              <a:t>Murphy et al. ICEBERG. https://pmc.ncbi.nlm.nih.gov/articles/PMC12154671/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具体过程有五步。首先取得实验 query；第二，对真实候选和最强错误候选分别生成 ICEBERG 预测谱；第三，将预测峰映射到实验峰，找出两种候选支持方向冲突的观测峰；第四，生成一个只衰减少量冲突峰的化学引导训练视图；最后与原始谱图一起进入同一个 DreaMS。</a:t>
            </a:r>
          </a:p>
          <a:p xmlns:a="http://schemas.openxmlformats.org/drawingml/2006/main">
            <a:r>
              <a:t>更新范围仍然限制在末端 block 和投影层。排序损失要求真实候选高于错误候选，一致性项要求化学引导训练不要破坏干净谱图的通用表示。ICEBERG 只在训练中提供教师信号，部署不需要候选真值。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1,929 条查询、1,210 个分子式簇的公式隔离评估中，Recall@1 从 90.46% 提升到 91.71%，提高 1.24 个百分点。共纠正 32 条原错误，新引入 8 条，净纠正 24 条。</a:t>
            </a:r>
          </a:p>
          <a:p xmlns:a="http://schemas.openxmlformats.org/drawingml/2006/main">
            <a:r>
              <a:t>这个结果的意义是：结构条件的碎裂信息可以通过训练写入干净谱图 embedding，在不改变推断输入的情况下改善相似候选排序。它主要补充的是全局相似和中性丢失都难以分开的化学歧义。</a:t>
            </a:r>
          </a:p>
          <a:p xmlns:a="http://schemas.openxmlformats.org/drawingml/2006/main">
            <a:r>
              <a:t/>
            </a:r>
          </a:p>
          <a:p xmlns:a="http://schemas.openxmlformats.org/drawingml/2006/main">
            <a:r>
              <a:t>参考资料：</a:t>
            </a:r>
          </a:p>
          <a:p xmlns:a="http://schemas.openxmlformats.org/drawingml/2006/main">
            <a:r>
              <a:t>Local evidence: D:/DreaMS/docs/CHEMAWARE_RETAINED_ASSET_STRICT_EVIDENCE_AUDIT_20260906.md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当两个候选在谱学上仍然接近时，需要引入与谱图正交的证据。MetDNA 的核心思想是从高置信种子出发，沿已知生化反应关系寻找相邻代谢物；KGMN 进一步把反应网络、MS/MS 相似网络和全局峰相关网络结合起来。</a:t>
            </a:r>
          </a:p>
          <a:p xmlns:a="http://schemas.openxmlformats.org/drawingml/2006/main">
            <a:r>
              <a:t>我们的出发点与它们一致，但任务更聚焦：不做无限递归扩散，而是在 DreaMS 已经给出的固定候选集合中，用样本特异的一步反应邻居重新排序。</a:t>
            </a:r>
          </a:p>
          <a:p xmlns:a="http://schemas.openxmlformats.org/drawingml/2006/main">
            <a:r>
              <a:t/>
            </a:r>
          </a:p>
          <a:p xmlns:a="http://schemas.openxmlformats.org/drawingml/2006/main">
            <a:r>
              <a:t>参考资料：</a:t>
            </a:r>
          </a:p>
          <a:p xmlns:a="http://schemas.openxmlformats.org/drawingml/2006/main">
            <a:r>
              <a:t>Shen et al. Nat Commun 2019. https://www.nature.com/articles/s41467-019-09550-x</a:t>
            </a:r>
          </a:p>
          <a:p xmlns:a="http://schemas.openxmlformats.org/drawingml/2006/main">
            <a:r>
              <a:t>Zhou et al. Nat Commun 2022. https://www.nature.com/articles/s41467-022-34537-6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算法输入是 DreaMS 的候选分数，以及当前样本中已经高置信出现的种子代谢物。对每个候选，我们查询它与种子之间是否存在人工整理的一步反应关系，并用种子可信度、反应方向和可用的共现或保留时间证据加权。</a:t>
            </a:r>
          </a:p>
          <a:p xmlns:a="http://schemas.openxmlformats.org/drawingml/2006/main">
            <a:r>
              <a:t>连接度过高的代谢物容易与很多分子形成非特异关系，因此会被降权。最终把上下文分数以小权重加到 DreaMS 分数上；如果样本中没有可靠邻居，就不改原排名。评估按数据来源留一，避免同一个来源同时影响参数选择和测试。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860 条、六个来源的留一评估中，Recall@1 从 66.05% 提升到 71.98%，提高 5.93 个百分点；纠正 54 条，只新引入 3 条。六个数据来源全部正向。</a:t>
            </a:r>
          </a:p>
          <a:p xmlns:a="http://schemas.openxmlformats.org/drawingml/2006/main">
            <a:r>
              <a:t>右侧是 BV2 HILIC 的真实纠错：分子式 C5H4N4O2，DreaMS 把 Oxypurinol 排第一；样本中的一步反应邻居支持 Xanthine 后，真实候选升到第一。这里的关键是生物证据只在谱图候选之间做重排，并没有脱离谱图任意指定结构。</a:t>
            </a:r>
          </a:p>
          <a:p xmlns:a="http://schemas.openxmlformats.org/drawingml/2006/main">
            <a:r>
              <a:t/>
            </a:r>
          </a:p>
          <a:p xmlns:a="http://schemas.openxmlformats.org/drawingml/2006/main">
            <a:r>
              <a:t>参考资料：</a:t>
            </a:r>
          </a:p>
          <a:p xmlns:a="http://schemas.openxmlformats.org/drawingml/2006/main">
            <a:r>
              <a:t>Local evidence: D:/DreaMS/data/validation/bioaware_b30_cross_source_sink_veto_localcheck_20260907_v1/report.json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这页按实际使用顺序介绍网页工作台。第一步，上传 MGF、mzML、mzXML、HDF5 或 JSON，并核对前体 m/z、adduct、离子模式和峰表；左侧保留完整页面顶部，让听众先看清楚工具接收什么。</a:t>
            </a:r>
          </a:p>
          <a:p xmlns:a="http://schemas.openxmlformats.org/drawingml/2006/main">
            <a:r>
              <a:t>第二步，工作台先显示真正进入模型的 MS/MS 谱图，避免文件或前体信息有误时直接运行。第三步，结果页以候选结构卡呈现：DreaMS embedding 是主排序，P2b 是候选组内的局部谱学重排预览；只有提供独立上下文种子时，BioAware 才追加网络证据。</a:t>
            </a:r>
          </a:p>
          <a:p xmlns:a="http://schemas.openxmlformats.org/drawingml/2006/main">
            <a:r>
              <a:t>平台的目的不是把多种证据压成一个不可解释的总分，而是让实验人员能够回查：候选为什么靠前、哪一层证据发生了变化、是否值得进入后续标准品验证。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最后回到真实数据。左侧 A 是原论文原生注释率：345 个已注释代谢物，其中 157 个 Level 1、188 个 Level 2；占 9,766 个全部检测特征的 3.53%，若只看 6,054 个带 MS2 的特征则为 5.70%。</a:t>
            </a:r>
          </a:p>
          <a:p xmlns:a="http://schemas.openxmlformats.org/drawingml/2006/main">
            <a:r>
              <a:t>B 统一到我们冻结的 16,953 个 RPLC 重定量目标上比较候选覆盖。官方 DreaMS 为 20.16%，E6 为 20.21%，P2b 为 21.16%；三路稳定共识为 12.75%，三路并集为 21.23%。这些数字表示可审计候选覆盖，不是准确率；三路并集也不是一个可部署模型。</a:t>
            </a:r>
          </a:p>
          <a:p xmlns:a="http://schemas.openxmlformats.org/drawingml/2006/main">
            <a:r>
              <a:t>C 只统计达到冻结 Level 2a-supported 强谱学证据层的特征：官方 DreaMS 为 254，E6 为 276，P2b 为 230。E6 增加强证据特征，而 P2b 扩大候选覆盖但强证据数下降，说明覆盖和证据质量必须分开判断。</a:t>
            </a:r>
          </a:p>
          <a:p xmlns:a="http://schemas.openxmlformats.org/drawingml/2006/main">
            <a:r>
              <a:t>MTBLS13729 没有大规模结构真值，因此不能把模型新增分配称为纠正。生物学解释仍停留在丰度关联层面；后续只需说明优先候选将进入标准品或针对性生物学验证。</a:t>
            </a:r>
          </a:p>
          <a:p xmlns:a="http://schemas.openxmlformats.org/drawingml/2006/main">
            <a:r>
              <a:t/>
            </a:r>
          </a:p>
          <a:p xmlns:a="http://schemas.openxmlformats.org/drawingml/2006/main">
            <a:r>
              <a:t>参考资料：</a:t>
            </a:r>
          </a:p>
          <a:p xmlns:a="http://schemas.openxmlformats.org/drawingml/2006/main">
            <a:r>
              <a:t>MetaboLights MTBLS13729: https://www.ebi.ac.uk/metabolights/MTBLS13729</a:t>
            </a:r>
          </a:p>
          <a:p xmlns:a="http://schemas.openxmlformats.org/drawingml/2006/main">
            <a:r>
              <a:t>Local benchmark report: D:/DreaMS/data/mtbls13729/annotation_biology_benchmark_v1/REPORT.md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abd386d1fa4c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19300d348f40f0" /><Relationship Type="http://schemas.openxmlformats.org/officeDocument/2006/relationships/slideLayout" Target="/ppt/slideLayouts/slideLayout1.xml" Id="R291736b1432544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1736b1432544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59ca0c7f4d4c7a" /><Relationship Type="http://schemas.openxmlformats.org/officeDocument/2006/relationships/image" Target="/ppt/media/image.jpeg" Id="R329fdc2bec144eab" /><Relationship Type="http://schemas.openxmlformats.org/officeDocument/2006/relationships/notesSlide" Target="/ppt/notesSlides/notesSlide1.xml" Id="Rb74ef66669b342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5322de239e4686" /><Relationship Type="http://schemas.openxmlformats.org/officeDocument/2006/relationships/notesSlide" Target="/ppt/notesSlides/notesSlide2.xml" Id="R1b35c3db45f347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0ed443667f475d" /><Relationship Type="http://schemas.openxmlformats.org/officeDocument/2006/relationships/image" Target="/ppt/media/image.png" Id="Rf6ea559b0c774369" /><Relationship Type="http://schemas.openxmlformats.org/officeDocument/2006/relationships/image" Target="/ppt/media/image2.png" Id="Rdb3af3ff38344529" /><Relationship Type="http://schemas.openxmlformats.org/officeDocument/2006/relationships/notesSlide" Target="/ppt/notesSlides/notesSlide3.xml" Id="Rd5e1b29d079640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414a51f9d54516" /><Relationship Type="http://schemas.openxmlformats.org/officeDocument/2006/relationships/image" Target="/ppt/media/image3.png" Id="Rb287f7ce34ce4994" /><Relationship Type="http://schemas.openxmlformats.org/officeDocument/2006/relationships/notesSlide" Target="/ppt/notesSlides/notesSlide4.xml" Id="Rb3cecf35a3064d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e12bd870e04b1e" /><Relationship Type="http://schemas.openxmlformats.org/officeDocument/2006/relationships/image" Target="/ppt/media/image4.png" Id="Ra0784df31a7d4cdf" /><Relationship Type="http://schemas.openxmlformats.org/officeDocument/2006/relationships/image" Target="/ppt/media/image5.png" Id="Rb8641786b80e4b4a" /><Relationship Type="http://schemas.openxmlformats.org/officeDocument/2006/relationships/notesSlide" Target="/ppt/notesSlides/notesSlide5.xml" Id="R5cfd1c39213f4f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998777b7de46be" /><Relationship Type="http://schemas.openxmlformats.org/officeDocument/2006/relationships/image" Target="/ppt/media/image6.png" Id="Ra3cc502857bb4b7f" /><Relationship Type="http://schemas.openxmlformats.org/officeDocument/2006/relationships/image" Target="/ppt/media/image7.png" Id="Re757613211e24931" /><Relationship Type="http://schemas.openxmlformats.org/officeDocument/2006/relationships/image" Target="/ppt/media/image8.png" Id="R9c91a587149c4a74" /><Relationship Type="http://schemas.openxmlformats.org/officeDocument/2006/relationships/notesSlide" Target="/ppt/notesSlides/notesSlide6.xml" Id="Rda900319673249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6d4e2783e84598" /><Relationship Type="http://schemas.openxmlformats.org/officeDocument/2006/relationships/notesSlide" Target="/ppt/notesSlides/notesSlide7.xml" Id="R52d2572fe23d47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0490c9889c4daa" /><Relationship Type="http://schemas.openxmlformats.org/officeDocument/2006/relationships/image" Target="/ppt/media/image9.png" Id="Ra3e4344815d64c14" /><Relationship Type="http://schemas.openxmlformats.org/officeDocument/2006/relationships/image" Target="/ppt/media/image10.png" Id="R24af984bb9bb4c69" /><Relationship Type="http://schemas.openxmlformats.org/officeDocument/2006/relationships/notesSlide" Target="/ppt/notesSlides/notesSlide8.xml" Id="R5993f733675447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9c04df221048ae" /><Relationship Type="http://schemas.openxmlformats.org/officeDocument/2006/relationships/notesSlide" Target="/ppt/notesSlides/notesSlide9.xml" Id="R4910ffec276543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6a7148e6b742d2" /><Relationship Type="http://schemas.openxmlformats.org/officeDocument/2006/relationships/notesSlide" Target="/ppt/notesSlides/notesSlide10.xml" Id="Rc258d40001d94a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8cd673cc6046bd" /><Relationship Type="http://schemas.openxmlformats.org/officeDocument/2006/relationships/notesSlide" Target="/ppt/notesSlides/notesSlide11.xml" Id="Rc11ea2e1a16247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8c0a332d0b4636" /><Relationship Type="http://schemas.openxmlformats.org/officeDocument/2006/relationships/image" Target="/ppt/media/image11.png" Id="Reab8a01526b54da0" /><Relationship Type="http://schemas.openxmlformats.org/officeDocument/2006/relationships/image" Target="/ppt/media/image2.jpeg" Id="Rd1a0c92ab1244f93" /><Relationship Type="http://schemas.openxmlformats.org/officeDocument/2006/relationships/notesSlide" Target="/ppt/notesSlides/notesSlide12.xml" Id="R9ed1b72e0cbb43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bac72913934338" /><Relationship Type="http://schemas.openxmlformats.org/officeDocument/2006/relationships/image" Target="/ppt/media/image12.png" Id="R8b1f86051a0b488f" /><Relationship Type="http://schemas.openxmlformats.org/officeDocument/2006/relationships/notesSlide" Target="/ppt/notesSlides/notesSlide13.xml" Id="Rdf9fefc22e3544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aba54be07624dbf" /><Relationship Type="http://schemas.openxmlformats.org/officeDocument/2006/relationships/notesSlide" Target="/ppt/notesSlides/notesSlide14.xml" Id="R7c0ab83348124f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e7955800f94326" /><Relationship Type="http://schemas.openxmlformats.org/officeDocument/2006/relationships/notesSlide" Target="/ppt/notesSlides/notesSlide15.xml" Id="Re43fa07f3a1343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eca8aecf864222" /><Relationship Type="http://schemas.openxmlformats.org/officeDocument/2006/relationships/chart" Target="/ppt/slides/charts/chart1.xml" Id="R0ca466de06404685" /><Relationship Type="http://schemas.openxmlformats.org/officeDocument/2006/relationships/image" Target="/ppt/media/image13.png" Id="R6983ed5bc9474407" /><Relationship Type="http://schemas.openxmlformats.org/officeDocument/2006/relationships/notesSlide" Target="/ppt/notesSlides/notesSlide16.xml" Id="Ra1540f733ce242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6a8bf975a24f41" /><Relationship Type="http://schemas.openxmlformats.org/officeDocument/2006/relationships/image" Target="/ppt/media/image14.png" Id="R129dc50c521a4809" /><Relationship Type="http://schemas.openxmlformats.org/officeDocument/2006/relationships/notesSlide" Target="/ppt/notesSlides/notesSlide17.xml" Id="Rfb4ce815737944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77f4c4aa5794f59" /><Relationship Type="http://schemas.openxmlformats.org/officeDocument/2006/relationships/chart" Target="/ppt/slides/charts/chart2.xml" Id="Rf5832007d44d4440" /><Relationship Type="http://schemas.openxmlformats.org/officeDocument/2006/relationships/image" Target="/ppt/media/image15.png" Id="R2c7fbcf1366244c4" /><Relationship Type="http://schemas.openxmlformats.org/officeDocument/2006/relationships/image" Target="/ppt/media/image16.png" Id="Rb203f2316b954188" /><Relationship Type="http://schemas.openxmlformats.org/officeDocument/2006/relationships/notesSlide" Target="/ppt/notesSlides/notesSlide18.xml" Id="R74f284c608f745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6c20f41b9ab4dfa" /><Relationship Type="http://schemas.openxmlformats.org/officeDocument/2006/relationships/image" Target="/ppt/media/image3.jpeg" Id="R62037249b27149a5" /><Relationship Type="http://schemas.openxmlformats.org/officeDocument/2006/relationships/notesSlide" Target="/ppt/notesSlides/notesSlide19.xml" Id="Re0975964a12146b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bd47d8380904e99" /><Relationship Type="http://schemas.openxmlformats.org/officeDocument/2006/relationships/notesSlide" Target="/ppt/notesSlides/notesSlide20.xml" Id="Ra8f771e15df24e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4945f1536b460a" /><Relationship Type="http://schemas.openxmlformats.org/officeDocument/2006/relationships/chart" Target="/ppt/slides/charts/chart3.xml" Id="R18c14a7233f74583" /><Relationship Type="http://schemas.openxmlformats.org/officeDocument/2006/relationships/notesSlide" Target="/ppt/notesSlides/notesSlide21.xml" Id="R1d9f6a1e0a6b4f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0c584441876428b" /><Relationship Type="http://schemas.openxmlformats.org/officeDocument/2006/relationships/image" Target="/ppt/media/image4.jpeg" Id="R5344b2e0efcf4df1" /><Relationship Type="http://schemas.openxmlformats.org/officeDocument/2006/relationships/image" Target="/ppt/media/image5.jpeg" Id="R982a30b5c68f4638" /><Relationship Type="http://schemas.openxmlformats.org/officeDocument/2006/relationships/notesSlide" Target="/ppt/notesSlides/notesSlide22.xml" Id="R674ae903dd3745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b667bc7d7c8425b" /><Relationship Type="http://schemas.openxmlformats.org/officeDocument/2006/relationships/notesSlide" Target="/ppt/notesSlides/notesSlide23.xml" Id="R102c64ac809742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014d64e90244ada" /><Relationship Type="http://schemas.openxmlformats.org/officeDocument/2006/relationships/chart" Target="/ppt/slides/charts/chart4.xml" Id="R32fe84668c754c22" /><Relationship Type="http://schemas.openxmlformats.org/officeDocument/2006/relationships/image" Target="/ppt/media/image17.png" Id="R0e407ae3dff94f30" /><Relationship Type="http://schemas.openxmlformats.org/officeDocument/2006/relationships/image" Target="/ppt/media/image18.png" Id="R2b2bd0adacbe4fba" /><Relationship Type="http://schemas.openxmlformats.org/officeDocument/2006/relationships/notesSlide" Target="/ppt/notesSlides/notesSlide24.xml" Id="R5bdce132c10e4e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540e7acf1e490d" /><Relationship Type="http://schemas.openxmlformats.org/officeDocument/2006/relationships/image" Target="/ppt/media/image19.png" Id="R0421a058fdd64d37" /><Relationship Type="http://schemas.openxmlformats.org/officeDocument/2006/relationships/image" Target="/ppt/media/image20.png" Id="R0d7ecba753d94ff1" /><Relationship Type="http://schemas.openxmlformats.org/officeDocument/2006/relationships/image" Target="/ppt/media/image21.png" Id="R48346fd839b04ee0" /><Relationship Type="http://schemas.openxmlformats.org/officeDocument/2006/relationships/notesSlide" Target="/ppt/notesSlides/notesSlide25.xml" Id="R6a6ef2c5c61d4b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f992223f57a4a6e" /><Relationship Type="http://schemas.openxmlformats.org/officeDocument/2006/relationships/image" Target="/ppt/media/image22.png" Id="R149ea225c87647ac" /><Relationship Type="http://schemas.openxmlformats.org/officeDocument/2006/relationships/notesSlide" Target="/ppt/notesSlides/notesSlide26.xml" Id="Rde638733e6974a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38" b="1">
                <a:solidFill>
                  <a:srgbClr val="111111"/>
                </a:solidFill>
                <a:latin typeface="Microsoft YaHei"/>
                <a:ea typeface="Microsoft YaHei"/>
                <a:cs typeface="Microsoft YaHei"/>
              </a:rPr>
              <a:t>历史队列 Recall@1（5 折 × 3 seed）</a:t>
            </a:r>
          </a:p>
        </c:rich>
      </c:tx>
      <c:overlay val="0"/>
      <c:txPr>
        <a:bodyPr xmlns:a="http://schemas.openxmlformats.org/drawingml/2006/main" anchorCtr="1"/>
        <a:lstStyle xmlns:a="http://schemas.openxmlformats.org/drawingml/2006/main"/>
        <a:p xmlns:a="http://schemas.openxmlformats.org/drawingml/2006/main">
          <a:pPr>
            <a:defRPr sz="1238"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cat>
            <c:strRef>
              <c:f>'Chart Data'!$A$2:$A$5</c:f>
              <c:strCache>
                <c:ptCount val="4"/>
                <c:pt idx="0">
                  <c:v>官方 DreaMS</c:v>
                </c:pt>
                <c:pt idx="1">
                  <c:v>seed 1</c:v>
                </c:pt>
                <c:pt idx="2">
                  <c:v>seed 2</c:v>
                </c:pt>
                <c:pt idx="3">
                  <c:v>seed 3</c:v>
                </c:pt>
              </c:strCache>
            </c:strRef>
          </c:cat>
          <c:val>
            <c:numRef>
              <c:f>'Chart Data'!$B$2:$B$5</c:f>
              <c:numCache>
                <c:formatCode>0.0%</c:formatCode>
                <c:ptCount val="4"/>
                <c:pt idx="0">
                  <c:v>0.924401</c:v>
                </c:pt>
                <c:pt idx="1">
                  <c:v>0.930511</c:v>
                </c:pt>
                <c:pt idx="2">
                  <c:v>0.931021</c:v>
                </c:pt>
                <c:pt idx="3">
                  <c:v>0.930721</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38">
                <a:solidFill>
                  <a:srgbClr val="666666"/>
                </a:solidFill>
                <a:latin typeface="Microsoft YaHei"/>
                <a:ea typeface="Microsoft YaHei"/>
                <a:cs typeface="Microsoft YaHei"/>
              </a:defRPr>
            </a:pPr>
          </a:p>
        </c:txPr>
        <c:crossAx val="48672768"/>
      </c:catAx>
      <c:valAx>
        <c:axId val="48672768"/>
        <c:scaling>
          <c:orientation val="minMax"/>
          <c:max val="0.935"/>
          <c:min val="0.92"/>
        </c:scaling>
        <c:delete val="0"/>
        <c:axPos val="l"/>
        <c:majorGridlines>
          <c:spPr>
            <a:ln xmlns:a="http://schemas.openxmlformats.org/drawingml/2006/main" w="9525">
              <a:solidFill>
                <a:srgbClr val="E5E5E5"/>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0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111111"/>
                </a:solidFill>
                <a:latin typeface="Microsoft YaHei"/>
                <a:ea typeface="Microsoft YaHei"/>
                <a:cs typeface="Microsoft YaHei"/>
              </a:rPr>
              <a:t>3,000 条查询：Recall@1</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7A1F86"/>
              </a:solidFill>
            </c:spPr>
          </c:dPt>
          <c:cat>
            <c:strRef>
              <c:f>'Chart Data'!$A$2:$A$3</c:f>
              <c:strCache>
                <c:ptCount val="2"/>
                <c:pt idx="0">
                  <c:v>DreaMS</c:v>
                </c:pt>
                <c:pt idx="1">
                  <c:v>局部重排</c:v>
                </c:pt>
              </c:strCache>
            </c:strRef>
          </c:cat>
          <c:val>
            <c:numRef>
              <c:f>'Chart Data'!$B$2:$B$3</c:f>
              <c:numCache>
                <c:formatCode>0%</c:formatCode>
                <c:ptCount val="2"/>
                <c:pt idx="0">
                  <c:v>0.8793</c:v>
                </c:pt>
                <c:pt idx="1">
                  <c:v>0.8913</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icrosoft YaHei"/>
                <a:ea typeface="Microsoft YaHei"/>
                <a:cs typeface="Microsoft YaHei"/>
              </a:defRPr>
            </a:pPr>
          </a:p>
        </c:txPr>
        <c:crossAx val="48672768"/>
      </c:catAx>
      <c:valAx>
        <c:axId val="48672768"/>
        <c:scaling>
          <c:orientation val="minMax"/>
          <c:max val="0.9"/>
          <c:min val="0.86"/>
        </c:scaling>
        <c:delete val="0"/>
        <c:axPos val="l"/>
        <c:majorGridlines>
          <c:spPr>
            <a:ln xmlns:a="http://schemas.openxmlformats.org/drawingml/2006/main" w="9525">
              <a:solidFill>
                <a:srgbClr val="E5E5E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111"/>
                </a:solidFill>
                <a:latin typeface="Microsoft YaHei"/>
                <a:ea typeface="Microsoft YaHei"/>
                <a:cs typeface="Microsoft YaHei"/>
              </a:rPr>
              <a:t>公式隔离评估：Recall@1</a:t>
            </a:r>
          </a:p>
        </c:rich>
      </c:tx>
      <c:overlay val="0"/>
      <c:txPr>
        <a:bodyPr xmlns:a="http://schemas.openxmlformats.org/drawingml/2006/main" anchorCtr="1"/>
        <a:lstStyle xmlns:a="http://schemas.openxmlformats.org/drawingml/2006/main"/>
        <a:p xmlns:a="http://schemas.openxmlformats.org/drawingml/2006/main">
          <a:pPr>
            <a:defRPr sz="1350"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7A1F86"/>
              </a:solidFill>
            </c:spPr>
          </c:dPt>
          <c:cat>
            <c:strRef>
              <c:f>'Chart Data'!$A$2:$A$3</c:f>
              <c:strCache>
                <c:ptCount val="2"/>
                <c:pt idx="0">
                  <c:v>DreaMS</c:v>
                </c:pt>
                <c:pt idx="1">
                  <c:v>化学先验微调</c:v>
                </c:pt>
              </c:strCache>
            </c:strRef>
          </c:cat>
          <c:val>
            <c:numRef>
              <c:f>'Chart Data'!$B$2:$B$3</c:f>
              <c:numCache>
                <c:formatCode>0%</c:formatCode>
                <c:ptCount val="2"/>
                <c:pt idx="0">
                  <c:v>0.9046</c:v>
                </c:pt>
                <c:pt idx="1">
                  <c:v>0.9171</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icrosoft YaHei"/>
                <a:ea typeface="Microsoft YaHei"/>
                <a:cs typeface="Microsoft YaHei"/>
              </a:defRPr>
            </a:pPr>
          </a:p>
        </c:txPr>
        <c:crossAx val="48672768"/>
      </c:catAx>
      <c:valAx>
        <c:axId val="48672768"/>
        <c:scaling>
          <c:orientation val="minMax"/>
          <c:max val="0.93"/>
          <c:min val="0.88"/>
        </c:scaling>
        <c:delete val="0"/>
        <c:axPos val="l"/>
        <c:majorGridlines>
          <c:spPr>
            <a:ln xmlns:a="http://schemas.openxmlformats.org/drawingml/2006/main" w="9525">
              <a:solidFill>
                <a:srgbClr val="E5E5E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111111"/>
                </a:solidFill>
                <a:latin typeface="Microsoft YaHei"/>
                <a:ea typeface="Microsoft YaHei"/>
                <a:cs typeface="Microsoft YaHei"/>
              </a:rPr>
              <a:t>六个数据来源的 Recall@1 提升</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Microsoft YaHei"/>
              <a:ea typeface="Microsoft YaHei"/>
              <a:cs typeface="Microsoft YaHei"/>
            </a:defRPr>
          </a:pPr>
        </a:p>
      </c:txPr>
    </c:title>
    <c:plotArea>
      <c:barChart>
        <c:barDir val="col"/>
        <c:grouping val="clustered"/>
        <c:varyColors val="0"/>
        <c:ser>
          <c:idx val="0"/>
          <c:order val="0"/>
          <c:tx>
            <c:v>提升（pp）</c:v>
          </c:tx>
          <c:spPr>
            <a:solidFill xmlns:a="http://schemas.openxmlformats.org/drawingml/2006/main">
              <a:srgbClr val="7A1F86"/>
            </a:solidFill>
          </c:spPr>
          <c:cat>
            <c:strRef>
              <c:f>'Chart Data'!$A$2:$A$7</c:f>
              <c:strCache>
                <c:ptCount val="6"/>
                <c:pt idx="0">
                  <c:v>BV2</c:v>
                </c:pt>
                <c:pt idx="1">
                  <c:v>KGMN</c:v>
                </c:pt>
                <c:pt idx="2">
                  <c:v>小鼠脑</c:v>
                </c:pt>
                <c:pt idx="3">
                  <c:v>小鼠肝</c:v>
                </c:pt>
                <c:pt idx="4">
                  <c:v>NIST血浆</c:v>
                </c:pt>
                <c:pt idx="5">
                  <c:v>ST001154</c:v>
                </c:pt>
              </c:strCache>
            </c:strRef>
          </c:cat>
          <c:val>
            <c:numRef>
              <c:f>'Chart Data'!$B$2:$B$7</c:f>
              <c:numCache>
                <c:formatCode>General</c:formatCode>
                <c:ptCount val="6"/>
                <c:pt idx="0">
                  <c:v>5.26</c:v>
                </c:pt>
                <c:pt idx="1">
                  <c:v>3.7</c:v>
                </c:pt>
                <c:pt idx="2">
                  <c:v>6.87</c:v>
                </c:pt>
                <c:pt idx="3">
                  <c:v>5.68</c:v>
                </c:pt>
                <c:pt idx="4">
                  <c:v>5.48</c:v>
                </c:pt>
                <c:pt idx="5">
                  <c:v>8.67</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11111"/>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Microsoft YaHei"/>
                <a:ea typeface="Microsoft YaHei"/>
                <a:cs typeface="Microsoft YaHei"/>
              </a:defRPr>
            </a:pPr>
          </a:p>
        </c:txPr>
        <c:crossAx val="48672768"/>
      </c:catAx>
      <c:valAx>
        <c:axId val="48672768"/>
        <c:scaling>
          <c:orientation val="minMax"/>
          <c:max val="10"/>
          <c:min val="0"/>
        </c:scaling>
        <c:delete val="0"/>
        <c:axPos val="l"/>
        <c:majorGridlines>
          <c:spPr>
            <a:ln xmlns:a="http://schemas.openxmlformats.org/drawingml/2006/main" w="9525">
              <a:solidFill>
                <a:srgbClr val="E5E5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7A1F8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FC258-E7F5-46F1-856E-C40EFD122A78}"/>
              </a:ext>
            </a:extLst>
          </p:cNvPr>
          <p:cNvSpPr>
            <a:spLocks xmlns:a="http://schemas.openxmlformats.org/drawingml/2006/main" noGrp="1"/>
          </p:cNvSpPr>
          <p:nvPr/>
        </p:nvSpPr>
        <p:spPr>
          <a:xfrm xmlns:a="http://schemas.openxmlformats.org/drawingml/2006/main">
            <a:off x="0" y="5334000"/>
            <a:ext cx="12192000" cy="1524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A9E89B-7664-4511-B276-BE933311FC74}"/>
              </a:ext>
            </a:extLst>
          </p:cNvPr>
          <p:cNvSpPr>
            <a:spLocks xmlns:a="http://schemas.openxmlformats.org/drawingml/2006/main" noGrp="1"/>
          </p:cNvSpPr>
          <p:nvPr/>
        </p:nvSpPr>
        <p:spPr>
          <a:xfrm xmlns:a="http://schemas.openxmlformats.org/drawingml/2006/main">
            <a:off x="1143000" y="1790700"/>
            <a:ext cx="9906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i="0">
                <a:solidFill>
                  <a:srgbClr val="FFFFFF"/>
                </a:solidFill>
                <a:latin typeface="Microsoft YaHei"/>
                <a:ea typeface="Microsoft YaHei"/>
                <a:cs typeface="Microsoft YaHei"/>
              </a:defRPr>
            </a:pPr>
            <a:r>
              <a:rPr sz="3300" b="1" i="0">
                <a:solidFill>
                  <a:srgbClr val="FFFFFF"/>
                </a:solidFill>
                <a:latin typeface="Microsoft YaHei"/>
                <a:ea typeface="Microsoft YaHei"/>
                <a:cs typeface="Microsoft YaHei"/>
              </a:rPr>
              <a:t>基于 DreaMS 的 LC–MS/MS</a:t>
            </a:r>
          </a:p>
          <a:p xmlns:a="http://schemas.openxmlformats.org/drawingml/2006/main">
            <a:pPr algn="ctr">
              <a:defRPr sz="3300" b="1" i="0">
                <a:solidFill>
                  <a:srgbClr val="FFFFFF"/>
                </a:solidFill>
                <a:latin typeface="Microsoft YaHei"/>
                <a:ea typeface="Microsoft YaHei"/>
                <a:cs typeface="Microsoft YaHei"/>
              </a:defRPr>
            </a:pPr>
            <a:r>
              <a:rPr sz="3300" b="1" i="0">
                <a:solidFill>
                  <a:srgbClr val="FFFFFF"/>
                </a:solidFill>
                <a:latin typeface="Microsoft YaHei"/>
                <a:ea typeface="Microsoft YaHei"/>
                <a:cs typeface="Microsoft YaHei"/>
              </a:rPr>
              <a:t>代谢物注释方法研究</a:t>
            </a:r>
          </a:p>
        </p:txBody>
      </p:sp>
      <p:sp>
        <p:nvSpPr>
          <p:cNvPr id="3" name="">
            <a:extLst xmlns:a="http://schemas.openxmlformats.org/drawingml/2006/main">
              <a:ext uri="{FF2B5EF4-FFF2-40B4-BE49-F238E27FC236}">
                <a16:creationId xmlns:a16="http://schemas.microsoft.com/office/drawing/2014/main" id="{87BC130A-7581-478F-8346-5B8029602C84}"/>
              </a:ext>
            </a:extLst>
          </p:cNvPr>
          <p:cNvSpPr>
            <a:spLocks xmlns:a="http://schemas.openxmlformats.org/drawingml/2006/main" noGrp="1"/>
          </p:cNvSpPr>
          <p:nvPr/>
        </p:nvSpPr>
        <p:spPr>
          <a:xfrm xmlns:a="http://schemas.openxmlformats.org/drawingml/2006/main">
            <a:off x="1571625" y="3381375"/>
            <a:ext cx="904875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6A8738-DF19-4487-85B3-F4FBA3D722DE}"/>
              </a:ext>
            </a:extLst>
          </p:cNvPr>
          <p:cNvSpPr>
            <a:spLocks xmlns:a="http://schemas.openxmlformats.org/drawingml/2006/main" noGrp="1"/>
          </p:cNvSpPr>
          <p:nvPr/>
        </p:nvSpPr>
        <p:spPr>
          <a:xfrm xmlns:a="http://schemas.openxmlformats.org/drawingml/2006/main">
            <a:off x="4572000" y="36671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0" i="0">
                <a:solidFill>
                  <a:srgbClr val="FFFFFF"/>
                </a:solidFill>
                <a:latin typeface="Microsoft YaHei"/>
                <a:ea typeface="Microsoft YaHei"/>
                <a:cs typeface="Microsoft YaHei"/>
              </a:defRPr>
            </a:pPr>
            <a:r>
              <a:rPr sz="1800" b="0" i="0">
                <a:solidFill>
                  <a:srgbClr val="FFFFFF"/>
                </a:solidFill>
                <a:latin typeface="Microsoft YaHei"/>
                <a:ea typeface="Microsoft YaHei"/>
                <a:cs typeface="Microsoft YaHei"/>
              </a:rPr>
              <a:t>课题组中期汇报</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9fdc2bec144eab"/>
          <a:stretch xmlns:a="http://schemas.openxmlformats.org/drawingml/2006/main"/>
        </p:blipFill>
        <p:spPr>
          <a:xfrm xmlns:a="http://schemas.openxmlformats.org/drawingml/2006/main">
            <a:off x="9620250" y="5676244"/>
            <a:ext cx="2190750" cy="76331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A94BB9-017C-434A-9810-91EC8BBDE44D}"/>
              </a:ext>
            </a:extLst>
          </p:cNvPr>
          <p:cNvSpPr>
            <a:spLocks xmlns:a="http://schemas.openxmlformats.org/drawingml/2006/main" noGrp="1"/>
          </p:cNvSpPr>
          <p:nvPr/>
        </p:nvSpPr>
        <p:spPr>
          <a:xfrm xmlns:a="http://schemas.openxmlformats.org/drawingml/2006/main">
            <a:off x="333375" y="5762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胡泽平课题组</a:t>
            </a:r>
          </a:p>
        </p:txBody>
      </p:sp>
      <p:sp>
        <p:nvSpPr>
          <p:cNvPr id="7" name="">
            <a:extLst xmlns:a="http://schemas.openxmlformats.org/drawingml/2006/main">
              <a:ext uri="{FF2B5EF4-FFF2-40B4-BE49-F238E27FC236}">
                <a16:creationId xmlns:a16="http://schemas.microsoft.com/office/drawing/2014/main" id="{0D7CCC46-090A-4DAD-B0A9-0B62419A6E03}"/>
              </a:ext>
            </a:extLst>
          </p:cNvPr>
          <p:cNvSpPr>
            <a:spLocks xmlns:a="http://schemas.openxmlformats.org/drawingml/2006/main" noGrp="1"/>
          </p:cNvSpPr>
          <p:nvPr/>
        </p:nvSpPr>
        <p:spPr>
          <a:xfrm xmlns:a="http://schemas.openxmlformats.org/drawingml/2006/main">
            <a:off x="333375" y="619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2026.9.11</a:t>
            </a:r>
          </a:p>
        </p:txBody>
      </p:sp>
    </p:spTree>
    <p:extLst>
      <p:ext uri="{BB962C8B-B14F-4D97-AF65-F5344CB8AC3E}">
        <p14:creationId xmlns:p14="http://schemas.microsoft.com/office/powerpoint/2010/main" val="14682707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85FDB12-EBD2-4E54-A81F-6C4EBDDBA3BC}"/>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D937B5-D01D-4C33-96A4-C9F28DBFDB2E}"/>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9BD13D-8045-4D2B-ABA5-A9338CCF7E3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B9EC40-F20C-4918-9C6B-769C6DB7253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5C6733-2998-4F0E-9C09-731215E2A2F6}"/>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汇报内容</a:t>
            </a:r>
          </a:p>
        </p:txBody>
      </p:sp>
      <p:sp>
        <p:nvSpPr>
          <p:cNvPr id="6" name="">
            <a:extLst xmlns:a="http://schemas.openxmlformats.org/drawingml/2006/main">
              <a:ext uri="{FF2B5EF4-FFF2-40B4-BE49-F238E27FC236}">
                <a16:creationId xmlns:a16="http://schemas.microsoft.com/office/drawing/2014/main" id="{32C44307-8CD7-47D3-8259-1D9E4F367B5C}"/>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F0B8E5-4C9C-4EFB-A229-01E51B71716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2E828C-CDBC-4695-BF3B-4562FBB19112}"/>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A84E31-E3E2-45CF-82A9-25CE60406E5B}"/>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目录</a:t>
            </a:r>
          </a:p>
        </p:txBody>
      </p:sp>
      <p:sp>
        <p:nvSpPr>
          <p:cNvPr id="10" name="">
            <a:extLst xmlns:a="http://schemas.openxmlformats.org/drawingml/2006/main">
              <a:ext uri="{FF2B5EF4-FFF2-40B4-BE49-F238E27FC236}">
                <a16:creationId xmlns:a16="http://schemas.microsoft.com/office/drawing/2014/main" id="{4E296B08-CC75-456F-971F-40183DA7570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5F5A0705-DF39-46AA-A675-374B53D0342D}"/>
              </a:ext>
            </a:extLst>
          </p:cNvPr>
          <p:cNvSpPr>
            <a:spLocks xmlns:a="http://schemas.openxmlformats.org/drawingml/2006/main" noGrp="1"/>
          </p:cNvSpPr>
          <p:nvPr/>
        </p:nvSpPr>
        <p:spPr>
          <a:xfrm xmlns:a="http://schemas.openxmlformats.org/drawingml/2006/main">
            <a:off x="904875" y="1047750"/>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01</a:t>
            </a:r>
          </a:p>
        </p:txBody>
      </p:sp>
      <p:sp>
        <p:nvSpPr>
          <p:cNvPr id="12" name="">
            <a:extLst xmlns:a="http://schemas.openxmlformats.org/drawingml/2006/main">
              <a:ext uri="{FF2B5EF4-FFF2-40B4-BE49-F238E27FC236}">
                <a16:creationId xmlns:a16="http://schemas.microsoft.com/office/drawing/2014/main" id="{62AF5DDF-950E-4ED3-8DA7-4B5F92710C7D}"/>
              </a:ext>
            </a:extLst>
          </p:cNvPr>
          <p:cNvSpPr>
            <a:spLocks xmlns:a="http://schemas.openxmlformats.org/drawingml/2006/main" noGrp="1"/>
          </p:cNvSpPr>
          <p:nvPr/>
        </p:nvSpPr>
        <p:spPr>
          <a:xfrm xmlns:a="http://schemas.openxmlformats.org/drawingml/2006/main">
            <a:off x="2047875" y="1285875"/>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57654F-559E-4130-932C-53EDC6DBD8C5}"/>
              </a:ext>
            </a:extLst>
          </p:cNvPr>
          <p:cNvSpPr>
            <a:spLocks xmlns:a="http://schemas.openxmlformats.org/drawingml/2006/main" noGrp="1"/>
          </p:cNvSpPr>
          <p:nvPr/>
        </p:nvSpPr>
        <p:spPr>
          <a:xfrm xmlns:a="http://schemas.openxmlformats.org/drawingml/2006/main">
            <a:off x="2857500" y="1047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研究背景</a:t>
            </a:r>
          </a:p>
        </p:txBody>
      </p:sp>
      <p:sp>
        <p:nvSpPr>
          <p:cNvPr id="14" name="">
            <a:extLst xmlns:a="http://schemas.openxmlformats.org/drawingml/2006/main">
              <a:ext uri="{FF2B5EF4-FFF2-40B4-BE49-F238E27FC236}">
                <a16:creationId xmlns:a16="http://schemas.microsoft.com/office/drawing/2014/main" id="{2C9DE371-98F8-4F47-9A8B-6076B149DCCE}"/>
              </a:ext>
            </a:extLst>
          </p:cNvPr>
          <p:cNvSpPr>
            <a:spLocks xmlns:a="http://schemas.openxmlformats.org/drawingml/2006/main" noGrp="1"/>
          </p:cNvSpPr>
          <p:nvPr/>
        </p:nvSpPr>
        <p:spPr>
          <a:xfrm xmlns:a="http://schemas.openxmlformats.org/drawingml/2006/main">
            <a:off x="2857500" y="147637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非靶向代谢组学、LC–MS/MS、代谢物注释</a:t>
            </a:r>
          </a:p>
        </p:txBody>
      </p:sp>
      <p:sp>
        <p:nvSpPr>
          <p:cNvPr id="15" name="">
            <a:extLst xmlns:a="http://schemas.openxmlformats.org/drawingml/2006/main">
              <a:ext uri="{FF2B5EF4-FFF2-40B4-BE49-F238E27FC236}">
                <a16:creationId xmlns:a16="http://schemas.microsoft.com/office/drawing/2014/main" id="{4033D31E-42FB-48C8-8EBD-278050689322}"/>
              </a:ext>
            </a:extLst>
          </p:cNvPr>
          <p:cNvSpPr>
            <a:spLocks xmlns:a="http://schemas.openxmlformats.org/drawingml/2006/main" noGrp="1"/>
          </p:cNvSpPr>
          <p:nvPr/>
        </p:nvSpPr>
        <p:spPr>
          <a:xfrm xmlns:a="http://schemas.openxmlformats.org/drawingml/2006/main">
            <a:off x="904875" y="2238375"/>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02</a:t>
            </a:r>
          </a:p>
        </p:txBody>
      </p:sp>
      <p:sp>
        <p:nvSpPr>
          <p:cNvPr id="16" name="">
            <a:extLst xmlns:a="http://schemas.openxmlformats.org/drawingml/2006/main">
              <a:ext uri="{FF2B5EF4-FFF2-40B4-BE49-F238E27FC236}">
                <a16:creationId xmlns:a16="http://schemas.microsoft.com/office/drawing/2014/main" id="{0799F8D2-ECE6-4100-B60F-F5D973428EBE}"/>
              </a:ext>
            </a:extLst>
          </p:cNvPr>
          <p:cNvSpPr>
            <a:spLocks xmlns:a="http://schemas.openxmlformats.org/drawingml/2006/main" noGrp="1"/>
          </p:cNvSpPr>
          <p:nvPr/>
        </p:nvSpPr>
        <p:spPr>
          <a:xfrm xmlns:a="http://schemas.openxmlformats.org/drawingml/2006/main">
            <a:off x="2047875" y="2476500"/>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2BBC321-EDBB-4116-8046-69DFB9585A3F}"/>
              </a:ext>
            </a:extLst>
          </p:cNvPr>
          <p:cNvSpPr>
            <a:spLocks xmlns:a="http://schemas.openxmlformats.org/drawingml/2006/main" noGrp="1"/>
          </p:cNvSpPr>
          <p:nvPr/>
        </p:nvSpPr>
        <p:spPr>
          <a:xfrm xmlns:a="http://schemas.openxmlformats.org/drawingml/2006/main">
            <a:off x="2857500" y="223837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DreaMS 方法与错误分析</a:t>
            </a:r>
          </a:p>
        </p:txBody>
      </p:sp>
      <p:sp>
        <p:nvSpPr>
          <p:cNvPr id="18" name="">
            <a:extLst xmlns:a="http://schemas.openxmlformats.org/drawingml/2006/main">
              <a:ext uri="{FF2B5EF4-FFF2-40B4-BE49-F238E27FC236}">
                <a16:creationId xmlns:a16="http://schemas.microsoft.com/office/drawing/2014/main" id="{CE47BD02-679E-4F2D-943D-4802167F658E}"/>
              </a:ext>
            </a:extLst>
          </p:cNvPr>
          <p:cNvSpPr>
            <a:spLocks xmlns:a="http://schemas.openxmlformats.org/drawingml/2006/main" noGrp="1"/>
          </p:cNvSpPr>
          <p:nvPr/>
        </p:nvSpPr>
        <p:spPr>
          <a:xfrm xmlns:a="http://schemas.openxmlformats.org/drawingml/2006/main">
            <a:off x="2857500" y="2667000"/>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模型训练、候选检索、仍存在哪些错误</a:t>
            </a:r>
          </a:p>
        </p:txBody>
      </p:sp>
      <p:sp>
        <p:nvSpPr>
          <p:cNvPr id="19" name="">
            <a:extLst xmlns:a="http://schemas.openxmlformats.org/drawingml/2006/main">
              <a:ext uri="{FF2B5EF4-FFF2-40B4-BE49-F238E27FC236}">
                <a16:creationId xmlns:a16="http://schemas.microsoft.com/office/drawing/2014/main" id="{97820185-13D4-4D6F-8BD2-6D8E4DEC8B6A}"/>
              </a:ext>
            </a:extLst>
          </p:cNvPr>
          <p:cNvSpPr>
            <a:spLocks xmlns:a="http://schemas.openxmlformats.org/drawingml/2006/main" noGrp="1"/>
          </p:cNvSpPr>
          <p:nvPr/>
        </p:nvSpPr>
        <p:spPr>
          <a:xfrm xmlns:a="http://schemas.openxmlformats.org/drawingml/2006/main">
            <a:off x="904875" y="3429000"/>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03</a:t>
            </a:r>
          </a:p>
        </p:txBody>
      </p:sp>
      <p:sp>
        <p:nvSpPr>
          <p:cNvPr id="20" name="">
            <a:extLst xmlns:a="http://schemas.openxmlformats.org/drawingml/2006/main">
              <a:ext uri="{FF2B5EF4-FFF2-40B4-BE49-F238E27FC236}">
                <a16:creationId xmlns:a16="http://schemas.microsoft.com/office/drawing/2014/main" id="{FDAAB11F-D9D8-4245-8B58-B1AEA4B05BE9}"/>
              </a:ext>
            </a:extLst>
          </p:cNvPr>
          <p:cNvSpPr>
            <a:spLocks xmlns:a="http://schemas.openxmlformats.org/drawingml/2006/main" noGrp="1"/>
          </p:cNvSpPr>
          <p:nvPr/>
        </p:nvSpPr>
        <p:spPr>
          <a:xfrm xmlns:a="http://schemas.openxmlformats.org/drawingml/2006/main">
            <a:off x="2047875" y="3667125"/>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A65ED50-68E0-4DF4-BBCF-618AE317F522}"/>
              </a:ext>
            </a:extLst>
          </p:cNvPr>
          <p:cNvSpPr>
            <a:spLocks xmlns:a="http://schemas.openxmlformats.org/drawingml/2006/main" noGrp="1"/>
          </p:cNvSpPr>
          <p:nvPr/>
        </p:nvSpPr>
        <p:spPr>
          <a:xfrm xmlns:a="http://schemas.openxmlformats.org/drawingml/2006/main">
            <a:off x="2857500" y="34290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算法设计与实验结果</a:t>
            </a:r>
          </a:p>
        </p:txBody>
      </p:sp>
      <p:sp>
        <p:nvSpPr>
          <p:cNvPr id="22" name="">
            <a:extLst xmlns:a="http://schemas.openxmlformats.org/drawingml/2006/main">
              <a:ext uri="{FF2B5EF4-FFF2-40B4-BE49-F238E27FC236}">
                <a16:creationId xmlns:a16="http://schemas.microsoft.com/office/drawing/2014/main" id="{E78946D8-E699-4A2D-AEA7-89E62DFF6880}"/>
              </a:ext>
            </a:extLst>
          </p:cNvPr>
          <p:cNvSpPr>
            <a:spLocks xmlns:a="http://schemas.openxmlformats.org/drawingml/2006/main" noGrp="1"/>
          </p:cNvSpPr>
          <p:nvPr/>
        </p:nvSpPr>
        <p:spPr>
          <a:xfrm xmlns:a="http://schemas.openxmlformats.org/drawingml/2006/main">
            <a:off x="2857500" y="385762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共享编码器微调、候选重排、性能评价</a:t>
            </a:r>
          </a:p>
        </p:txBody>
      </p:sp>
      <p:sp>
        <p:nvSpPr>
          <p:cNvPr id="23" name="">
            <a:extLst xmlns:a="http://schemas.openxmlformats.org/drawingml/2006/main">
              <a:ext uri="{FF2B5EF4-FFF2-40B4-BE49-F238E27FC236}">
                <a16:creationId xmlns:a16="http://schemas.microsoft.com/office/drawing/2014/main" id="{20762086-316F-46AE-998C-FAF7CE1464E0}"/>
              </a:ext>
            </a:extLst>
          </p:cNvPr>
          <p:cNvSpPr>
            <a:spLocks xmlns:a="http://schemas.openxmlformats.org/drawingml/2006/main" noGrp="1"/>
          </p:cNvSpPr>
          <p:nvPr/>
        </p:nvSpPr>
        <p:spPr>
          <a:xfrm xmlns:a="http://schemas.openxmlformats.org/drawingml/2006/main">
            <a:off x="904875" y="4619625"/>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04</a:t>
            </a:r>
          </a:p>
        </p:txBody>
      </p:sp>
      <p:sp>
        <p:nvSpPr>
          <p:cNvPr id="24" name="">
            <a:extLst xmlns:a="http://schemas.openxmlformats.org/drawingml/2006/main">
              <a:ext uri="{FF2B5EF4-FFF2-40B4-BE49-F238E27FC236}">
                <a16:creationId xmlns:a16="http://schemas.microsoft.com/office/drawing/2014/main" id="{849428E9-F4C4-4D77-9AE1-B5E8ADD15BED}"/>
              </a:ext>
            </a:extLst>
          </p:cNvPr>
          <p:cNvSpPr>
            <a:spLocks xmlns:a="http://schemas.openxmlformats.org/drawingml/2006/main" noGrp="1"/>
          </p:cNvSpPr>
          <p:nvPr/>
        </p:nvSpPr>
        <p:spPr>
          <a:xfrm xmlns:a="http://schemas.openxmlformats.org/drawingml/2006/main">
            <a:off x="2047875" y="4857750"/>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ED025E-2062-4D09-B081-0630730CCC99}"/>
              </a:ext>
            </a:extLst>
          </p:cNvPr>
          <p:cNvSpPr>
            <a:spLocks xmlns:a="http://schemas.openxmlformats.org/drawingml/2006/main" noGrp="1"/>
          </p:cNvSpPr>
          <p:nvPr/>
        </p:nvSpPr>
        <p:spPr>
          <a:xfrm xmlns:a="http://schemas.openxmlformats.org/drawingml/2006/main">
            <a:off x="2857500" y="46196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工具平台与应用方式</a:t>
            </a:r>
          </a:p>
        </p:txBody>
      </p:sp>
      <p:sp>
        <p:nvSpPr>
          <p:cNvPr id="26" name="">
            <a:extLst xmlns:a="http://schemas.openxmlformats.org/drawingml/2006/main">
              <a:ext uri="{FF2B5EF4-FFF2-40B4-BE49-F238E27FC236}">
                <a16:creationId xmlns:a16="http://schemas.microsoft.com/office/drawing/2014/main" id="{D549FCBE-A6FB-4C17-8E6D-1826060013C4}"/>
              </a:ext>
            </a:extLst>
          </p:cNvPr>
          <p:cNvSpPr>
            <a:spLocks xmlns:a="http://schemas.openxmlformats.org/drawingml/2006/main" noGrp="1"/>
          </p:cNvSpPr>
          <p:nvPr/>
        </p:nvSpPr>
        <p:spPr>
          <a:xfrm xmlns:a="http://schemas.openxmlformats.org/drawingml/2006/main">
            <a:off x="2857500" y="5048250"/>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网页工作台、真实数据分析、后续验证</a:t>
            </a:r>
          </a:p>
        </p:txBody>
      </p:sp>
    </p:spTree>
    <p:extLst>
      <p:ext uri="{BB962C8B-B14F-4D97-AF65-F5344CB8AC3E}">
        <p14:creationId xmlns:p14="http://schemas.microsoft.com/office/powerpoint/2010/main" val="453977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5AA4658-6A2C-4FA8-94C1-F8CD6910424A}"/>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78A322-5256-4CBF-84F2-B596CF5BBC6B}"/>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7AA284-445F-4848-8B76-F935BA81B8F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F42C1C-365F-445E-A2A8-1B89545E6664}"/>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26F6F4-9DDE-441E-B263-54AE8FA97EFC}"/>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非靶向代谢组学：全面测量样本中代谢物的种类与相对丰度</a:t>
            </a:r>
          </a:p>
        </p:txBody>
      </p:sp>
      <p:sp>
        <p:nvSpPr>
          <p:cNvPr id="6" name="">
            <a:extLst xmlns:a="http://schemas.openxmlformats.org/drawingml/2006/main">
              <a:ext uri="{FF2B5EF4-FFF2-40B4-BE49-F238E27FC236}">
                <a16:creationId xmlns:a16="http://schemas.microsoft.com/office/drawing/2014/main" id="{88C2F9CD-5412-44DB-B49E-531E45B05E6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48214D-7858-4513-A138-244272A5ED47}"/>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3AD453-13C7-4667-92AF-6793A8A08221}"/>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143EFD-D210-4C36-9465-E2A816CADB3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44777D53-AAE1-44B2-99E9-153979A91C50}"/>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9EFD2561-8109-487D-84B5-144D1174BF85}"/>
              </a:ext>
            </a:extLst>
          </p:cNvPr>
          <p:cNvSpPr>
            <a:spLocks xmlns:a="http://schemas.openxmlformats.org/drawingml/2006/main" noGrp="1"/>
          </p:cNvSpPr>
          <p:nvPr/>
        </p:nvSpPr>
        <p:spPr>
          <a:xfrm xmlns:a="http://schemas.openxmlformats.org/drawingml/2006/main">
            <a:off x="523875" y="876300"/>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非靶向代谢组学要测什么？</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6ea559b0c774369"/>
          <a:srcRect xmlns:a="http://schemas.openxmlformats.org/drawingml/2006/main" l="0" t="38" r="0" b="38"/>
          <a:stretch xmlns:a="http://schemas.openxmlformats.org/drawingml/2006/main">
            <a:fillRect l="0" t="0" r="0" b="0"/>
          </a:stretch>
        </p:blipFill>
        <p:spPr>
          <a:xfrm xmlns:a="http://schemas.openxmlformats.org/drawingml/2006/main">
            <a:off x="619125" y="1314450"/>
            <a:ext cx="3190875" cy="24003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51FC193-FAA3-4974-9339-A4FF2A11567A}"/>
              </a:ext>
            </a:extLst>
          </p:cNvPr>
          <p:cNvSpPr>
            <a:spLocks xmlns:a="http://schemas.openxmlformats.org/drawingml/2006/main" noGrp="1"/>
          </p:cNvSpPr>
          <p:nvPr/>
        </p:nvSpPr>
        <p:spPr>
          <a:xfrm xmlns:a="http://schemas.openxmlformats.org/drawingml/2006/main">
            <a:off x="666750" y="3857625"/>
            <a:ext cx="3095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defRPr sz="1200" b="1" i="0">
                <a:solidFill>
                  <a:srgbClr val="7A1F86"/>
                </a:solidFill>
                <a:latin typeface="Microsoft YaHei"/>
                <a:ea typeface="Microsoft YaHei"/>
                <a:cs typeface="Microsoft YaHei"/>
              </a:defRPr>
            </a:pPr>
            <a:r>
              <a:rPr sz="1200" b="1" i="0">
                <a:solidFill>
                  <a:srgbClr val="7A1F86"/>
                </a:solidFill>
                <a:latin typeface="Microsoft YaHei"/>
                <a:ea typeface="Microsoft YaHei"/>
                <a:cs typeface="Microsoft YaHei"/>
              </a:rPr>
              <a:t>尽可能“撒网”覆盖样本中的小分子</a:t>
            </a:r>
          </a:p>
        </p:txBody>
      </p:sp>
      <p:sp>
        <p:nvSpPr>
          <p:cNvPr id="14" name="">
            <a:extLst xmlns:a="http://schemas.openxmlformats.org/drawingml/2006/main">
              <a:ext uri="{FF2B5EF4-FFF2-40B4-BE49-F238E27FC236}">
                <a16:creationId xmlns:a16="http://schemas.microsoft.com/office/drawing/2014/main" id="{A71B2059-22C8-4778-ADD7-F2A8D996FE20}"/>
              </a:ext>
            </a:extLst>
          </p:cNvPr>
          <p:cNvSpPr>
            <a:spLocks xmlns:a="http://schemas.openxmlformats.org/drawingml/2006/main" noGrp="1"/>
          </p:cNvSpPr>
          <p:nvPr/>
        </p:nvSpPr>
        <p:spPr>
          <a:xfrm xmlns:a="http://schemas.openxmlformats.org/drawingml/2006/main">
            <a:off x="619125" y="42291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B5C4E2D0-BAFE-429B-A117-2C36937833E1}"/>
              </a:ext>
            </a:extLst>
          </p:cNvPr>
          <p:cNvSpPr>
            <a:spLocks xmlns:a="http://schemas.openxmlformats.org/drawingml/2006/main" noGrp="1"/>
          </p:cNvSpPr>
          <p:nvPr/>
        </p:nvSpPr>
        <p:spPr>
          <a:xfrm xmlns:a="http://schemas.openxmlformats.org/drawingml/2006/main">
            <a:off x="819150" y="4229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覆盖尽可能多的已知和未知小分子信号</a:t>
            </a:r>
          </a:p>
        </p:txBody>
      </p:sp>
      <p:sp>
        <p:nvSpPr>
          <p:cNvPr id="16" name="">
            <a:extLst xmlns:a="http://schemas.openxmlformats.org/drawingml/2006/main">
              <a:ext uri="{FF2B5EF4-FFF2-40B4-BE49-F238E27FC236}">
                <a16:creationId xmlns:a16="http://schemas.microsoft.com/office/drawing/2014/main" id="{26E0C658-58A4-4EA3-AA6C-67D699E416F7}"/>
              </a:ext>
            </a:extLst>
          </p:cNvPr>
          <p:cNvSpPr>
            <a:spLocks xmlns:a="http://schemas.openxmlformats.org/drawingml/2006/main" noGrp="1"/>
          </p:cNvSpPr>
          <p:nvPr/>
        </p:nvSpPr>
        <p:spPr>
          <a:xfrm xmlns:a="http://schemas.openxmlformats.org/drawingml/2006/main">
            <a:off x="619125" y="46291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7" name="">
            <a:extLst xmlns:a="http://schemas.openxmlformats.org/drawingml/2006/main">
              <a:ext uri="{FF2B5EF4-FFF2-40B4-BE49-F238E27FC236}">
                <a16:creationId xmlns:a16="http://schemas.microsoft.com/office/drawing/2014/main" id="{656F73EA-322A-4BFD-9071-332FDC668759}"/>
              </a:ext>
            </a:extLst>
          </p:cNvPr>
          <p:cNvSpPr>
            <a:spLocks xmlns:a="http://schemas.openxmlformats.org/drawingml/2006/main" noGrp="1"/>
          </p:cNvSpPr>
          <p:nvPr/>
        </p:nvSpPr>
        <p:spPr>
          <a:xfrm xmlns:a="http://schemas.openxmlformats.org/drawingml/2006/main">
            <a:off x="819150" y="46291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283"/>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记录信号的相对丰度；代谢物身份仍需后续注释</a:t>
            </a:r>
          </a:p>
        </p:txBody>
      </p:sp>
      <p:sp>
        <p:nvSpPr>
          <p:cNvPr id="18" name="">
            <a:extLst xmlns:a="http://schemas.openxmlformats.org/drawingml/2006/main">
              <a:ext uri="{FF2B5EF4-FFF2-40B4-BE49-F238E27FC236}">
                <a16:creationId xmlns:a16="http://schemas.microsoft.com/office/drawing/2014/main" id="{5C024A80-E6BD-4D6C-A1BB-EAC8927156E6}"/>
              </a:ext>
            </a:extLst>
          </p:cNvPr>
          <p:cNvSpPr>
            <a:spLocks xmlns:a="http://schemas.openxmlformats.org/drawingml/2006/main" noGrp="1"/>
          </p:cNvSpPr>
          <p:nvPr/>
        </p:nvSpPr>
        <p:spPr>
          <a:xfrm xmlns:a="http://schemas.openxmlformats.org/drawingml/2006/main">
            <a:off x="619125" y="50292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9" name="">
            <a:extLst xmlns:a="http://schemas.openxmlformats.org/drawingml/2006/main">
              <a:ext uri="{FF2B5EF4-FFF2-40B4-BE49-F238E27FC236}">
                <a16:creationId xmlns:a16="http://schemas.microsoft.com/office/drawing/2014/main" id="{E7379BCD-B212-489F-8F8E-E74434144E3B}"/>
              </a:ext>
            </a:extLst>
          </p:cNvPr>
          <p:cNvSpPr>
            <a:spLocks xmlns:a="http://schemas.openxmlformats.org/drawingml/2006/main" noGrp="1"/>
          </p:cNvSpPr>
          <p:nvPr/>
        </p:nvSpPr>
        <p:spPr>
          <a:xfrm xmlns:a="http://schemas.openxmlformats.org/drawingml/2006/main">
            <a:off x="819150" y="50292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31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输出大量代谢特征（feature），而不是名称表</a:t>
            </a:r>
          </a:p>
        </p:txBody>
      </p:sp>
      <p:sp>
        <p:nvSpPr>
          <p:cNvPr id="20" name="">
            <a:extLst xmlns:a="http://schemas.openxmlformats.org/drawingml/2006/main">
              <a:ext uri="{FF2B5EF4-FFF2-40B4-BE49-F238E27FC236}">
                <a16:creationId xmlns:a16="http://schemas.microsoft.com/office/drawing/2014/main" id="{A317F625-5A5C-4E14-92C8-27BC40F0E5F6}"/>
              </a:ext>
            </a:extLst>
          </p:cNvPr>
          <p:cNvSpPr>
            <a:spLocks xmlns:a="http://schemas.openxmlformats.org/drawingml/2006/main" noGrp="1"/>
          </p:cNvSpPr>
          <p:nvPr/>
        </p:nvSpPr>
        <p:spPr>
          <a:xfrm xmlns:a="http://schemas.openxmlformats.org/drawingml/2006/main">
            <a:off x="4476750" y="876300"/>
            <a:ext cx="700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LC–MS/MS 如何完成测量？</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b3af3ff38344529"/>
          <a:stretch xmlns:a="http://schemas.openxmlformats.org/drawingml/2006/main"/>
        </p:blipFill>
        <p:spPr>
          <a:xfrm xmlns:a="http://schemas.openxmlformats.org/drawingml/2006/main">
            <a:off x="4429125" y="1289906"/>
            <a:ext cx="3857625" cy="313518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F80F4775-5725-48E8-BC46-3C9159335AD4}"/>
              </a:ext>
            </a:extLst>
          </p:cNvPr>
          <p:cNvSpPr>
            <a:spLocks xmlns:a="http://schemas.openxmlformats.org/drawingml/2006/main" noGrp="1"/>
          </p:cNvSpPr>
          <p:nvPr/>
        </p:nvSpPr>
        <p:spPr>
          <a:xfrm xmlns:a="http://schemas.openxmlformats.org/drawingml/2006/main">
            <a:off x="8524875" y="14287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LC</a:t>
            </a:r>
          </a:p>
        </p:txBody>
      </p:sp>
      <p:sp>
        <p:nvSpPr>
          <p:cNvPr id="23" name="">
            <a:extLst xmlns:a="http://schemas.openxmlformats.org/drawingml/2006/main">
              <a:ext uri="{FF2B5EF4-FFF2-40B4-BE49-F238E27FC236}">
                <a16:creationId xmlns:a16="http://schemas.microsoft.com/office/drawing/2014/main" id="{C856B3D5-2F3A-49FC-8074-5FB418D7C688}"/>
              </a:ext>
            </a:extLst>
          </p:cNvPr>
          <p:cNvSpPr>
            <a:spLocks xmlns:a="http://schemas.openxmlformats.org/drawingml/2006/main" noGrp="1"/>
          </p:cNvSpPr>
          <p:nvPr/>
        </p:nvSpPr>
        <p:spPr>
          <a:xfrm xmlns:a="http://schemas.openxmlformats.org/drawingml/2006/main">
            <a:off x="9429750" y="14097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按保留时间分离复杂样本中的化合物，减少同时进入质谱的成分。</a:t>
            </a:r>
          </a:p>
        </p:txBody>
      </p:sp>
      <p:sp>
        <p:nvSpPr>
          <p:cNvPr id="24" name="">
            <a:extLst xmlns:a="http://schemas.openxmlformats.org/drawingml/2006/main">
              <a:ext uri="{FF2B5EF4-FFF2-40B4-BE49-F238E27FC236}">
                <a16:creationId xmlns:a16="http://schemas.microsoft.com/office/drawing/2014/main" id="{A0E8F346-0FED-4DE5-8935-0C3B04F55151}"/>
              </a:ext>
            </a:extLst>
          </p:cNvPr>
          <p:cNvSpPr>
            <a:spLocks xmlns:a="http://schemas.openxmlformats.org/drawingml/2006/main" noGrp="1"/>
          </p:cNvSpPr>
          <p:nvPr/>
        </p:nvSpPr>
        <p:spPr>
          <a:xfrm xmlns:a="http://schemas.openxmlformats.org/drawingml/2006/main">
            <a:off x="8572500" y="2295525"/>
            <a:ext cx="2952750"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48C62D9-EEB2-44B1-824F-826D694AE1C7}"/>
              </a:ext>
            </a:extLst>
          </p:cNvPr>
          <p:cNvSpPr>
            <a:spLocks xmlns:a="http://schemas.openxmlformats.org/drawingml/2006/main" noGrp="1"/>
          </p:cNvSpPr>
          <p:nvPr/>
        </p:nvSpPr>
        <p:spPr>
          <a:xfrm xmlns:a="http://schemas.openxmlformats.org/drawingml/2006/main">
            <a:off x="8524875" y="26003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MS1</a:t>
            </a:r>
          </a:p>
        </p:txBody>
      </p:sp>
      <p:sp>
        <p:nvSpPr>
          <p:cNvPr id="26" name="">
            <a:extLst xmlns:a="http://schemas.openxmlformats.org/drawingml/2006/main">
              <a:ext uri="{FF2B5EF4-FFF2-40B4-BE49-F238E27FC236}">
                <a16:creationId xmlns:a16="http://schemas.microsoft.com/office/drawing/2014/main" id="{1F2AB118-3A84-4B94-BF4A-775FED4F7906}"/>
              </a:ext>
            </a:extLst>
          </p:cNvPr>
          <p:cNvSpPr>
            <a:spLocks xmlns:a="http://schemas.openxmlformats.org/drawingml/2006/main" noGrp="1"/>
          </p:cNvSpPr>
          <p:nvPr/>
        </p:nvSpPr>
        <p:spPr>
          <a:xfrm xmlns:a="http://schemas.openxmlformats.org/drawingml/2006/main">
            <a:off x="9429750" y="2581275"/>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274"/>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记录前体离子的 m/z、保留时间和峰面积；由此形成代谢特征（feature）与样本间丰度矩阵。</a:t>
            </a:r>
          </a:p>
        </p:txBody>
      </p:sp>
      <p:sp>
        <p:nvSpPr>
          <p:cNvPr id="27" name="">
            <a:extLst xmlns:a="http://schemas.openxmlformats.org/drawingml/2006/main">
              <a:ext uri="{FF2B5EF4-FFF2-40B4-BE49-F238E27FC236}">
                <a16:creationId xmlns:a16="http://schemas.microsoft.com/office/drawing/2014/main" id="{548B66A3-64ED-49FF-8C1A-EF9EC8A2A46B}"/>
              </a:ext>
            </a:extLst>
          </p:cNvPr>
          <p:cNvSpPr>
            <a:spLocks xmlns:a="http://schemas.openxmlformats.org/drawingml/2006/main" noGrp="1"/>
          </p:cNvSpPr>
          <p:nvPr/>
        </p:nvSpPr>
        <p:spPr>
          <a:xfrm xmlns:a="http://schemas.openxmlformats.org/drawingml/2006/main">
            <a:off x="8572500" y="3467100"/>
            <a:ext cx="2952750"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41255E4-5178-4755-98C9-81AA5CF0F359}"/>
              </a:ext>
            </a:extLst>
          </p:cNvPr>
          <p:cNvSpPr>
            <a:spLocks xmlns:a="http://schemas.openxmlformats.org/drawingml/2006/main" noGrp="1"/>
          </p:cNvSpPr>
          <p:nvPr/>
        </p:nvSpPr>
        <p:spPr>
          <a:xfrm xmlns:a="http://schemas.openxmlformats.org/drawingml/2006/main">
            <a:off x="8524875" y="37719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502"/>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MS/MS</a:t>
            </a:r>
          </a:p>
        </p:txBody>
      </p:sp>
      <p:sp>
        <p:nvSpPr>
          <p:cNvPr id="29" name="">
            <a:extLst xmlns:a="http://schemas.openxmlformats.org/drawingml/2006/main">
              <a:ext uri="{FF2B5EF4-FFF2-40B4-BE49-F238E27FC236}">
                <a16:creationId xmlns:a16="http://schemas.microsoft.com/office/drawing/2014/main" id="{9146B63F-210A-4DA3-8C6B-E5725CE9549E}"/>
              </a:ext>
            </a:extLst>
          </p:cNvPr>
          <p:cNvSpPr>
            <a:spLocks xmlns:a="http://schemas.openxmlformats.org/drawingml/2006/main" noGrp="1"/>
          </p:cNvSpPr>
          <p:nvPr/>
        </p:nvSpPr>
        <p:spPr>
          <a:xfrm xmlns:a="http://schemas.openxmlformats.org/drawingml/2006/main">
            <a:off x="9429750" y="375285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5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选择一个前体离子进行碰撞碎裂；碎片 m/z 与强度为结构推断提供证据。</a:t>
            </a:r>
          </a:p>
        </p:txBody>
      </p:sp>
      <p:sp>
        <p:nvSpPr>
          <p:cNvPr id="30" name="">
            <a:extLst xmlns:a="http://schemas.openxmlformats.org/drawingml/2006/main">
              <a:ext uri="{FF2B5EF4-FFF2-40B4-BE49-F238E27FC236}">
                <a16:creationId xmlns:a16="http://schemas.microsoft.com/office/drawing/2014/main" id="{9D232221-6BF7-4EB7-A7BB-F6AFE00EB269}"/>
              </a:ext>
            </a:extLst>
          </p:cNvPr>
          <p:cNvSpPr>
            <a:spLocks xmlns:a="http://schemas.openxmlformats.org/drawingml/2006/main" noGrp="1"/>
          </p:cNvSpPr>
          <p:nvPr/>
        </p:nvSpPr>
        <p:spPr>
          <a:xfrm xmlns:a="http://schemas.openxmlformats.org/drawingml/2006/main">
            <a:off x="1285875" y="5572125"/>
            <a:ext cx="9620250" cy="5524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1" name="">
            <a:extLst xmlns:a="http://schemas.openxmlformats.org/drawingml/2006/main">
              <a:ext uri="{FF2B5EF4-FFF2-40B4-BE49-F238E27FC236}">
                <a16:creationId xmlns:a16="http://schemas.microsoft.com/office/drawing/2014/main" id="{3A809954-A5AE-4493-B9AA-AF23BDABA379}"/>
              </a:ext>
            </a:extLst>
          </p:cNvPr>
          <p:cNvSpPr>
            <a:spLocks xmlns:a="http://schemas.openxmlformats.org/drawingml/2006/main" noGrp="1"/>
          </p:cNvSpPr>
          <p:nvPr/>
        </p:nvSpPr>
        <p:spPr>
          <a:xfrm xmlns:a="http://schemas.openxmlformats.org/drawingml/2006/main">
            <a:off x="1571625" y="56959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045"/>
          </a:bodyPr>
          <a:lstStyle xmlns:a="http://schemas.openxmlformats.org/drawingml/2006/main"/>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本课题的核心工作：利用 MS/MS，为 LC–MS 代谢特征（feature）注释可能的化学结构。</a:t>
            </a:r>
          </a:p>
        </p:txBody>
      </p:sp>
    </p:spTree>
    <p:extLst>
      <p:ext uri="{BB962C8B-B14F-4D97-AF65-F5344CB8AC3E}">
        <p14:creationId xmlns:p14="http://schemas.microsoft.com/office/powerpoint/2010/main" val="19466666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930005D-6673-44ED-9EE5-91BFBAF6088F}"/>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3578C5-7467-4BEA-B95F-812049BCF3F1}"/>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5CBFC2-80DF-4570-B093-DAE59A82E5E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324672-3538-4623-BECC-AAAAA841442F}"/>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B4C60-3B00-4F27-8757-F8207A1FEF7D}"/>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从生物样本到生物学解释：代谢物注释是关键瓶颈</a:t>
            </a:r>
          </a:p>
        </p:txBody>
      </p:sp>
      <p:sp>
        <p:nvSpPr>
          <p:cNvPr id="6" name="">
            <a:extLst xmlns:a="http://schemas.openxmlformats.org/drawingml/2006/main">
              <a:ext uri="{FF2B5EF4-FFF2-40B4-BE49-F238E27FC236}">
                <a16:creationId xmlns:a16="http://schemas.microsoft.com/office/drawing/2014/main" id="{58974483-F830-41FE-BC4F-830CC1DD274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D1093E-BB00-4D5C-BC56-F32A194793A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87F1C4C-7D50-4FD5-9CEB-45A60FCACE38}"/>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9C6E0DB-74DE-4414-B53C-2BACA5BF4AF7}"/>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36FBD485-3CB4-4EF7-A848-E3B170C40049}"/>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95AEDE99-C482-4721-B035-5512FE23DD58}"/>
              </a:ext>
            </a:extLst>
          </p:cNvPr>
          <p:cNvSpPr>
            <a:spLocks xmlns:a="http://schemas.openxmlformats.org/drawingml/2006/main" noGrp="1"/>
          </p:cNvSpPr>
          <p:nvPr/>
        </p:nvSpPr>
        <p:spPr>
          <a:xfrm xmlns:a="http://schemas.openxmlformats.org/drawingml/2006/main">
            <a:off x="333375"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F5250CC0-8B1F-46EB-976B-295C3203756F}"/>
              </a:ext>
            </a:extLst>
          </p:cNvPr>
          <p:cNvSpPr>
            <a:spLocks xmlns:a="http://schemas.openxmlformats.org/drawingml/2006/main" noGrp="1"/>
          </p:cNvSpPr>
          <p:nvPr/>
        </p:nvSpPr>
        <p:spPr>
          <a:xfrm xmlns:a="http://schemas.openxmlformats.org/drawingml/2006/main">
            <a:off x="40957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生物样本</a:t>
            </a:r>
          </a:p>
        </p:txBody>
      </p:sp>
      <p:sp>
        <p:nvSpPr>
          <p:cNvPr id="13" name="">
            <a:extLst xmlns:a="http://schemas.openxmlformats.org/drawingml/2006/main">
              <a:ext uri="{FF2B5EF4-FFF2-40B4-BE49-F238E27FC236}">
                <a16:creationId xmlns:a16="http://schemas.microsoft.com/office/drawing/2014/main" id="{E134817B-17BD-4FAA-AFA2-0908984F6AB5}"/>
              </a:ext>
            </a:extLst>
          </p:cNvPr>
          <p:cNvSpPr>
            <a:spLocks xmlns:a="http://schemas.openxmlformats.org/drawingml/2006/main" noGrp="1"/>
          </p:cNvSpPr>
          <p:nvPr/>
        </p:nvSpPr>
        <p:spPr>
          <a:xfrm xmlns:a="http://schemas.openxmlformats.org/drawingml/2006/main">
            <a:off x="40957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组织、血液或细胞</a:t>
            </a:r>
          </a:p>
        </p:txBody>
      </p:sp>
      <p:sp>
        <p:nvSpPr>
          <p:cNvPr id="14" name="">
            <a:extLst xmlns:a="http://schemas.openxmlformats.org/drawingml/2006/main">
              <a:ext uri="{FF2B5EF4-FFF2-40B4-BE49-F238E27FC236}">
                <a16:creationId xmlns:a16="http://schemas.microsoft.com/office/drawing/2014/main" id="{ACF990D1-5B8F-4646-A646-75D1A12E6423}"/>
              </a:ext>
            </a:extLst>
          </p:cNvPr>
          <p:cNvSpPr>
            <a:spLocks xmlns:a="http://schemas.openxmlformats.org/drawingml/2006/main" noGrp="1"/>
          </p:cNvSpPr>
          <p:nvPr/>
        </p:nvSpPr>
        <p:spPr>
          <a:xfrm xmlns:a="http://schemas.openxmlformats.org/drawingml/2006/main">
            <a:off x="199072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918D4E-4D0F-4952-9CDC-FD85015B2FA2}"/>
              </a:ext>
            </a:extLst>
          </p:cNvPr>
          <p:cNvSpPr>
            <a:spLocks xmlns:a="http://schemas.openxmlformats.org/drawingml/2006/main" noGrp="1"/>
          </p:cNvSpPr>
          <p:nvPr/>
        </p:nvSpPr>
        <p:spPr>
          <a:xfrm xmlns:a="http://schemas.openxmlformats.org/drawingml/2006/main">
            <a:off x="228600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56A1C771-EA85-40BD-8D1C-E9E36E6E4649}"/>
              </a:ext>
            </a:extLst>
          </p:cNvPr>
          <p:cNvSpPr>
            <a:spLocks xmlns:a="http://schemas.openxmlformats.org/drawingml/2006/main" noGrp="1"/>
          </p:cNvSpPr>
          <p:nvPr/>
        </p:nvSpPr>
        <p:spPr>
          <a:xfrm xmlns:a="http://schemas.openxmlformats.org/drawingml/2006/main">
            <a:off x="236220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LC 分离</a:t>
            </a:r>
          </a:p>
        </p:txBody>
      </p:sp>
      <p:sp>
        <p:nvSpPr>
          <p:cNvPr id="17" name="">
            <a:extLst xmlns:a="http://schemas.openxmlformats.org/drawingml/2006/main">
              <a:ext uri="{FF2B5EF4-FFF2-40B4-BE49-F238E27FC236}">
                <a16:creationId xmlns:a16="http://schemas.microsoft.com/office/drawing/2014/main" id="{6F072A93-ED30-434B-B6A0-CD42F0997BBA}"/>
              </a:ext>
            </a:extLst>
          </p:cNvPr>
          <p:cNvSpPr>
            <a:spLocks xmlns:a="http://schemas.openxmlformats.org/drawingml/2006/main" noGrp="1"/>
          </p:cNvSpPr>
          <p:nvPr/>
        </p:nvSpPr>
        <p:spPr>
          <a:xfrm xmlns:a="http://schemas.openxmlformats.org/drawingml/2006/main">
            <a:off x="236220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保留时间</a:t>
            </a:r>
          </a:p>
        </p:txBody>
      </p:sp>
      <p:sp>
        <p:nvSpPr>
          <p:cNvPr id="18" name="">
            <a:extLst xmlns:a="http://schemas.openxmlformats.org/drawingml/2006/main">
              <a:ext uri="{FF2B5EF4-FFF2-40B4-BE49-F238E27FC236}">
                <a16:creationId xmlns:a16="http://schemas.microsoft.com/office/drawing/2014/main" id="{2E49DA85-907E-45AC-A6D7-956A692ADEE5}"/>
              </a:ext>
            </a:extLst>
          </p:cNvPr>
          <p:cNvSpPr>
            <a:spLocks xmlns:a="http://schemas.openxmlformats.org/drawingml/2006/main" noGrp="1"/>
          </p:cNvSpPr>
          <p:nvPr/>
        </p:nvSpPr>
        <p:spPr>
          <a:xfrm xmlns:a="http://schemas.openxmlformats.org/drawingml/2006/main">
            <a:off x="3943350"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2E925C-8EED-45AC-96FF-9232754526F1}"/>
              </a:ext>
            </a:extLst>
          </p:cNvPr>
          <p:cNvSpPr>
            <a:spLocks xmlns:a="http://schemas.openxmlformats.org/drawingml/2006/main" noGrp="1"/>
          </p:cNvSpPr>
          <p:nvPr/>
        </p:nvSpPr>
        <p:spPr>
          <a:xfrm xmlns:a="http://schemas.openxmlformats.org/drawingml/2006/main">
            <a:off x="4238625"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05BE006F-E894-45B5-8EE9-AC14A47FB404}"/>
              </a:ext>
            </a:extLst>
          </p:cNvPr>
          <p:cNvSpPr>
            <a:spLocks xmlns:a="http://schemas.openxmlformats.org/drawingml/2006/main" noGrp="1"/>
          </p:cNvSpPr>
          <p:nvPr/>
        </p:nvSpPr>
        <p:spPr>
          <a:xfrm xmlns:a="http://schemas.openxmlformats.org/drawingml/2006/main">
            <a:off x="431482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MS1 代谢特征</a:t>
            </a:r>
          </a:p>
        </p:txBody>
      </p:sp>
      <p:sp>
        <p:nvSpPr>
          <p:cNvPr id="21" name="">
            <a:extLst xmlns:a="http://schemas.openxmlformats.org/drawingml/2006/main">
              <a:ext uri="{FF2B5EF4-FFF2-40B4-BE49-F238E27FC236}">
                <a16:creationId xmlns:a16="http://schemas.microsoft.com/office/drawing/2014/main" id="{EAA91463-9467-445D-8F02-2A528550B7B8}"/>
              </a:ext>
            </a:extLst>
          </p:cNvPr>
          <p:cNvSpPr>
            <a:spLocks xmlns:a="http://schemas.openxmlformats.org/drawingml/2006/main" noGrp="1"/>
          </p:cNvSpPr>
          <p:nvPr/>
        </p:nvSpPr>
        <p:spPr>
          <a:xfrm xmlns:a="http://schemas.openxmlformats.org/drawingml/2006/main">
            <a:off x="431482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m/z + RT + 峰面积</a:t>
            </a:r>
          </a:p>
        </p:txBody>
      </p:sp>
      <p:sp>
        <p:nvSpPr>
          <p:cNvPr id="22" name="">
            <a:extLst xmlns:a="http://schemas.openxmlformats.org/drawingml/2006/main">
              <a:ext uri="{FF2B5EF4-FFF2-40B4-BE49-F238E27FC236}">
                <a16:creationId xmlns:a16="http://schemas.microsoft.com/office/drawing/2014/main" id="{0871A8E4-BCDA-4DEF-A863-6F65DC3BD4FC}"/>
              </a:ext>
            </a:extLst>
          </p:cNvPr>
          <p:cNvSpPr>
            <a:spLocks xmlns:a="http://schemas.openxmlformats.org/drawingml/2006/main" noGrp="1"/>
          </p:cNvSpPr>
          <p:nvPr/>
        </p:nvSpPr>
        <p:spPr>
          <a:xfrm xmlns:a="http://schemas.openxmlformats.org/drawingml/2006/main">
            <a:off x="589597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764D8-1D38-4D27-AB98-6D708EE96A73}"/>
              </a:ext>
            </a:extLst>
          </p:cNvPr>
          <p:cNvSpPr>
            <a:spLocks xmlns:a="http://schemas.openxmlformats.org/drawingml/2006/main" noGrp="1"/>
          </p:cNvSpPr>
          <p:nvPr/>
        </p:nvSpPr>
        <p:spPr>
          <a:xfrm xmlns:a="http://schemas.openxmlformats.org/drawingml/2006/main">
            <a:off x="619125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ABFB1284-9F07-47AC-BBE3-632AA03AFA85}"/>
              </a:ext>
            </a:extLst>
          </p:cNvPr>
          <p:cNvSpPr>
            <a:spLocks xmlns:a="http://schemas.openxmlformats.org/drawingml/2006/main" noGrp="1"/>
          </p:cNvSpPr>
          <p:nvPr/>
        </p:nvSpPr>
        <p:spPr>
          <a:xfrm xmlns:a="http://schemas.openxmlformats.org/drawingml/2006/main">
            <a:off x="626745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MS/MS 谱图</a:t>
            </a:r>
          </a:p>
        </p:txBody>
      </p:sp>
      <p:sp>
        <p:nvSpPr>
          <p:cNvPr id="25" name="">
            <a:extLst xmlns:a="http://schemas.openxmlformats.org/drawingml/2006/main">
              <a:ext uri="{FF2B5EF4-FFF2-40B4-BE49-F238E27FC236}">
                <a16:creationId xmlns:a16="http://schemas.microsoft.com/office/drawing/2014/main" id="{4CA3B5C2-C15B-4FB9-A80E-41DD3C114DA7}"/>
              </a:ext>
            </a:extLst>
          </p:cNvPr>
          <p:cNvSpPr>
            <a:spLocks xmlns:a="http://schemas.openxmlformats.org/drawingml/2006/main" noGrp="1"/>
          </p:cNvSpPr>
          <p:nvPr/>
        </p:nvSpPr>
        <p:spPr>
          <a:xfrm xmlns:a="http://schemas.openxmlformats.org/drawingml/2006/main">
            <a:off x="626745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碎片 m/z + 强度</a:t>
            </a:r>
          </a:p>
        </p:txBody>
      </p:sp>
      <p:sp>
        <p:nvSpPr>
          <p:cNvPr id="26" name="">
            <a:extLst xmlns:a="http://schemas.openxmlformats.org/drawingml/2006/main">
              <a:ext uri="{FF2B5EF4-FFF2-40B4-BE49-F238E27FC236}">
                <a16:creationId xmlns:a16="http://schemas.microsoft.com/office/drawing/2014/main" id="{2D172A11-A6D2-4CC7-93B9-91D8E5C1EABD}"/>
              </a:ext>
            </a:extLst>
          </p:cNvPr>
          <p:cNvSpPr>
            <a:spLocks xmlns:a="http://schemas.openxmlformats.org/drawingml/2006/main" noGrp="1"/>
          </p:cNvSpPr>
          <p:nvPr/>
        </p:nvSpPr>
        <p:spPr>
          <a:xfrm xmlns:a="http://schemas.openxmlformats.org/drawingml/2006/main">
            <a:off x="7848600"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0B4B8A-569D-4070-B42F-C279EE831391}"/>
              </a:ext>
            </a:extLst>
          </p:cNvPr>
          <p:cNvSpPr>
            <a:spLocks xmlns:a="http://schemas.openxmlformats.org/drawingml/2006/main" noGrp="1"/>
          </p:cNvSpPr>
          <p:nvPr/>
        </p:nvSpPr>
        <p:spPr>
          <a:xfrm xmlns:a="http://schemas.openxmlformats.org/drawingml/2006/main">
            <a:off x="8143875" y="904875"/>
            <a:ext cx="1619250" cy="8001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28" name="">
            <a:extLst xmlns:a="http://schemas.openxmlformats.org/drawingml/2006/main">
              <a:ext uri="{FF2B5EF4-FFF2-40B4-BE49-F238E27FC236}">
                <a16:creationId xmlns:a16="http://schemas.microsoft.com/office/drawing/2014/main" id="{4EB89829-172E-4004-AD65-198CB52A0B8E}"/>
              </a:ext>
            </a:extLst>
          </p:cNvPr>
          <p:cNvSpPr>
            <a:spLocks xmlns:a="http://schemas.openxmlformats.org/drawingml/2006/main" noGrp="1"/>
          </p:cNvSpPr>
          <p:nvPr/>
        </p:nvSpPr>
        <p:spPr>
          <a:xfrm xmlns:a="http://schemas.openxmlformats.org/drawingml/2006/main">
            <a:off x="822007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结构注释</a:t>
            </a:r>
          </a:p>
        </p:txBody>
      </p:sp>
      <p:sp>
        <p:nvSpPr>
          <p:cNvPr id="29" name="">
            <a:extLst xmlns:a="http://schemas.openxmlformats.org/drawingml/2006/main">
              <a:ext uri="{FF2B5EF4-FFF2-40B4-BE49-F238E27FC236}">
                <a16:creationId xmlns:a16="http://schemas.microsoft.com/office/drawing/2014/main" id="{1B7659A2-CCC6-4521-937C-E65A376A22E8}"/>
              </a:ext>
            </a:extLst>
          </p:cNvPr>
          <p:cNvSpPr>
            <a:spLocks xmlns:a="http://schemas.openxmlformats.org/drawingml/2006/main" noGrp="1"/>
          </p:cNvSpPr>
          <p:nvPr/>
        </p:nvSpPr>
        <p:spPr>
          <a:xfrm xmlns:a="http://schemas.openxmlformats.org/drawingml/2006/main">
            <a:off x="822007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候选身份与证据</a:t>
            </a:r>
          </a:p>
        </p:txBody>
      </p:sp>
      <p:sp>
        <p:nvSpPr>
          <p:cNvPr id="30" name="">
            <a:extLst xmlns:a="http://schemas.openxmlformats.org/drawingml/2006/main">
              <a:ext uri="{FF2B5EF4-FFF2-40B4-BE49-F238E27FC236}">
                <a16:creationId xmlns:a16="http://schemas.microsoft.com/office/drawing/2014/main" id="{2384A198-541F-424F-B5FC-C8594D824344}"/>
              </a:ext>
            </a:extLst>
          </p:cNvPr>
          <p:cNvSpPr>
            <a:spLocks xmlns:a="http://schemas.openxmlformats.org/drawingml/2006/main" noGrp="1"/>
          </p:cNvSpPr>
          <p:nvPr/>
        </p:nvSpPr>
        <p:spPr>
          <a:xfrm xmlns:a="http://schemas.openxmlformats.org/drawingml/2006/main">
            <a:off x="980122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5A79F64-9D94-4F84-8A45-88903E2DBC8A}"/>
              </a:ext>
            </a:extLst>
          </p:cNvPr>
          <p:cNvSpPr>
            <a:spLocks xmlns:a="http://schemas.openxmlformats.org/drawingml/2006/main" noGrp="1"/>
          </p:cNvSpPr>
          <p:nvPr/>
        </p:nvSpPr>
        <p:spPr>
          <a:xfrm xmlns:a="http://schemas.openxmlformats.org/drawingml/2006/main">
            <a:off x="1009650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99EDC9DF-FEEA-4F8F-8092-BBBAFF27002F}"/>
              </a:ext>
            </a:extLst>
          </p:cNvPr>
          <p:cNvSpPr>
            <a:spLocks xmlns:a="http://schemas.openxmlformats.org/drawingml/2006/main" noGrp="1"/>
          </p:cNvSpPr>
          <p:nvPr/>
        </p:nvSpPr>
        <p:spPr>
          <a:xfrm xmlns:a="http://schemas.openxmlformats.org/drawingml/2006/main">
            <a:off x="1017270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生物学解释</a:t>
            </a:r>
          </a:p>
        </p:txBody>
      </p:sp>
      <p:sp>
        <p:nvSpPr>
          <p:cNvPr id="33" name="">
            <a:extLst xmlns:a="http://schemas.openxmlformats.org/drawingml/2006/main">
              <a:ext uri="{FF2B5EF4-FFF2-40B4-BE49-F238E27FC236}">
                <a16:creationId xmlns:a16="http://schemas.microsoft.com/office/drawing/2014/main" id="{513DB117-AB19-4B51-ABB5-8F491466EE05}"/>
              </a:ext>
            </a:extLst>
          </p:cNvPr>
          <p:cNvSpPr>
            <a:spLocks xmlns:a="http://schemas.openxmlformats.org/drawingml/2006/main" noGrp="1"/>
          </p:cNvSpPr>
          <p:nvPr/>
        </p:nvSpPr>
        <p:spPr>
          <a:xfrm xmlns:a="http://schemas.openxmlformats.org/drawingml/2006/main">
            <a:off x="1017270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通路、表型与机制</a:t>
            </a:r>
          </a:p>
        </p:txBody>
      </p:sp>
      <p:sp>
        <p:nvSpPr>
          <p:cNvPr id="34" name="">
            <a:extLst xmlns:a="http://schemas.openxmlformats.org/drawingml/2006/main">
              <a:ext uri="{FF2B5EF4-FFF2-40B4-BE49-F238E27FC236}">
                <a16:creationId xmlns:a16="http://schemas.microsoft.com/office/drawing/2014/main" id="{72D8943E-664D-4805-B395-EB9435324C6E}"/>
              </a:ext>
            </a:extLst>
          </p:cNvPr>
          <p:cNvSpPr>
            <a:spLocks xmlns:a="http://schemas.openxmlformats.org/drawingml/2006/main" noGrp="1"/>
          </p:cNvSpPr>
          <p:nvPr/>
        </p:nvSpPr>
        <p:spPr>
          <a:xfrm xmlns:a="http://schemas.openxmlformats.org/drawingml/2006/main">
            <a:off x="428625" y="1952625"/>
            <a:ext cx="1133475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b287f7ce34ce4994"/>
          <a:stretch xmlns:a="http://schemas.openxmlformats.org/drawingml/2006/main"/>
        </p:blipFill>
        <p:spPr>
          <a:xfrm xmlns:a="http://schemas.openxmlformats.org/drawingml/2006/main">
            <a:off x="571500" y="2238652"/>
            <a:ext cx="4524375" cy="2809321"/>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7A983014-4488-4585-B754-5E339F83FEC4}"/>
              </a:ext>
            </a:extLst>
          </p:cNvPr>
          <p:cNvSpPr>
            <a:spLocks xmlns:a="http://schemas.openxmlformats.org/drawingml/2006/main" noGrp="1"/>
          </p:cNvSpPr>
          <p:nvPr/>
        </p:nvSpPr>
        <p:spPr>
          <a:xfrm xmlns:a="http://schemas.openxmlformats.org/drawingml/2006/main">
            <a:off x="5572125" y="2209800"/>
            <a:ext cx="547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为什么“测到”不等于“知道是什么”？</a:t>
            </a:r>
          </a:p>
        </p:txBody>
      </p:sp>
      <p:sp>
        <p:nvSpPr>
          <p:cNvPr id="37" name="">
            <a:extLst xmlns:a="http://schemas.openxmlformats.org/drawingml/2006/main">
              <a:ext uri="{FF2B5EF4-FFF2-40B4-BE49-F238E27FC236}">
                <a16:creationId xmlns:a16="http://schemas.microsoft.com/office/drawing/2014/main" id="{D91846FC-C0F1-4057-9055-B18E0E441977}"/>
              </a:ext>
            </a:extLst>
          </p:cNvPr>
          <p:cNvSpPr>
            <a:spLocks xmlns:a="http://schemas.openxmlformats.org/drawingml/2006/main" noGrp="1"/>
          </p:cNvSpPr>
          <p:nvPr/>
        </p:nvSpPr>
        <p:spPr>
          <a:xfrm xmlns:a="http://schemas.openxmlformats.org/drawingml/2006/main">
            <a:off x="5619750" y="27146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a:t>
            </a:r>
          </a:p>
        </p:txBody>
      </p:sp>
      <p:sp>
        <p:nvSpPr>
          <p:cNvPr id="38" name="">
            <a:extLst xmlns:a="http://schemas.openxmlformats.org/drawingml/2006/main">
              <a:ext uri="{FF2B5EF4-FFF2-40B4-BE49-F238E27FC236}">
                <a16:creationId xmlns:a16="http://schemas.microsoft.com/office/drawing/2014/main" id="{23C26872-0CBA-47B3-B581-6F788B544AF0}"/>
              </a:ext>
            </a:extLst>
          </p:cNvPr>
          <p:cNvSpPr>
            <a:spLocks xmlns:a="http://schemas.openxmlformats.org/drawingml/2006/main" noGrp="1"/>
          </p:cNvSpPr>
          <p:nvPr/>
        </p:nvSpPr>
        <p:spPr>
          <a:xfrm xmlns:a="http://schemas.openxmlformats.org/drawingml/2006/main">
            <a:off x="6048375" y="26955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MS/MS 覆盖并不完整</a:t>
            </a:r>
          </a:p>
        </p:txBody>
      </p:sp>
      <p:sp>
        <p:nvSpPr>
          <p:cNvPr id="39" name="">
            <a:extLst xmlns:a="http://schemas.openxmlformats.org/drawingml/2006/main">
              <a:ext uri="{FF2B5EF4-FFF2-40B4-BE49-F238E27FC236}">
                <a16:creationId xmlns:a16="http://schemas.microsoft.com/office/drawing/2014/main" id="{12A4EAE9-0818-4FCC-A5D8-1A4775426865}"/>
              </a:ext>
            </a:extLst>
          </p:cNvPr>
          <p:cNvSpPr>
            <a:spLocks xmlns:a="http://schemas.openxmlformats.org/drawingml/2006/main" noGrp="1"/>
          </p:cNvSpPr>
          <p:nvPr/>
        </p:nvSpPr>
        <p:spPr>
          <a:xfrm xmlns:a="http://schemas.openxmlformats.org/drawingml/2006/main">
            <a:off x="8239125" y="26860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138"/>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MS1 可检测大量代谢特征，但并非每个特征都能获得高质量 MS/MS。</a:t>
            </a:r>
          </a:p>
        </p:txBody>
      </p:sp>
      <p:sp>
        <p:nvSpPr>
          <p:cNvPr id="40" name="">
            <a:extLst xmlns:a="http://schemas.openxmlformats.org/drawingml/2006/main">
              <a:ext uri="{FF2B5EF4-FFF2-40B4-BE49-F238E27FC236}">
                <a16:creationId xmlns:a16="http://schemas.microsoft.com/office/drawing/2014/main" id="{ACD20D87-9039-49DA-B6AC-186FFF3D69B6}"/>
              </a:ext>
            </a:extLst>
          </p:cNvPr>
          <p:cNvSpPr>
            <a:spLocks xmlns:a="http://schemas.openxmlformats.org/drawingml/2006/main" noGrp="1"/>
          </p:cNvSpPr>
          <p:nvPr/>
        </p:nvSpPr>
        <p:spPr>
          <a:xfrm xmlns:a="http://schemas.openxmlformats.org/drawingml/2006/main">
            <a:off x="5619750" y="34004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2</a:t>
            </a:r>
          </a:p>
        </p:txBody>
      </p:sp>
      <p:sp>
        <p:nvSpPr>
          <p:cNvPr id="41" name="">
            <a:extLst xmlns:a="http://schemas.openxmlformats.org/drawingml/2006/main">
              <a:ext uri="{FF2B5EF4-FFF2-40B4-BE49-F238E27FC236}">
                <a16:creationId xmlns:a16="http://schemas.microsoft.com/office/drawing/2014/main" id="{4128DB1D-D337-4290-A539-B440140A9247}"/>
              </a:ext>
            </a:extLst>
          </p:cNvPr>
          <p:cNvSpPr>
            <a:spLocks xmlns:a="http://schemas.openxmlformats.org/drawingml/2006/main" noGrp="1"/>
          </p:cNvSpPr>
          <p:nvPr/>
        </p:nvSpPr>
        <p:spPr>
          <a:xfrm xmlns:a="http://schemas.openxmlformats.org/drawingml/2006/main">
            <a:off x="6048375" y="33813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标准谱库覆盖有限</a:t>
            </a:r>
          </a:p>
        </p:txBody>
      </p:sp>
      <p:sp>
        <p:nvSpPr>
          <p:cNvPr id="42" name="">
            <a:extLst xmlns:a="http://schemas.openxmlformats.org/drawingml/2006/main">
              <a:ext uri="{FF2B5EF4-FFF2-40B4-BE49-F238E27FC236}">
                <a16:creationId xmlns:a16="http://schemas.microsoft.com/office/drawing/2014/main" id="{AA179FAA-F8E6-49FA-8F9D-DB732E83CF7A}"/>
              </a:ext>
            </a:extLst>
          </p:cNvPr>
          <p:cNvSpPr>
            <a:spLocks xmlns:a="http://schemas.openxmlformats.org/drawingml/2006/main" noGrp="1"/>
          </p:cNvSpPr>
          <p:nvPr/>
        </p:nvSpPr>
        <p:spPr>
          <a:xfrm xmlns:a="http://schemas.openxmlformats.org/drawingml/2006/main">
            <a:off x="8239125" y="33718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公共谱库只收录已测标准品；大量实验谱图找不到同条件参考谱。</a:t>
            </a:r>
          </a:p>
        </p:txBody>
      </p:sp>
      <p:sp>
        <p:nvSpPr>
          <p:cNvPr id="43" name="">
            <a:extLst xmlns:a="http://schemas.openxmlformats.org/drawingml/2006/main">
              <a:ext uri="{FF2B5EF4-FFF2-40B4-BE49-F238E27FC236}">
                <a16:creationId xmlns:a16="http://schemas.microsoft.com/office/drawing/2014/main" id="{00F9F0E5-42CA-400D-8453-072DCBAE51D2}"/>
              </a:ext>
            </a:extLst>
          </p:cNvPr>
          <p:cNvSpPr>
            <a:spLocks xmlns:a="http://schemas.openxmlformats.org/drawingml/2006/main" noGrp="1"/>
          </p:cNvSpPr>
          <p:nvPr/>
        </p:nvSpPr>
        <p:spPr>
          <a:xfrm xmlns:a="http://schemas.openxmlformats.org/drawingml/2006/main">
            <a:off x="5619750" y="4086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3</a:t>
            </a:r>
          </a:p>
        </p:txBody>
      </p:sp>
      <p:sp>
        <p:nvSpPr>
          <p:cNvPr id="44" name="">
            <a:extLst xmlns:a="http://schemas.openxmlformats.org/drawingml/2006/main">
              <a:ext uri="{FF2B5EF4-FFF2-40B4-BE49-F238E27FC236}">
                <a16:creationId xmlns:a16="http://schemas.microsoft.com/office/drawing/2014/main" id="{17EC19F1-B471-4208-B9BA-F492D3EAE134}"/>
              </a:ext>
            </a:extLst>
          </p:cNvPr>
          <p:cNvSpPr>
            <a:spLocks xmlns:a="http://schemas.openxmlformats.org/drawingml/2006/main" noGrp="1"/>
          </p:cNvSpPr>
          <p:nvPr/>
        </p:nvSpPr>
        <p:spPr>
          <a:xfrm xmlns:a="http://schemas.openxmlformats.org/drawingml/2006/main">
            <a:off x="6048375" y="40671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候选结构高度相似</a:t>
            </a:r>
          </a:p>
        </p:txBody>
      </p:sp>
      <p:sp>
        <p:nvSpPr>
          <p:cNvPr id="45" name="">
            <a:extLst xmlns:a="http://schemas.openxmlformats.org/drawingml/2006/main">
              <a:ext uri="{FF2B5EF4-FFF2-40B4-BE49-F238E27FC236}">
                <a16:creationId xmlns:a16="http://schemas.microsoft.com/office/drawing/2014/main" id="{080B0DB4-F90A-442B-AB3D-795C85E38DC8}"/>
              </a:ext>
            </a:extLst>
          </p:cNvPr>
          <p:cNvSpPr>
            <a:spLocks xmlns:a="http://schemas.openxmlformats.org/drawingml/2006/main" noGrp="1"/>
          </p:cNvSpPr>
          <p:nvPr/>
        </p:nvSpPr>
        <p:spPr>
          <a:xfrm xmlns:a="http://schemas.openxmlformats.org/drawingml/2006/main">
            <a:off x="8239125" y="40576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同一分子式下常有多个异构体或近结构分子，主碎片可能重叠。</a:t>
            </a:r>
          </a:p>
        </p:txBody>
      </p:sp>
      <p:sp>
        <p:nvSpPr>
          <p:cNvPr id="46" name="">
            <a:extLst xmlns:a="http://schemas.openxmlformats.org/drawingml/2006/main">
              <a:ext uri="{FF2B5EF4-FFF2-40B4-BE49-F238E27FC236}">
                <a16:creationId xmlns:a16="http://schemas.microsoft.com/office/drawing/2014/main" id="{8986C933-24AF-4C67-8B82-ED3E7D2495BD}"/>
              </a:ext>
            </a:extLst>
          </p:cNvPr>
          <p:cNvSpPr>
            <a:spLocks xmlns:a="http://schemas.openxmlformats.org/drawingml/2006/main" noGrp="1"/>
          </p:cNvSpPr>
          <p:nvPr/>
        </p:nvSpPr>
        <p:spPr>
          <a:xfrm xmlns:a="http://schemas.openxmlformats.org/drawingml/2006/main">
            <a:off x="5619750" y="47720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4</a:t>
            </a:r>
          </a:p>
        </p:txBody>
      </p:sp>
      <p:sp>
        <p:nvSpPr>
          <p:cNvPr id="47" name="">
            <a:extLst xmlns:a="http://schemas.openxmlformats.org/drawingml/2006/main">
              <a:ext uri="{FF2B5EF4-FFF2-40B4-BE49-F238E27FC236}">
                <a16:creationId xmlns:a16="http://schemas.microsoft.com/office/drawing/2014/main" id="{A549B5D6-38A2-4192-B1C7-F416677494E4}"/>
              </a:ext>
            </a:extLst>
          </p:cNvPr>
          <p:cNvSpPr>
            <a:spLocks xmlns:a="http://schemas.openxmlformats.org/drawingml/2006/main" noGrp="1"/>
          </p:cNvSpPr>
          <p:nvPr/>
        </p:nvSpPr>
        <p:spPr>
          <a:xfrm xmlns:a="http://schemas.openxmlformats.org/drawingml/2006/main">
            <a:off x="6048375" y="47529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实验条件造成谱图变化</a:t>
            </a:r>
          </a:p>
        </p:txBody>
      </p:sp>
      <p:sp>
        <p:nvSpPr>
          <p:cNvPr id="48" name="">
            <a:extLst xmlns:a="http://schemas.openxmlformats.org/drawingml/2006/main">
              <a:ext uri="{FF2B5EF4-FFF2-40B4-BE49-F238E27FC236}">
                <a16:creationId xmlns:a16="http://schemas.microsoft.com/office/drawing/2014/main" id="{2E7548C9-6DBE-4919-AC05-1C54E8A8E000}"/>
              </a:ext>
            </a:extLst>
          </p:cNvPr>
          <p:cNvSpPr>
            <a:spLocks xmlns:a="http://schemas.openxmlformats.org/drawingml/2006/main" noGrp="1"/>
          </p:cNvSpPr>
          <p:nvPr/>
        </p:nvSpPr>
        <p:spPr>
          <a:xfrm xmlns:a="http://schemas.openxmlformats.org/drawingml/2006/main">
            <a:off x="8239125" y="47434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仪器、碰撞能、加合离子（adduct）与离子模式会改变峰的出现和强度。</a:t>
            </a:r>
          </a:p>
        </p:txBody>
      </p:sp>
      <p:sp>
        <p:nvSpPr>
          <p:cNvPr id="49" name="">
            <a:extLst xmlns:a="http://schemas.openxmlformats.org/drawingml/2006/main">
              <a:ext uri="{FF2B5EF4-FFF2-40B4-BE49-F238E27FC236}">
                <a16:creationId xmlns:a16="http://schemas.microsoft.com/office/drawing/2014/main" id="{422B2F4F-A64D-448A-8C83-49067842D224}"/>
              </a:ext>
            </a:extLst>
          </p:cNvPr>
          <p:cNvSpPr>
            <a:spLocks xmlns:a="http://schemas.openxmlformats.org/drawingml/2006/main" noGrp="1"/>
          </p:cNvSpPr>
          <p:nvPr/>
        </p:nvSpPr>
        <p:spPr>
          <a:xfrm xmlns:a="http://schemas.openxmlformats.org/drawingml/2006/main">
            <a:off x="1143000" y="5334000"/>
            <a:ext cx="9906000" cy="6858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50" name="">
            <a:extLst xmlns:a="http://schemas.openxmlformats.org/drawingml/2006/main">
              <a:ext uri="{FF2B5EF4-FFF2-40B4-BE49-F238E27FC236}">
                <a16:creationId xmlns:a16="http://schemas.microsoft.com/office/drawing/2014/main" id="{E18FD3EE-EFA5-4B76-92F2-5E804D9330B1}"/>
              </a:ext>
            </a:extLst>
          </p:cNvPr>
          <p:cNvSpPr>
            <a:spLocks xmlns:a="http://schemas.openxmlformats.org/drawingml/2006/main" noGrp="1"/>
          </p:cNvSpPr>
          <p:nvPr/>
        </p:nvSpPr>
        <p:spPr>
          <a:xfrm xmlns:a="http://schemas.openxmlformats.org/drawingml/2006/main">
            <a:off x="1476375" y="544830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23"/>
          </a:bodyPr>
          <a:lstStyle xmlns:a="http://schemas.openxmlformats.org/drawingml/2006/main"/>
          <a:p xmlns:a="http://schemas.openxmlformats.org/drawingml/2006/main">
            <a:pPr algn="ctr">
              <a:defRPr sz="1538" b="1" i="0">
                <a:solidFill>
                  <a:srgbClr val="111111"/>
                </a:solidFill>
                <a:latin typeface="Microsoft YaHei"/>
                <a:ea typeface="Microsoft YaHei"/>
                <a:cs typeface="Microsoft YaHei"/>
              </a:defRPr>
            </a:pPr>
            <a:r>
              <a:rPr sz="1538" b="1" i="0">
                <a:solidFill>
                  <a:srgbClr val="111111"/>
                </a:solidFill>
                <a:latin typeface="Microsoft YaHei"/>
                <a:ea typeface="Microsoft YaHei"/>
                <a:cs typeface="Microsoft YaHei"/>
              </a:rPr>
              <a:t>核心瓶颈：把一张未知实验谱图可靠地对应到正确化学结构，</a:t>
            </a:r>
          </a:p>
          <a:p xmlns:a="http://schemas.openxmlformats.org/drawingml/2006/main">
            <a:pPr algn="ctr">
              <a:defRPr sz="1538" b="1" i="0">
                <a:solidFill>
                  <a:srgbClr val="111111"/>
                </a:solidFill>
                <a:latin typeface="Microsoft YaHei"/>
                <a:ea typeface="Microsoft YaHei"/>
                <a:cs typeface="Microsoft YaHei"/>
              </a:defRPr>
            </a:pPr>
            <a:r>
              <a:rPr sz="1538" b="1" i="0">
                <a:solidFill>
                  <a:srgbClr val="111111"/>
                </a:solidFill>
                <a:latin typeface="Microsoft YaHei"/>
                <a:ea typeface="Microsoft YaHei"/>
                <a:cs typeface="Microsoft YaHei"/>
              </a:rPr>
              <a:t>才有可能将丰度变化进一步联系到代谢通路和生物学现象。</a:t>
            </a:r>
          </a:p>
        </p:txBody>
      </p:sp>
    </p:spTree>
    <p:extLst>
      <p:ext uri="{BB962C8B-B14F-4D97-AF65-F5344CB8AC3E}">
        <p14:creationId xmlns:p14="http://schemas.microsoft.com/office/powerpoint/2010/main" val="2387278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07BFA964-5904-4B32-A06A-37D1D65EEE3F}"/>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51AC04-7CAF-4165-BE73-281F030FFA65}"/>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E42D09-CB97-45E8-9B70-820B2DCA297B}"/>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11E690-C1DB-4467-9120-4AB3E353BBFA}"/>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629896-FF91-4E85-84DE-8F3E4C0B3817}"/>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一次代谢物注释任务的输入与输出</a:t>
            </a:r>
          </a:p>
        </p:txBody>
      </p:sp>
      <p:sp>
        <p:nvSpPr>
          <p:cNvPr id="6" name="">
            <a:extLst xmlns:a="http://schemas.openxmlformats.org/drawingml/2006/main">
              <a:ext uri="{FF2B5EF4-FFF2-40B4-BE49-F238E27FC236}">
                <a16:creationId xmlns:a16="http://schemas.microsoft.com/office/drawing/2014/main" id="{76A9BBFA-A657-4816-8A64-72D94972F7BF}"/>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C17E68-E719-4CBE-A547-CA3FA031471D}"/>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871A31-8F3D-4F29-A929-37D576F07FFD}"/>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3B9AF9-1D3B-4D37-9D4E-AF0D919A8735}"/>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36F349FF-776A-455B-9EB2-10B99F12B93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8076FE34-90A1-4A9E-B5DE-138B8A394876}"/>
              </a:ext>
            </a:extLst>
          </p:cNvPr>
          <p:cNvSpPr>
            <a:spLocks xmlns:a="http://schemas.openxmlformats.org/drawingml/2006/main" noGrp="1"/>
          </p:cNvSpPr>
          <p:nvPr/>
        </p:nvSpPr>
        <p:spPr>
          <a:xfrm xmlns:a="http://schemas.openxmlformats.org/drawingml/2006/main">
            <a:off x="428625" y="876300"/>
            <a:ext cx="233362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5E4458-A693-4C42-8DED-65F2BDDEEC00}"/>
              </a:ext>
            </a:extLst>
          </p:cNvPr>
          <p:cNvSpPr>
            <a:spLocks xmlns:a="http://schemas.openxmlformats.org/drawingml/2006/main" noGrp="1"/>
          </p:cNvSpPr>
          <p:nvPr/>
        </p:nvSpPr>
        <p:spPr>
          <a:xfrm xmlns:a="http://schemas.openxmlformats.org/drawingml/2006/main">
            <a:off x="504825" y="904875"/>
            <a:ext cx="2181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输入：一张查询 MS/MS 谱图</a:t>
            </a:r>
          </a:p>
        </p:txBody>
      </p:sp>
      <p:sp>
        <p:nvSpPr>
          <p:cNvPr id="13" name="">
            <a:extLst xmlns:a="http://schemas.openxmlformats.org/drawingml/2006/main">
              <a:ext uri="{FF2B5EF4-FFF2-40B4-BE49-F238E27FC236}">
                <a16:creationId xmlns:a16="http://schemas.microsoft.com/office/drawing/2014/main" id="{A037E146-9CD2-4BFC-AD5B-3FEAB8010136}"/>
              </a:ext>
            </a:extLst>
          </p:cNvPr>
          <p:cNvSpPr>
            <a:spLocks xmlns:a="http://schemas.openxmlformats.org/drawingml/2006/main" noGrp="1"/>
          </p:cNvSpPr>
          <p:nvPr/>
        </p:nvSpPr>
        <p:spPr>
          <a:xfrm xmlns:a="http://schemas.openxmlformats.org/drawingml/2006/main">
            <a:off x="428625" y="1285875"/>
            <a:ext cx="4762500" cy="2905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BFA6CE52-3925-489C-BEE7-A5BCF2DCD39E}"/>
              </a:ext>
            </a:extLst>
          </p:cNvPr>
          <p:cNvSpPr>
            <a:spLocks xmlns:a="http://schemas.openxmlformats.org/drawingml/2006/main" noGrp="1"/>
          </p:cNvSpPr>
          <p:nvPr/>
        </p:nvSpPr>
        <p:spPr>
          <a:xfrm xmlns:a="http://schemas.openxmlformats.org/drawingml/2006/main">
            <a:off x="571500" y="13620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111111"/>
                </a:solidFill>
                <a:latin typeface="Microsoft YaHei"/>
                <a:ea typeface="Microsoft YaHei"/>
                <a:cs typeface="Microsoft YaHei"/>
              </a:defRPr>
            </a:pPr>
            <a:r>
              <a:rPr sz="1275" b="1" i="0">
                <a:solidFill>
                  <a:srgbClr val="111111"/>
                </a:solidFill>
                <a:latin typeface="Microsoft YaHei"/>
                <a:ea typeface="Microsoft YaHei"/>
                <a:cs typeface="Microsoft YaHei"/>
              </a:rPr>
              <a:t>Query spectrum</a:t>
            </a:r>
          </a:p>
        </p:txBody>
      </p:sp>
      <p:sp>
        <p:nvSpPr>
          <p:cNvPr id="15" name="">
            <a:extLst xmlns:a="http://schemas.openxmlformats.org/drawingml/2006/main">
              <a:ext uri="{FF2B5EF4-FFF2-40B4-BE49-F238E27FC236}">
                <a16:creationId xmlns:a16="http://schemas.microsoft.com/office/drawing/2014/main" id="{6C92539C-27CD-48E6-8E6E-F69DFD35B220}"/>
              </a:ext>
            </a:extLst>
          </p:cNvPr>
          <p:cNvSpPr>
            <a:spLocks xmlns:a="http://schemas.openxmlformats.org/drawingml/2006/main" noGrp="1"/>
          </p:cNvSpPr>
          <p:nvPr/>
        </p:nvSpPr>
        <p:spPr>
          <a:xfrm xmlns:a="http://schemas.openxmlformats.org/drawingml/2006/main">
            <a:off x="942975" y="3790950"/>
            <a:ext cx="40195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3CC0EC-4235-4288-A89F-BE9DF08202A8}"/>
              </a:ext>
            </a:extLst>
          </p:cNvPr>
          <p:cNvSpPr>
            <a:spLocks xmlns:a="http://schemas.openxmlformats.org/drawingml/2006/main" noGrp="1"/>
          </p:cNvSpPr>
          <p:nvPr/>
        </p:nvSpPr>
        <p:spPr>
          <a:xfrm xmlns:a="http://schemas.openxmlformats.org/drawingml/2006/main">
            <a:off x="942975" y="1685925"/>
            <a:ext cx="19050" cy="20669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A74EEE6-70E7-4DE5-855F-304ECE245E7F}"/>
              </a:ext>
            </a:extLst>
          </p:cNvPr>
          <p:cNvSpPr>
            <a:spLocks xmlns:a="http://schemas.openxmlformats.org/drawingml/2006/main" noGrp="1"/>
          </p:cNvSpPr>
          <p:nvPr/>
        </p:nvSpPr>
        <p:spPr>
          <a:xfrm xmlns:a="http://schemas.openxmlformats.org/drawingml/2006/main">
            <a:off x="1154530" y="3687604"/>
            <a:ext cx="19050" cy="10334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1F51414-5916-4F0E-822D-11F231D6D252}"/>
              </a:ext>
            </a:extLst>
          </p:cNvPr>
          <p:cNvSpPr>
            <a:spLocks xmlns:a="http://schemas.openxmlformats.org/drawingml/2006/main" noGrp="1"/>
          </p:cNvSpPr>
          <p:nvPr/>
        </p:nvSpPr>
        <p:spPr>
          <a:xfrm xmlns:a="http://schemas.openxmlformats.org/drawingml/2006/main">
            <a:off x="1387241" y="2488787"/>
            <a:ext cx="19050" cy="130216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373250D-6530-49B2-8208-0F66FC0B9276}"/>
              </a:ext>
            </a:extLst>
          </p:cNvPr>
          <p:cNvSpPr>
            <a:spLocks xmlns:a="http://schemas.openxmlformats.org/drawingml/2006/main" noGrp="1"/>
          </p:cNvSpPr>
          <p:nvPr/>
        </p:nvSpPr>
        <p:spPr>
          <a:xfrm xmlns:a="http://schemas.openxmlformats.org/drawingml/2006/main">
            <a:off x="1662263" y="3418904"/>
            <a:ext cx="19050" cy="37204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83CA04-9C21-45D1-8849-B00B6524856A}"/>
              </a:ext>
            </a:extLst>
          </p:cNvPr>
          <p:cNvSpPr>
            <a:spLocks xmlns:a="http://schemas.openxmlformats.org/drawingml/2006/main" noGrp="1"/>
          </p:cNvSpPr>
          <p:nvPr/>
        </p:nvSpPr>
        <p:spPr>
          <a:xfrm xmlns:a="http://schemas.openxmlformats.org/drawingml/2006/main">
            <a:off x="1937285" y="2096072"/>
            <a:ext cx="19050" cy="1694879"/>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972FA1-490F-417C-A306-F74341D033BD}"/>
              </a:ext>
            </a:extLst>
          </p:cNvPr>
          <p:cNvSpPr>
            <a:spLocks xmlns:a="http://schemas.openxmlformats.org/drawingml/2006/main" noGrp="1"/>
          </p:cNvSpPr>
          <p:nvPr/>
        </p:nvSpPr>
        <p:spPr>
          <a:xfrm xmlns:a="http://schemas.openxmlformats.org/drawingml/2006/main">
            <a:off x="2043062" y="3315557"/>
            <a:ext cx="19050" cy="47539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8F1C48-6365-449A-94D7-F880771016B7}"/>
              </a:ext>
            </a:extLst>
          </p:cNvPr>
          <p:cNvSpPr>
            <a:spLocks xmlns:a="http://schemas.openxmlformats.org/drawingml/2006/main" noGrp="1"/>
          </p:cNvSpPr>
          <p:nvPr/>
        </p:nvSpPr>
        <p:spPr>
          <a:xfrm xmlns:a="http://schemas.openxmlformats.org/drawingml/2006/main">
            <a:off x="2191151" y="3625596"/>
            <a:ext cx="19050" cy="16535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7BB2CC-1745-42E5-9936-0AE2510FE746}"/>
              </a:ext>
            </a:extLst>
          </p:cNvPr>
          <p:cNvSpPr>
            <a:spLocks xmlns:a="http://schemas.openxmlformats.org/drawingml/2006/main" noGrp="1"/>
          </p:cNvSpPr>
          <p:nvPr/>
        </p:nvSpPr>
        <p:spPr>
          <a:xfrm xmlns:a="http://schemas.openxmlformats.org/drawingml/2006/main">
            <a:off x="2487328" y="2984849"/>
            <a:ext cx="19050" cy="80610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9FFCB86-DA0C-4458-8FBC-3123B0DF8E8E}"/>
              </a:ext>
            </a:extLst>
          </p:cNvPr>
          <p:cNvSpPr>
            <a:spLocks xmlns:a="http://schemas.openxmlformats.org/drawingml/2006/main" noGrp="1"/>
          </p:cNvSpPr>
          <p:nvPr/>
        </p:nvSpPr>
        <p:spPr>
          <a:xfrm xmlns:a="http://schemas.openxmlformats.org/drawingml/2006/main">
            <a:off x="2571951" y="3108865"/>
            <a:ext cx="19050" cy="6820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3717CB0-5927-4FEA-84C6-F31FACD1011B}"/>
              </a:ext>
            </a:extLst>
          </p:cNvPr>
          <p:cNvSpPr>
            <a:spLocks xmlns:a="http://schemas.openxmlformats.org/drawingml/2006/main" noGrp="1"/>
          </p:cNvSpPr>
          <p:nvPr/>
        </p:nvSpPr>
        <p:spPr>
          <a:xfrm xmlns:a="http://schemas.openxmlformats.org/drawingml/2006/main">
            <a:off x="2973906" y="3460242"/>
            <a:ext cx="19050" cy="3307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79B415-84D2-47F5-8442-3B95A3D11126}"/>
              </a:ext>
            </a:extLst>
          </p:cNvPr>
          <p:cNvSpPr>
            <a:spLocks xmlns:a="http://schemas.openxmlformats.org/drawingml/2006/main" noGrp="1"/>
          </p:cNvSpPr>
          <p:nvPr/>
        </p:nvSpPr>
        <p:spPr>
          <a:xfrm xmlns:a="http://schemas.openxmlformats.org/drawingml/2006/main">
            <a:off x="3164305" y="3563588"/>
            <a:ext cx="19050" cy="22736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A3D9E85-1269-42FF-8B2E-32A0EE735984}"/>
              </a:ext>
            </a:extLst>
          </p:cNvPr>
          <p:cNvSpPr>
            <a:spLocks xmlns:a="http://schemas.openxmlformats.org/drawingml/2006/main" noGrp="1"/>
          </p:cNvSpPr>
          <p:nvPr/>
        </p:nvSpPr>
        <p:spPr>
          <a:xfrm xmlns:a="http://schemas.openxmlformats.org/drawingml/2006/main">
            <a:off x="3714349" y="1724025"/>
            <a:ext cx="19050" cy="20669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CBD1384-4EB6-4C6A-975F-56377DB3A016}"/>
              </a:ext>
            </a:extLst>
          </p:cNvPr>
          <p:cNvSpPr>
            <a:spLocks xmlns:a="http://schemas.openxmlformats.org/drawingml/2006/main" noGrp="1"/>
          </p:cNvSpPr>
          <p:nvPr/>
        </p:nvSpPr>
        <p:spPr>
          <a:xfrm xmlns:a="http://schemas.openxmlformats.org/drawingml/2006/main">
            <a:off x="4095148" y="3646265"/>
            <a:ext cx="19050" cy="144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3F3187B-E957-479B-8870-9732F9E2466B}"/>
              </a:ext>
            </a:extLst>
          </p:cNvPr>
          <p:cNvSpPr>
            <a:spLocks xmlns:a="http://schemas.openxmlformats.org/drawingml/2006/main" noGrp="1"/>
          </p:cNvSpPr>
          <p:nvPr/>
        </p:nvSpPr>
        <p:spPr>
          <a:xfrm xmlns:a="http://schemas.openxmlformats.org/drawingml/2006/main">
            <a:off x="4370170" y="2695480"/>
            <a:ext cx="19050" cy="109547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91EC8D0-70E3-461B-81A0-6E018DEFB78C}"/>
              </a:ext>
            </a:extLst>
          </p:cNvPr>
          <p:cNvSpPr>
            <a:spLocks xmlns:a="http://schemas.openxmlformats.org/drawingml/2006/main" noGrp="1"/>
          </p:cNvSpPr>
          <p:nvPr/>
        </p:nvSpPr>
        <p:spPr>
          <a:xfrm xmlns:a="http://schemas.openxmlformats.org/drawingml/2006/main">
            <a:off x="4729814" y="3480911"/>
            <a:ext cx="19050" cy="31003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070DA4E-FD6B-48EB-BF48-D46921505B1C}"/>
              </a:ext>
            </a:extLst>
          </p:cNvPr>
          <p:cNvSpPr>
            <a:spLocks xmlns:a="http://schemas.openxmlformats.org/drawingml/2006/main" noGrp="1"/>
          </p:cNvSpPr>
          <p:nvPr/>
        </p:nvSpPr>
        <p:spPr>
          <a:xfrm xmlns:a="http://schemas.openxmlformats.org/drawingml/2006/main">
            <a:off x="1154530"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2F69F92-C3E9-4D11-BC2D-92D8A7FCBD82}"/>
              </a:ext>
            </a:extLst>
          </p:cNvPr>
          <p:cNvSpPr>
            <a:spLocks xmlns:a="http://schemas.openxmlformats.org/drawingml/2006/main" noGrp="1"/>
          </p:cNvSpPr>
          <p:nvPr/>
        </p:nvSpPr>
        <p:spPr>
          <a:xfrm xmlns:a="http://schemas.openxmlformats.org/drawingml/2006/main">
            <a:off x="935455"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50</a:t>
            </a:r>
          </a:p>
        </p:txBody>
      </p:sp>
      <p:sp>
        <p:nvSpPr>
          <p:cNvPr id="33" name="">
            <a:extLst xmlns:a="http://schemas.openxmlformats.org/drawingml/2006/main">
              <a:ext uri="{FF2B5EF4-FFF2-40B4-BE49-F238E27FC236}">
                <a16:creationId xmlns:a16="http://schemas.microsoft.com/office/drawing/2014/main" id="{54774611-240E-4ADF-868B-38E6413E3A23}"/>
              </a:ext>
            </a:extLst>
          </p:cNvPr>
          <p:cNvSpPr>
            <a:spLocks xmlns:a="http://schemas.openxmlformats.org/drawingml/2006/main" noGrp="1"/>
          </p:cNvSpPr>
          <p:nvPr/>
        </p:nvSpPr>
        <p:spPr>
          <a:xfrm xmlns:a="http://schemas.openxmlformats.org/drawingml/2006/main">
            <a:off x="2212307"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3D8C0BC-16FA-4BEC-9693-10C920163AE5}"/>
              </a:ext>
            </a:extLst>
          </p:cNvPr>
          <p:cNvSpPr>
            <a:spLocks xmlns:a="http://schemas.openxmlformats.org/drawingml/2006/main" noGrp="1"/>
          </p:cNvSpPr>
          <p:nvPr/>
        </p:nvSpPr>
        <p:spPr>
          <a:xfrm xmlns:a="http://schemas.openxmlformats.org/drawingml/2006/main">
            <a:off x="1993232"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100</a:t>
            </a:r>
          </a:p>
        </p:txBody>
      </p:sp>
      <p:sp>
        <p:nvSpPr>
          <p:cNvPr id="35" name="">
            <a:extLst xmlns:a="http://schemas.openxmlformats.org/drawingml/2006/main">
              <a:ext uri="{FF2B5EF4-FFF2-40B4-BE49-F238E27FC236}">
                <a16:creationId xmlns:a16="http://schemas.microsoft.com/office/drawing/2014/main" id="{9F692DE7-A2BE-432C-9F4B-3AC98FCF1AF5}"/>
              </a:ext>
            </a:extLst>
          </p:cNvPr>
          <p:cNvSpPr>
            <a:spLocks xmlns:a="http://schemas.openxmlformats.org/drawingml/2006/main" noGrp="1"/>
          </p:cNvSpPr>
          <p:nvPr/>
        </p:nvSpPr>
        <p:spPr>
          <a:xfrm xmlns:a="http://schemas.openxmlformats.org/drawingml/2006/main">
            <a:off x="3270083"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5EA7C72-EB67-40AC-96A9-7170F7D4F995}"/>
              </a:ext>
            </a:extLst>
          </p:cNvPr>
          <p:cNvSpPr>
            <a:spLocks xmlns:a="http://schemas.openxmlformats.org/drawingml/2006/main" noGrp="1"/>
          </p:cNvSpPr>
          <p:nvPr/>
        </p:nvSpPr>
        <p:spPr>
          <a:xfrm xmlns:a="http://schemas.openxmlformats.org/drawingml/2006/main">
            <a:off x="3051008"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150</a:t>
            </a:r>
          </a:p>
        </p:txBody>
      </p:sp>
      <p:sp>
        <p:nvSpPr>
          <p:cNvPr id="37" name="">
            <a:extLst xmlns:a="http://schemas.openxmlformats.org/drawingml/2006/main">
              <a:ext uri="{FF2B5EF4-FFF2-40B4-BE49-F238E27FC236}">
                <a16:creationId xmlns:a16="http://schemas.microsoft.com/office/drawing/2014/main" id="{BCE0F596-D2B2-42B5-98C0-D12495F5D5A0}"/>
              </a:ext>
            </a:extLst>
          </p:cNvPr>
          <p:cNvSpPr>
            <a:spLocks xmlns:a="http://schemas.openxmlformats.org/drawingml/2006/main" noGrp="1"/>
          </p:cNvSpPr>
          <p:nvPr/>
        </p:nvSpPr>
        <p:spPr>
          <a:xfrm xmlns:a="http://schemas.openxmlformats.org/drawingml/2006/main">
            <a:off x="4327859"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7EB12CC-4DF9-457E-A6D0-481A09E0FB4E}"/>
              </a:ext>
            </a:extLst>
          </p:cNvPr>
          <p:cNvSpPr>
            <a:spLocks xmlns:a="http://schemas.openxmlformats.org/drawingml/2006/main" noGrp="1"/>
          </p:cNvSpPr>
          <p:nvPr/>
        </p:nvSpPr>
        <p:spPr>
          <a:xfrm xmlns:a="http://schemas.openxmlformats.org/drawingml/2006/main">
            <a:off x="4108784"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200</a:t>
            </a:r>
          </a:p>
        </p:txBody>
      </p:sp>
      <p:sp>
        <p:nvSpPr>
          <p:cNvPr id="39" name="">
            <a:extLst xmlns:a="http://schemas.openxmlformats.org/drawingml/2006/main">
              <a:ext uri="{FF2B5EF4-FFF2-40B4-BE49-F238E27FC236}">
                <a16:creationId xmlns:a16="http://schemas.microsoft.com/office/drawing/2014/main" id="{8A45C2EE-FA53-4767-AC9E-51A3433DBE0B}"/>
              </a:ext>
            </a:extLst>
          </p:cNvPr>
          <p:cNvSpPr>
            <a:spLocks xmlns:a="http://schemas.openxmlformats.org/drawingml/2006/main" noGrp="1"/>
          </p:cNvSpPr>
          <p:nvPr/>
        </p:nvSpPr>
        <p:spPr>
          <a:xfrm xmlns:a="http://schemas.openxmlformats.org/drawingml/2006/main">
            <a:off x="2714625" y="40195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0" i="0">
                <a:solidFill>
                  <a:srgbClr val="111111"/>
                </a:solidFill>
                <a:latin typeface="Microsoft YaHei"/>
                <a:ea typeface="Microsoft YaHei"/>
                <a:cs typeface="Microsoft YaHei"/>
              </a:defRPr>
            </a:pPr>
            <a:r>
              <a:rPr sz="900" b="0" i="0">
                <a:solidFill>
                  <a:srgbClr val="111111"/>
                </a:solidFill>
                <a:latin typeface="Microsoft YaHei"/>
                <a:ea typeface="Microsoft YaHei"/>
                <a:cs typeface="Microsoft YaHei"/>
              </a:rPr>
              <a:t>m/z</a:t>
            </a:r>
          </a:p>
        </p:txBody>
      </p:sp>
      <p:sp>
        <p:nvSpPr>
          <p:cNvPr id="40" name="">
            <a:extLst xmlns:a="http://schemas.openxmlformats.org/drawingml/2006/main">
              <a:ext uri="{FF2B5EF4-FFF2-40B4-BE49-F238E27FC236}">
                <a16:creationId xmlns:a16="http://schemas.microsoft.com/office/drawing/2014/main" id="{AA5EB5AC-1FBE-4537-8809-A83BBB7251CC}"/>
              </a:ext>
            </a:extLst>
          </p:cNvPr>
          <p:cNvSpPr>
            <a:spLocks xmlns:a="http://schemas.openxmlformats.org/drawingml/2006/main" noGrp="1"/>
          </p:cNvSpPr>
          <p:nvPr/>
        </p:nvSpPr>
        <p:spPr>
          <a:xfrm xmlns:a="http://schemas.openxmlformats.org/drawingml/2006/main">
            <a:off x="428625" y="4362450"/>
            <a:ext cx="4762500" cy="10668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1" name="">
            <a:extLst xmlns:a="http://schemas.openxmlformats.org/drawingml/2006/main">
              <a:ext uri="{FF2B5EF4-FFF2-40B4-BE49-F238E27FC236}">
                <a16:creationId xmlns:a16="http://schemas.microsoft.com/office/drawing/2014/main" id="{10E21DCC-B694-4338-A48B-D9443D8F547E}"/>
              </a:ext>
            </a:extLst>
          </p:cNvPr>
          <p:cNvSpPr>
            <a:spLocks xmlns:a="http://schemas.openxmlformats.org/drawingml/2006/main" noGrp="1"/>
          </p:cNvSpPr>
          <p:nvPr/>
        </p:nvSpPr>
        <p:spPr>
          <a:xfrm xmlns:a="http://schemas.openxmlformats.org/drawingml/2006/main">
            <a:off x="600075" y="450532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峰表</a:t>
            </a:r>
          </a:p>
        </p:txBody>
      </p:sp>
      <p:sp>
        <p:nvSpPr>
          <p:cNvPr id="42" name="">
            <a:extLst xmlns:a="http://schemas.openxmlformats.org/drawingml/2006/main">
              <a:ext uri="{FF2B5EF4-FFF2-40B4-BE49-F238E27FC236}">
                <a16:creationId xmlns:a16="http://schemas.microsoft.com/office/drawing/2014/main" id="{0E121888-CAB0-4DA2-809C-D6D6978BD19F}"/>
              </a:ext>
            </a:extLst>
          </p:cNvPr>
          <p:cNvSpPr>
            <a:spLocks xmlns:a="http://schemas.openxmlformats.org/drawingml/2006/main" noGrp="1"/>
          </p:cNvSpPr>
          <p:nvPr/>
        </p:nvSpPr>
        <p:spPr>
          <a:xfrm xmlns:a="http://schemas.openxmlformats.org/drawingml/2006/main">
            <a:off x="1428750" y="4505325"/>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[(m/z₁, intensity₁), …, (m/zₙ, intensityₙ)]</a:t>
            </a:r>
          </a:p>
        </p:txBody>
      </p:sp>
      <p:sp>
        <p:nvSpPr>
          <p:cNvPr id="43" name="">
            <a:extLst xmlns:a="http://schemas.openxmlformats.org/drawingml/2006/main">
              <a:ext uri="{FF2B5EF4-FFF2-40B4-BE49-F238E27FC236}">
                <a16:creationId xmlns:a16="http://schemas.microsoft.com/office/drawing/2014/main" id="{75586CCD-8A6B-468A-8F18-51DBA1C31B90}"/>
              </a:ext>
            </a:extLst>
          </p:cNvPr>
          <p:cNvSpPr>
            <a:spLocks xmlns:a="http://schemas.openxmlformats.org/drawingml/2006/main" noGrp="1"/>
          </p:cNvSpPr>
          <p:nvPr/>
        </p:nvSpPr>
        <p:spPr>
          <a:xfrm xmlns:a="http://schemas.openxmlformats.org/drawingml/2006/main">
            <a:off x="600075" y="4914900"/>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元数据</a:t>
            </a:r>
          </a:p>
        </p:txBody>
      </p:sp>
      <p:sp>
        <p:nvSpPr>
          <p:cNvPr id="44" name="">
            <a:extLst xmlns:a="http://schemas.openxmlformats.org/drawingml/2006/main">
              <a:ext uri="{FF2B5EF4-FFF2-40B4-BE49-F238E27FC236}">
                <a16:creationId xmlns:a16="http://schemas.microsoft.com/office/drawing/2014/main" id="{3B39780C-A090-4957-B5A3-192064FD2752}"/>
              </a:ext>
            </a:extLst>
          </p:cNvPr>
          <p:cNvSpPr>
            <a:spLocks xmlns:a="http://schemas.openxmlformats.org/drawingml/2006/main" noGrp="1"/>
          </p:cNvSpPr>
          <p:nvPr/>
        </p:nvSpPr>
        <p:spPr>
          <a:xfrm xmlns:a="http://schemas.openxmlformats.org/drawingml/2006/main">
            <a:off x="1428750" y="48577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28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前体 m/z、离子模式、加合离子（adduct）、碰撞能（可用时）</a:t>
            </a:r>
          </a:p>
        </p:txBody>
      </p:sp>
      <p:sp>
        <p:nvSpPr>
          <p:cNvPr id="45" name="">
            <a:extLst xmlns:a="http://schemas.openxmlformats.org/drawingml/2006/main">
              <a:ext uri="{FF2B5EF4-FFF2-40B4-BE49-F238E27FC236}">
                <a16:creationId xmlns:a16="http://schemas.microsoft.com/office/drawing/2014/main" id="{574925E3-DAEE-487B-8CC9-060810EF33E0}"/>
              </a:ext>
            </a:extLst>
          </p:cNvPr>
          <p:cNvSpPr>
            <a:spLocks xmlns:a="http://schemas.openxmlformats.org/drawingml/2006/main" noGrp="1"/>
          </p:cNvSpPr>
          <p:nvPr/>
        </p:nvSpPr>
        <p:spPr>
          <a:xfrm xmlns:a="http://schemas.openxmlformats.org/drawingml/2006/main">
            <a:off x="5429250" y="2876550"/>
            <a:ext cx="523875" cy="3429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F3A885-609D-4D63-914B-D7C60018E534}"/>
              </a:ext>
            </a:extLst>
          </p:cNvPr>
          <p:cNvSpPr>
            <a:spLocks xmlns:a="http://schemas.openxmlformats.org/drawingml/2006/main" noGrp="1"/>
          </p:cNvSpPr>
          <p:nvPr/>
        </p:nvSpPr>
        <p:spPr>
          <a:xfrm xmlns:a="http://schemas.openxmlformats.org/drawingml/2006/main">
            <a:off x="6191250" y="876300"/>
            <a:ext cx="44767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410F665-C680-4435-A1C6-3E10A7C1CD76}"/>
              </a:ext>
            </a:extLst>
          </p:cNvPr>
          <p:cNvSpPr>
            <a:spLocks xmlns:a="http://schemas.openxmlformats.org/drawingml/2006/main" noGrp="1"/>
          </p:cNvSpPr>
          <p:nvPr/>
        </p:nvSpPr>
        <p:spPr>
          <a:xfrm xmlns:a="http://schemas.openxmlformats.org/drawingml/2006/main">
            <a:off x="6267450" y="904875"/>
            <a:ext cx="432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输出：同分子式候选及 DreaMS 置信分数</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a0784df31a7d4cdf"/>
          <a:stretch xmlns:a="http://schemas.openxmlformats.org/drawingml/2006/main"/>
        </p:blipFill>
        <p:spPr>
          <a:xfrm xmlns:a="http://schemas.openxmlformats.org/drawingml/2006/main">
            <a:off x="6610350" y="1219200"/>
            <a:ext cx="876300" cy="876300"/>
          </a:xfrm>
          <a:prstGeom xmlns:a="http://schemas.openxmlformats.org/drawingml/2006/main" prst="rect">
            <a:avLst/>
          </a:prstGeom>
        </p:spPr>
      </p:pic>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b8641786b80e4b4a"/>
          <a:stretch xmlns:a="http://schemas.openxmlformats.org/drawingml/2006/main"/>
        </p:blipFill>
        <p:spPr>
          <a:xfrm xmlns:a="http://schemas.openxmlformats.org/drawingml/2006/main">
            <a:off x="10086975" y="1219200"/>
            <a:ext cx="876300" cy="8763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67D969C8-2DD4-4F7B-9148-8EF70FFBE3A1}"/>
              </a:ext>
            </a:extLst>
          </p:cNvPr>
          <p:cNvSpPr>
            <a:spLocks xmlns:a="http://schemas.openxmlformats.org/drawingml/2006/main" noGrp="1"/>
          </p:cNvSpPr>
          <p:nvPr/>
        </p:nvSpPr>
        <p:spPr>
          <a:xfrm xmlns:a="http://schemas.openxmlformats.org/drawingml/2006/main">
            <a:off x="6143625" y="2076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真实结构：Cabreuvin</a:t>
            </a:r>
          </a:p>
        </p:txBody>
      </p:sp>
      <p:sp>
        <p:nvSpPr>
          <p:cNvPr id="51" name="">
            <a:extLst xmlns:a="http://schemas.openxmlformats.org/drawingml/2006/main">
              <a:ext uri="{FF2B5EF4-FFF2-40B4-BE49-F238E27FC236}">
                <a16:creationId xmlns:a16="http://schemas.microsoft.com/office/drawing/2014/main" id="{2605B5E3-FCF9-4E15-8A25-0FCFFC64892E}"/>
              </a:ext>
            </a:extLst>
          </p:cNvPr>
          <p:cNvSpPr>
            <a:spLocks xmlns:a="http://schemas.openxmlformats.org/drawingml/2006/main" noGrp="1"/>
          </p:cNvSpPr>
          <p:nvPr/>
        </p:nvSpPr>
        <p:spPr>
          <a:xfrm xmlns:a="http://schemas.openxmlformats.org/drawingml/2006/main">
            <a:off x="9715500" y="207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DreaMS 原 Top-1</a:t>
            </a:r>
          </a:p>
        </p:txBody>
      </p:sp>
      <p:sp>
        <p:nvSpPr>
          <p:cNvPr id="52" name="">
            <a:extLst xmlns:a="http://schemas.openxmlformats.org/drawingml/2006/main">
              <a:ext uri="{FF2B5EF4-FFF2-40B4-BE49-F238E27FC236}">
                <a16:creationId xmlns:a16="http://schemas.microsoft.com/office/drawing/2014/main" id="{93164BB7-D4FB-44EB-ABDA-0657B7A60AA9}"/>
              </a:ext>
            </a:extLst>
          </p:cNvPr>
          <p:cNvSpPr>
            <a:spLocks xmlns:a="http://schemas.openxmlformats.org/drawingml/2006/main" noGrp="1"/>
          </p:cNvSpPr>
          <p:nvPr/>
        </p:nvSpPr>
        <p:spPr>
          <a:xfrm xmlns:a="http://schemas.openxmlformats.org/drawingml/2006/main">
            <a:off x="6096000" y="2457450"/>
            <a:ext cx="40005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3" name="">
            <a:extLst xmlns:a="http://schemas.openxmlformats.org/drawingml/2006/main">
              <a:ext uri="{FF2B5EF4-FFF2-40B4-BE49-F238E27FC236}">
                <a16:creationId xmlns:a16="http://schemas.microsoft.com/office/drawing/2014/main" id="{32966287-9FAD-43EB-9EEC-381B8D1E29A9}"/>
              </a:ext>
            </a:extLst>
          </p:cNvPr>
          <p:cNvSpPr>
            <a:spLocks xmlns:a="http://schemas.openxmlformats.org/drawingml/2006/main" noGrp="1"/>
          </p:cNvSpPr>
          <p:nvPr/>
        </p:nvSpPr>
        <p:spPr>
          <a:xfrm xmlns:a="http://schemas.openxmlformats.org/drawingml/2006/main">
            <a:off x="6134100" y="2514600"/>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097"/>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名次</a:t>
            </a:r>
          </a:p>
        </p:txBody>
      </p:sp>
      <p:sp>
        <p:nvSpPr>
          <p:cNvPr id="54" name="">
            <a:extLst xmlns:a="http://schemas.openxmlformats.org/drawingml/2006/main">
              <a:ext uri="{FF2B5EF4-FFF2-40B4-BE49-F238E27FC236}">
                <a16:creationId xmlns:a16="http://schemas.microsoft.com/office/drawing/2014/main" id="{6A6E2920-E127-4D87-B370-3F2A7D951503}"/>
              </a:ext>
            </a:extLst>
          </p:cNvPr>
          <p:cNvSpPr>
            <a:spLocks xmlns:a="http://schemas.openxmlformats.org/drawingml/2006/main" noGrp="1"/>
          </p:cNvSpPr>
          <p:nvPr/>
        </p:nvSpPr>
        <p:spPr>
          <a:xfrm xmlns:a="http://schemas.openxmlformats.org/drawingml/2006/main">
            <a:off x="6496050" y="2457450"/>
            <a:ext cx="2886075"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5" name="">
            <a:extLst xmlns:a="http://schemas.openxmlformats.org/drawingml/2006/main">
              <a:ext uri="{FF2B5EF4-FFF2-40B4-BE49-F238E27FC236}">
                <a16:creationId xmlns:a16="http://schemas.microsoft.com/office/drawing/2014/main" id="{3D5C8065-B70A-464B-8299-B1C861206841}"/>
              </a:ext>
            </a:extLst>
          </p:cNvPr>
          <p:cNvSpPr>
            <a:spLocks xmlns:a="http://schemas.openxmlformats.org/drawingml/2006/main" noGrp="1"/>
          </p:cNvSpPr>
          <p:nvPr/>
        </p:nvSpPr>
        <p:spPr>
          <a:xfrm xmlns:a="http://schemas.openxmlformats.org/drawingml/2006/main">
            <a:off x="6534150" y="2514600"/>
            <a:ext cx="2809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候选结构</a:t>
            </a:r>
          </a:p>
        </p:txBody>
      </p:sp>
      <p:sp>
        <p:nvSpPr>
          <p:cNvPr id="56" name="">
            <a:extLst xmlns:a="http://schemas.openxmlformats.org/drawingml/2006/main">
              <a:ext uri="{FF2B5EF4-FFF2-40B4-BE49-F238E27FC236}">
                <a16:creationId xmlns:a16="http://schemas.microsoft.com/office/drawing/2014/main" id="{5BD831D7-C9D5-483C-B546-D69F9F74A90F}"/>
              </a:ext>
            </a:extLst>
          </p:cNvPr>
          <p:cNvSpPr>
            <a:spLocks xmlns:a="http://schemas.openxmlformats.org/drawingml/2006/main" noGrp="1"/>
          </p:cNvSpPr>
          <p:nvPr/>
        </p:nvSpPr>
        <p:spPr>
          <a:xfrm xmlns:a="http://schemas.openxmlformats.org/drawingml/2006/main">
            <a:off x="9382125" y="2457450"/>
            <a:ext cx="87630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7" name="">
            <a:extLst xmlns:a="http://schemas.openxmlformats.org/drawingml/2006/main">
              <a:ext uri="{FF2B5EF4-FFF2-40B4-BE49-F238E27FC236}">
                <a16:creationId xmlns:a16="http://schemas.microsoft.com/office/drawing/2014/main" id="{72AD7B91-A011-49E7-BA99-7F49EE0336AD}"/>
              </a:ext>
            </a:extLst>
          </p:cNvPr>
          <p:cNvSpPr>
            <a:spLocks xmlns:a="http://schemas.openxmlformats.org/drawingml/2006/main" noGrp="1"/>
          </p:cNvSpPr>
          <p:nvPr/>
        </p:nvSpPr>
        <p:spPr>
          <a:xfrm xmlns:a="http://schemas.openxmlformats.org/drawingml/2006/main">
            <a:off x="9420225" y="2514600"/>
            <a:ext cx="800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分子式</a:t>
            </a:r>
          </a:p>
        </p:txBody>
      </p:sp>
      <p:sp>
        <p:nvSpPr>
          <p:cNvPr id="58" name="">
            <a:extLst xmlns:a="http://schemas.openxmlformats.org/drawingml/2006/main">
              <a:ext uri="{FF2B5EF4-FFF2-40B4-BE49-F238E27FC236}">
                <a16:creationId xmlns:a16="http://schemas.microsoft.com/office/drawing/2014/main" id="{C89B0E02-2DC7-406B-90C1-4052AC9409B7}"/>
              </a:ext>
            </a:extLst>
          </p:cNvPr>
          <p:cNvSpPr>
            <a:spLocks xmlns:a="http://schemas.openxmlformats.org/drawingml/2006/main" noGrp="1"/>
          </p:cNvSpPr>
          <p:nvPr/>
        </p:nvSpPr>
        <p:spPr>
          <a:xfrm xmlns:a="http://schemas.openxmlformats.org/drawingml/2006/main">
            <a:off x="10258425" y="2457450"/>
            <a:ext cx="106680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9" name="">
            <a:extLst xmlns:a="http://schemas.openxmlformats.org/drawingml/2006/main">
              <a:ext uri="{FF2B5EF4-FFF2-40B4-BE49-F238E27FC236}">
                <a16:creationId xmlns:a16="http://schemas.microsoft.com/office/drawing/2014/main" id="{FBC43272-305D-4605-B9CE-1CB1A5DD7790}"/>
              </a:ext>
            </a:extLst>
          </p:cNvPr>
          <p:cNvSpPr>
            <a:spLocks xmlns:a="http://schemas.openxmlformats.org/drawingml/2006/main" noGrp="1"/>
          </p:cNvSpPr>
          <p:nvPr/>
        </p:nvSpPr>
        <p:spPr>
          <a:xfrm xmlns:a="http://schemas.openxmlformats.org/drawingml/2006/main">
            <a:off x="10296525" y="2514600"/>
            <a:ext cx="990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置信分数</a:t>
            </a:r>
          </a:p>
        </p:txBody>
      </p:sp>
      <p:sp>
        <p:nvSpPr>
          <p:cNvPr id="60" name="">
            <a:extLst xmlns:a="http://schemas.openxmlformats.org/drawingml/2006/main">
              <a:ext uri="{FF2B5EF4-FFF2-40B4-BE49-F238E27FC236}">
                <a16:creationId xmlns:a16="http://schemas.microsoft.com/office/drawing/2014/main" id="{03AAEBF7-77C7-43B1-B217-99813BF01F46}"/>
              </a:ext>
            </a:extLst>
          </p:cNvPr>
          <p:cNvSpPr>
            <a:spLocks xmlns:a="http://schemas.openxmlformats.org/drawingml/2006/main" noGrp="1"/>
          </p:cNvSpPr>
          <p:nvPr/>
        </p:nvSpPr>
        <p:spPr>
          <a:xfrm xmlns:a="http://schemas.openxmlformats.org/drawingml/2006/main">
            <a:off x="6096000" y="280035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0F74883D-ADB7-4A3D-B822-27D597B8FAF0}"/>
              </a:ext>
            </a:extLst>
          </p:cNvPr>
          <p:cNvSpPr>
            <a:spLocks xmlns:a="http://schemas.openxmlformats.org/drawingml/2006/main" noGrp="1"/>
          </p:cNvSpPr>
          <p:nvPr/>
        </p:nvSpPr>
        <p:spPr>
          <a:xfrm xmlns:a="http://schemas.openxmlformats.org/drawingml/2006/main">
            <a:off x="6143625" y="2838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1</a:t>
            </a:r>
          </a:p>
        </p:txBody>
      </p:sp>
      <p:sp>
        <p:nvSpPr>
          <p:cNvPr id="62" name="">
            <a:extLst xmlns:a="http://schemas.openxmlformats.org/drawingml/2006/main">
              <a:ext uri="{FF2B5EF4-FFF2-40B4-BE49-F238E27FC236}">
                <a16:creationId xmlns:a16="http://schemas.microsoft.com/office/drawing/2014/main" id="{4ADF5CB1-B69A-4C19-8AC7-92FFF262BFE0}"/>
              </a:ext>
            </a:extLst>
          </p:cNvPr>
          <p:cNvSpPr>
            <a:spLocks xmlns:a="http://schemas.openxmlformats.org/drawingml/2006/main" noGrp="1"/>
          </p:cNvSpPr>
          <p:nvPr/>
        </p:nvSpPr>
        <p:spPr>
          <a:xfrm xmlns:a="http://schemas.openxmlformats.org/drawingml/2006/main">
            <a:off x="6496050" y="280035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3" name="">
            <a:extLst xmlns:a="http://schemas.openxmlformats.org/drawingml/2006/main">
              <a:ext uri="{FF2B5EF4-FFF2-40B4-BE49-F238E27FC236}">
                <a16:creationId xmlns:a16="http://schemas.microsoft.com/office/drawing/2014/main" id="{03621048-57CE-4375-971D-21865CE71CB1}"/>
              </a:ext>
            </a:extLst>
          </p:cNvPr>
          <p:cNvSpPr>
            <a:spLocks xmlns:a="http://schemas.openxmlformats.org/drawingml/2006/main" noGrp="1"/>
          </p:cNvSpPr>
          <p:nvPr/>
        </p:nvSpPr>
        <p:spPr>
          <a:xfrm xmlns:a="http://schemas.openxmlformats.org/drawingml/2006/main">
            <a:off x="6543675" y="283845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3',4',7-Trimethoxyflavone</a:t>
            </a:r>
          </a:p>
        </p:txBody>
      </p:sp>
      <p:sp>
        <p:nvSpPr>
          <p:cNvPr id="64" name="">
            <a:extLst xmlns:a="http://schemas.openxmlformats.org/drawingml/2006/main">
              <a:ext uri="{FF2B5EF4-FFF2-40B4-BE49-F238E27FC236}">
                <a16:creationId xmlns:a16="http://schemas.microsoft.com/office/drawing/2014/main" id="{DDF322E0-C819-4285-9B99-FF971EB4812E}"/>
              </a:ext>
            </a:extLst>
          </p:cNvPr>
          <p:cNvSpPr>
            <a:spLocks xmlns:a="http://schemas.openxmlformats.org/drawingml/2006/main" noGrp="1"/>
          </p:cNvSpPr>
          <p:nvPr/>
        </p:nvSpPr>
        <p:spPr>
          <a:xfrm xmlns:a="http://schemas.openxmlformats.org/drawingml/2006/main">
            <a:off x="9382125" y="280035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5" name="">
            <a:extLst xmlns:a="http://schemas.openxmlformats.org/drawingml/2006/main">
              <a:ext uri="{FF2B5EF4-FFF2-40B4-BE49-F238E27FC236}">
                <a16:creationId xmlns:a16="http://schemas.microsoft.com/office/drawing/2014/main" id="{AB5882E9-0AE2-48B2-A4E6-0B52E1FD3B2F}"/>
              </a:ext>
            </a:extLst>
          </p:cNvPr>
          <p:cNvSpPr>
            <a:spLocks xmlns:a="http://schemas.openxmlformats.org/drawingml/2006/main" noGrp="1"/>
          </p:cNvSpPr>
          <p:nvPr/>
        </p:nvSpPr>
        <p:spPr>
          <a:xfrm xmlns:a="http://schemas.openxmlformats.org/drawingml/2006/main">
            <a:off x="9429750" y="283845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66" name="">
            <a:extLst xmlns:a="http://schemas.openxmlformats.org/drawingml/2006/main">
              <a:ext uri="{FF2B5EF4-FFF2-40B4-BE49-F238E27FC236}">
                <a16:creationId xmlns:a16="http://schemas.microsoft.com/office/drawing/2014/main" id="{DDD3B5A3-A176-48E2-B325-4058D0C25782}"/>
              </a:ext>
            </a:extLst>
          </p:cNvPr>
          <p:cNvSpPr>
            <a:spLocks xmlns:a="http://schemas.openxmlformats.org/drawingml/2006/main" noGrp="1"/>
          </p:cNvSpPr>
          <p:nvPr/>
        </p:nvSpPr>
        <p:spPr>
          <a:xfrm xmlns:a="http://schemas.openxmlformats.org/drawingml/2006/main">
            <a:off x="10258425" y="280035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7" name="">
            <a:extLst xmlns:a="http://schemas.openxmlformats.org/drawingml/2006/main">
              <a:ext uri="{FF2B5EF4-FFF2-40B4-BE49-F238E27FC236}">
                <a16:creationId xmlns:a16="http://schemas.microsoft.com/office/drawing/2014/main" id="{03CE0463-8251-4592-B54E-C7B0842E911B}"/>
              </a:ext>
            </a:extLst>
          </p:cNvPr>
          <p:cNvSpPr>
            <a:spLocks xmlns:a="http://schemas.openxmlformats.org/drawingml/2006/main" noGrp="1"/>
          </p:cNvSpPr>
          <p:nvPr/>
        </p:nvSpPr>
        <p:spPr>
          <a:xfrm xmlns:a="http://schemas.openxmlformats.org/drawingml/2006/main">
            <a:off x="10306050" y="283845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0.897</a:t>
            </a:r>
          </a:p>
        </p:txBody>
      </p:sp>
      <p:sp>
        <p:nvSpPr>
          <p:cNvPr id="68" name="">
            <a:extLst xmlns:a="http://schemas.openxmlformats.org/drawingml/2006/main">
              <a:ext uri="{FF2B5EF4-FFF2-40B4-BE49-F238E27FC236}">
                <a16:creationId xmlns:a16="http://schemas.microsoft.com/office/drawing/2014/main" id="{B4965CD1-7B31-4B4F-A3D2-D179D324414D}"/>
              </a:ext>
            </a:extLst>
          </p:cNvPr>
          <p:cNvSpPr>
            <a:spLocks xmlns:a="http://schemas.openxmlformats.org/drawingml/2006/main" noGrp="1"/>
          </p:cNvSpPr>
          <p:nvPr/>
        </p:nvSpPr>
        <p:spPr>
          <a:xfrm xmlns:a="http://schemas.openxmlformats.org/drawingml/2006/main">
            <a:off x="6096000" y="3209925"/>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9" name="">
            <a:extLst xmlns:a="http://schemas.openxmlformats.org/drawingml/2006/main">
              <a:ext uri="{FF2B5EF4-FFF2-40B4-BE49-F238E27FC236}">
                <a16:creationId xmlns:a16="http://schemas.microsoft.com/office/drawing/2014/main" id="{8DF5B23E-0D6C-43ED-8FE7-D326698E541B}"/>
              </a:ext>
            </a:extLst>
          </p:cNvPr>
          <p:cNvSpPr>
            <a:spLocks xmlns:a="http://schemas.openxmlformats.org/drawingml/2006/main" noGrp="1"/>
          </p:cNvSpPr>
          <p:nvPr/>
        </p:nvSpPr>
        <p:spPr>
          <a:xfrm xmlns:a="http://schemas.openxmlformats.org/drawingml/2006/main">
            <a:off x="6143625" y="32480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2</a:t>
            </a:r>
          </a:p>
        </p:txBody>
      </p:sp>
      <p:sp>
        <p:nvSpPr>
          <p:cNvPr id="70" name="">
            <a:extLst xmlns:a="http://schemas.openxmlformats.org/drawingml/2006/main">
              <a:ext uri="{FF2B5EF4-FFF2-40B4-BE49-F238E27FC236}">
                <a16:creationId xmlns:a16="http://schemas.microsoft.com/office/drawing/2014/main" id="{DF2C6ED8-14E3-4606-A91E-DFDE5732B597}"/>
              </a:ext>
            </a:extLst>
          </p:cNvPr>
          <p:cNvSpPr>
            <a:spLocks xmlns:a="http://schemas.openxmlformats.org/drawingml/2006/main" noGrp="1"/>
          </p:cNvSpPr>
          <p:nvPr/>
        </p:nvSpPr>
        <p:spPr>
          <a:xfrm xmlns:a="http://schemas.openxmlformats.org/drawingml/2006/main">
            <a:off x="6496050" y="3209925"/>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1" name="">
            <a:extLst xmlns:a="http://schemas.openxmlformats.org/drawingml/2006/main">
              <a:ext uri="{FF2B5EF4-FFF2-40B4-BE49-F238E27FC236}">
                <a16:creationId xmlns:a16="http://schemas.microsoft.com/office/drawing/2014/main" id="{D1364A4B-36B4-4953-A89C-0BDF71A0ACE5}"/>
              </a:ext>
            </a:extLst>
          </p:cNvPr>
          <p:cNvSpPr>
            <a:spLocks xmlns:a="http://schemas.openxmlformats.org/drawingml/2006/main" noGrp="1"/>
          </p:cNvSpPr>
          <p:nvPr/>
        </p:nvSpPr>
        <p:spPr>
          <a:xfrm xmlns:a="http://schemas.openxmlformats.org/drawingml/2006/main">
            <a:off x="6543675" y="324802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3,6,3'-Trimethoxyflavone</a:t>
            </a:r>
          </a:p>
        </p:txBody>
      </p:sp>
      <p:sp>
        <p:nvSpPr>
          <p:cNvPr id="72" name="">
            <a:extLst xmlns:a="http://schemas.openxmlformats.org/drawingml/2006/main">
              <a:ext uri="{FF2B5EF4-FFF2-40B4-BE49-F238E27FC236}">
                <a16:creationId xmlns:a16="http://schemas.microsoft.com/office/drawing/2014/main" id="{82976D34-0169-4F15-893D-F9F6CB6BA5B8}"/>
              </a:ext>
            </a:extLst>
          </p:cNvPr>
          <p:cNvSpPr>
            <a:spLocks xmlns:a="http://schemas.openxmlformats.org/drawingml/2006/main" noGrp="1"/>
          </p:cNvSpPr>
          <p:nvPr/>
        </p:nvSpPr>
        <p:spPr>
          <a:xfrm xmlns:a="http://schemas.openxmlformats.org/drawingml/2006/main">
            <a:off x="9382125" y="3209925"/>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3" name="">
            <a:extLst xmlns:a="http://schemas.openxmlformats.org/drawingml/2006/main">
              <a:ext uri="{FF2B5EF4-FFF2-40B4-BE49-F238E27FC236}">
                <a16:creationId xmlns:a16="http://schemas.microsoft.com/office/drawing/2014/main" id="{750A6CF5-83D0-447C-9D32-14C132B3EBDE}"/>
              </a:ext>
            </a:extLst>
          </p:cNvPr>
          <p:cNvSpPr>
            <a:spLocks xmlns:a="http://schemas.openxmlformats.org/drawingml/2006/main" noGrp="1"/>
          </p:cNvSpPr>
          <p:nvPr/>
        </p:nvSpPr>
        <p:spPr>
          <a:xfrm xmlns:a="http://schemas.openxmlformats.org/drawingml/2006/main">
            <a:off x="9429750" y="32480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74" name="">
            <a:extLst xmlns:a="http://schemas.openxmlformats.org/drawingml/2006/main">
              <a:ext uri="{FF2B5EF4-FFF2-40B4-BE49-F238E27FC236}">
                <a16:creationId xmlns:a16="http://schemas.microsoft.com/office/drawing/2014/main" id="{832F3B16-83B4-44D3-B806-082156F7773B}"/>
              </a:ext>
            </a:extLst>
          </p:cNvPr>
          <p:cNvSpPr>
            <a:spLocks xmlns:a="http://schemas.openxmlformats.org/drawingml/2006/main" noGrp="1"/>
          </p:cNvSpPr>
          <p:nvPr/>
        </p:nvSpPr>
        <p:spPr>
          <a:xfrm xmlns:a="http://schemas.openxmlformats.org/drawingml/2006/main">
            <a:off x="10258425" y="3209925"/>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5" name="">
            <a:extLst xmlns:a="http://schemas.openxmlformats.org/drawingml/2006/main">
              <a:ext uri="{FF2B5EF4-FFF2-40B4-BE49-F238E27FC236}">
                <a16:creationId xmlns:a16="http://schemas.microsoft.com/office/drawing/2014/main" id="{3F29D851-208F-4A1D-A25E-70DB13D52AFD}"/>
              </a:ext>
            </a:extLst>
          </p:cNvPr>
          <p:cNvSpPr>
            <a:spLocks xmlns:a="http://schemas.openxmlformats.org/drawingml/2006/main" noGrp="1"/>
          </p:cNvSpPr>
          <p:nvPr/>
        </p:nvSpPr>
        <p:spPr>
          <a:xfrm xmlns:a="http://schemas.openxmlformats.org/drawingml/2006/main">
            <a:off x="10306050" y="324802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0.895</a:t>
            </a:r>
          </a:p>
        </p:txBody>
      </p:sp>
      <p:sp>
        <p:nvSpPr>
          <p:cNvPr id="76" name="">
            <a:extLst xmlns:a="http://schemas.openxmlformats.org/drawingml/2006/main">
              <a:ext uri="{FF2B5EF4-FFF2-40B4-BE49-F238E27FC236}">
                <a16:creationId xmlns:a16="http://schemas.microsoft.com/office/drawing/2014/main" id="{11880B68-1EB1-44A2-8CEF-99F670021F2A}"/>
              </a:ext>
            </a:extLst>
          </p:cNvPr>
          <p:cNvSpPr>
            <a:spLocks xmlns:a="http://schemas.openxmlformats.org/drawingml/2006/main" noGrp="1"/>
          </p:cNvSpPr>
          <p:nvPr/>
        </p:nvSpPr>
        <p:spPr>
          <a:xfrm xmlns:a="http://schemas.openxmlformats.org/drawingml/2006/main">
            <a:off x="6096000" y="361950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7" name="">
            <a:extLst xmlns:a="http://schemas.openxmlformats.org/drawingml/2006/main">
              <a:ext uri="{FF2B5EF4-FFF2-40B4-BE49-F238E27FC236}">
                <a16:creationId xmlns:a16="http://schemas.microsoft.com/office/drawing/2014/main" id="{622A1323-5D07-4529-9DCB-0B047C8936CA}"/>
              </a:ext>
            </a:extLst>
          </p:cNvPr>
          <p:cNvSpPr>
            <a:spLocks xmlns:a="http://schemas.openxmlformats.org/drawingml/2006/main" noGrp="1"/>
          </p:cNvSpPr>
          <p:nvPr/>
        </p:nvSpPr>
        <p:spPr>
          <a:xfrm xmlns:a="http://schemas.openxmlformats.org/drawingml/2006/main">
            <a:off x="6143625" y="36576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3</a:t>
            </a:r>
          </a:p>
        </p:txBody>
      </p:sp>
      <p:sp>
        <p:nvSpPr>
          <p:cNvPr id="78" name="">
            <a:extLst xmlns:a="http://schemas.openxmlformats.org/drawingml/2006/main">
              <a:ext uri="{FF2B5EF4-FFF2-40B4-BE49-F238E27FC236}">
                <a16:creationId xmlns:a16="http://schemas.microsoft.com/office/drawing/2014/main" id="{9C8DE52F-DF75-4851-9EC0-0BF7054A2F50}"/>
              </a:ext>
            </a:extLst>
          </p:cNvPr>
          <p:cNvSpPr>
            <a:spLocks xmlns:a="http://schemas.openxmlformats.org/drawingml/2006/main" noGrp="1"/>
          </p:cNvSpPr>
          <p:nvPr/>
        </p:nvSpPr>
        <p:spPr>
          <a:xfrm xmlns:a="http://schemas.openxmlformats.org/drawingml/2006/main">
            <a:off x="6496050" y="361950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9" name="">
            <a:extLst xmlns:a="http://schemas.openxmlformats.org/drawingml/2006/main">
              <a:ext uri="{FF2B5EF4-FFF2-40B4-BE49-F238E27FC236}">
                <a16:creationId xmlns:a16="http://schemas.microsoft.com/office/drawing/2014/main" id="{FA0B67AA-820E-4122-94FC-5562C4818E0E}"/>
              </a:ext>
            </a:extLst>
          </p:cNvPr>
          <p:cNvSpPr>
            <a:spLocks xmlns:a="http://schemas.openxmlformats.org/drawingml/2006/main" noGrp="1"/>
          </p:cNvSpPr>
          <p:nvPr/>
        </p:nvSpPr>
        <p:spPr>
          <a:xfrm xmlns:a="http://schemas.openxmlformats.org/drawingml/2006/main">
            <a:off x="6543675" y="365760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3,7,3'-Trimethoxyflavone</a:t>
            </a:r>
          </a:p>
        </p:txBody>
      </p:sp>
      <p:sp>
        <p:nvSpPr>
          <p:cNvPr id="80" name="">
            <a:extLst xmlns:a="http://schemas.openxmlformats.org/drawingml/2006/main">
              <a:ext uri="{FF2B5EF4-FFF2-40B4-BE49-F238E27FC236}">
                <a16:creationId xmlns:a16="http://schemas.microsoft.com/office/drawing/2014/main" id="{751729BF-1DEF-4D22-A857-9F172600FFB5}"/>
              </a:ext>
            </a:extLst>
          </p:cNvPr>
          <p:cNvSpPr>
            <a:spLocks xmlns:a="http://schemas.openxmlformats.org/drawingml/2006/main" noGrp="1"/>
          </p:cNvSpPr>
          <p:nvPr/>
        </p:nvSpPr>
        <p:spPr>
          <a:xfrm xmlns:a="http://schemas.openxmlformats.org/drawingml/2006/main">
            <a:off x="9382125" y="361950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1" name="">
            <a:extLst xmlns:a="http://schemas.openxmlformats.org/drawingml/2006/main">
              <a:ext uri="{FF2B5EF4-FFF2-40B4-BE49-F238E27FC236}">
                <a16:creationId xmlns:a16="http://schemas.microsoft.com/office/drawing/2014/main" id="{CE818CDF-34BF-4354-A610-1A82762F7EA2}"/>
              </a:ext>
            </a:extLst>
          </p:cNvPr>
          <p:cNvSpPr>
            <a:spLocks xmlns:a="http://schemas.openxmlformats.org/drawingml/2006/main" noGrp="1"/>
          </p:cNvSpPr>
          <p:nvPr/>
        </p:nvSpPr>
        <p:spPr>
          <a:xfrm xmlns:a="http://schemas.openxmlformats.org/drawingml/2006/main">
            <a:off x="9429750" y="365760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82" name="">
            <a:extLst xmlns:a="http://schemas.openxmlformats.org/drawingml/2006/main">
              <a:ext uri="{FF2B5EF4-FFF2-40B4-BE49-F238E27FC236}">
                <a16:creationId xmlns:a16="http://schemas.microsoft.com/office/drawing/2014/main" id="{E727766D-9831-4790-A81C-67DF3D46E8DF}"/>
              </a:ext>
            </a:extLst>
          </p:cNvPr>
          <p:cNvSpPr>
            <a:spLocks xmlns:a="http://schemas.openxmlformats.org/drawingml/2006/main" noGrp="1"/>
          </p:cNvSpPr>
          <p:nvPr/>
        </p:nvSpPr>
        <p:spPr>
          <a:xfrm xmlns:a="http://schemas.openxmlformats.org/drawingml/2006/main">
            <a:off x="10258425" y="361950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3" name="">
            <a:extLst xmlns:a="http://schemas.openxmlformats.org/drawingml/2006/main">
              <a:ext uri="{FF2B5EF4-FFF2-40B4-BE49-F238E27FC236}">
                <a16:creationId xmlns:a16="http://schemas.microsoft.com/office/drawing/2014/main" id="{A9E476FC-D87C-4F6F-91F1-DCB32453C4B5}"/>
              </a:ext>
            </a:extLst>
          </p:cNvPr>
          <p:cNvSpPr>
            <a:spLocks xmlns:a="http://schemas.openxmlformats.org/drawingml/2006/main" noGrp="1"/>
          </p:cNvSpPr>
          <p:nvPr/>
        </p:nvSpPr>
        <p:spPr>
          <a:xfrm xmlns:a="http://schemas.openxmlformats.org/drawingml/2006/main">
            <a:off x="10306050" y="365760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0.887</a:t>
            </a:r>
          </a:p>
        </p:txBody>
      </p:sp>
      <p:sp>
        <p:nvSpPr>
          <p:cNvPr id="84" name="">
            <a:extLst xmlns:a="http://schemas.openxmlformats.org/drawingml/2006/main">
              <a:ext uri="{FF2B5EF4-FFF2-40B4-BE49-F238E27FC236}">
                <a16:creationId xmlns:a16="http://schemas.microsoft.com/office/drawing/2014/main" id="{F244A477-A3A5-41C6-80AF-E2EBF1308433}"/>
              </a:ext>
            </a:extLst>
          </p:cNvPr>
          <p:cNvSpPr>
            <a:spLocks xmlns:a="http://schemas.openxmlformats.org/drawingml/2006/main" noGrp="1"/>
          </p:cNvSpPr>
          <p:nvPr/>
        </p:nvSpPr>
        <p:spPr>
          <a:xfrm xmlns:a="http://schemas.openxmlformats.org/drawingml/2006/main">
            <a:off x="6096000" y="4029075"/>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5" name="">
            <a:extLst xmlns:a="http://schemas.openxmlformats.org/drawingml/2006/main">
              <a:ext uri="{FF2B5EF4-FFF2-40B4-BE49-F238E27FC236}">
                <a16:creationId xmlns:a16="http://schemas.microsoft.com/office/drawing/2014/main" id="{35314664-075C-4824-B446-A522E22BC127}"/>
              </a:ext>
            </a:extLst>
          </p:cNvPr>
          <p:cNvSpPr>
            <a:spLocks xmlns:a="http://schemas.openxmlformats.org/drawingml/2006/main" noGrp="1"/>
          </p:cNvSpPr>
          <p:nvPr/>
        </p:nvSpPr>
        <p:spPr>
          <a:xfrm xmlns:a="http://schemas.openxmlformats.org/drawingml/2006/main">
            <a:off x="6143625" y="40671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4</a:t>
            </a:r>
          </a:p>
        </p:txBody>
      </p:sp>
      <p:sp>
        <p:nvSpPr>
          <p:cNvPr id="86" name="">
            <a:extLst xmlns:a="http://schemas.openxmlformats.org/drawingml/2006/main">
              <a:ext uri="{FF2B5EF4-FFF2-40B4-BE49-F238E27FC236}">
                <a16:creationId xmlns:a16="http://schemas.microsoft.com/office/drawing/2014/main" id="{B16AF9A3-4077-47E6-9034-CBB146CEC51F}"/>
              </a:ext>
            </a:extLst>
          </p:cNvPr>
          <p:cNvSpPr>
            <a:spLocks xmlns:a="http://schemas.openxmlformats.org/drawingml/2006/main" noGrp="1"/>
          </p:cNvSpPr>
          <p:nvPr/>
        </p:nvSpPr>
        <p:spPr>
          <a:xfrm xmlns:a="http://schemas.openxmlformats.org/drawingml/2006/main">
            <a:off x="6496050" y="4029075"/>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7" name="">
            <a:extLst xmlns:a="http://schemas.openxmlformats.org/drawingml/2006/main">
              <a:ext uri="{FF2B5EF4-FFF2-40B4-BE49-F238E27FC236}">
                <a16:creationId xmlns:a16="http://schemas.microsoft.com/office/drawing/2014/main" id="{7E92C657-B7DA-401D-9518-A42FA98CDA96}"/>
              </a:ext>
            </a:extLst>
          </p:cNvPr>
          <p:cNvSpPr>
            <a:spLocks xmlns:a="http://schemas.openxmlformats.org/drawingml/2006/main" noGrp="1"/>
          </p:cNvSpPr>
          <p:nvPr/>
        </p:nvSpPr>
        <p:spPr>
          <a:xfrm xmlns:a="http://schemas.openxmlformats.org/drawingml/2006/main">
            <a:off x="6543675" y="406717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3,3',4'-Trimethoxyflavone</a:t>
            </a:r>
          </a:p>
        </p:txBody>
      </p:sp>
      <p:sp>
        <p:nvSpPr>
          <p:cNvPr id="88" name="">
            <a:extLst xmlns:a="http://schemas.openxmlformats.org/drawingml/2006/main">
              <a:ext uri="{FF2B5EF4-FFF2-40B4-BE49-F238E27FC236}">
                <a16:creationId xmlns:a16="http://schemas.microsoft.com/office/drawing/2014/main" id="{67819DD2-87A5-4E55-98AC-B5EE0363F6FB}"/>
              </a:ext>
            </a:extLst>
          </p:cNvPr>
          <p:cNvSpPr>
            <a:spLocks xmlns:a="http://schemas.openxmlformats.org/drawingml/2006/main" noGrp="1"/>
          </p:cNvSpPr>
          <p:nvPr/>
        </p:nvSpPr>
        <p:spPr>
          <a:xfrm xmlns:a="http://schemas.openxmlformats.org/drawingml/2006/main">
            <a:off x="9382125" y="4029075"/>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9" name="">
            <a:extLst xmlns:a="http://schemas.openxmlformats.org/drawingml/2006/main">
              <a:ext uri="{FF2B5EF4-FFF2-40B4-BE49-F238E27FC236}">
                <a16:creationId xmlns:a16="http://schemas.microsoft.com/office/drawing/2014/main" id="{6476AA8E-60D0-4699-8CA8-ECF821C68971}"/>
              </a:ext>
            </a:extLst>
          </p:cNvPr>
          <p:cNvSpPr>
            <a:spLocks xmlns:a="http://schemas.openxmlformats.org/drawingml/2006/main" noGrp="1"/>
          </p:cNvSpPr>
          <p:nvPr/>
        </p:nvSpPr>
        <p:spPr>
          <a:xfrm xmlns:a="http://schemas.openxmlformats.org/drawingml/2006/main">
            <a:off x="9429750" y="406717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90" name="">
            <a:extLst xmlns:a="http://schemas.openxmlformats.org/drawingml/2006/main">
              <a:ext uri="{FF2B5EF4-FFF2-40B4-BE49-F238E27FC236}">
                <a16:creationId xmlns:a16="http://schemas.microsoft.com/office/drawing/2014/main" id="{6EF49907-4B0C-467B-981E-5BB35E18C097}"/>
              </a:ext>
            </a:extLst>
          </p:cNvPr>
          <p:cNvSpPr>
            <a:spLocks xmlns:a="http://schemas.openxmlformats.org/drawingml/2006/main" noGrp="1"/>
          </p:cNvSpPr>
          <p:nvPr/>
        </p:nvSpPr>
        <p:spPr>
          <a:xfrm xmlns:a="http://schemas.openxmlformats.org/drawingml/2006/main">
            <a:off x="10258425" y="4029075"/>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1" name="">
            <a:extLst xmlns:a="http://schemas.openxmlformats.org/drawingml/2006/main">
              <a:ext uri="{FF2B5EF4-FFF2-40B4-BE49-F238E27FC236}">
                <a16:creationId xmlns:a16="http://schemas.microsoft.com/office/drawing/2014/main" id="{3BD3A07F-BE80-4E3F-93FB-E22F83D822A9}"/>
              </a:ext>
            </a:extLst>
          </p:cNvPr>
          <p:cNvSpPr>
            <a:spLocks xmlns:a="http://schemas.openxmlformats.org/drawingml/2006/main" noGrp="1"/>
          </p:cNvSpPr>
          <p:nvPr/>
        </p:nvSpPr>
        <p:spPr>
          <a:xfrm xmlns:a="http://schemas.openxmlformats.org/drawingml/2006/main">
            <a:off x="10306050" y="406717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0.869</a:t>
            </a:r>
          </a:p>
        </p:txBody>
      </p:sp>
      <p:sp>
        <p:nvSpPr>
          <p:cNvPr id="92" name="">
            <a:extLst xmlns:a="http://schemas.openxmlformats.org/drawingml/2006/main">
              <a:ext uri="{FF2B5EF4-FFF2-40B4-BE49-F238E27FC236}">
                <a16:creationId xmlns:a16="http://schemas.microsoft.com/office/drawing/2014/main" id="{FDE484F9-4A44-4327-B779-A039BC51E75C}"/>
              </a:ext>
            </a:extLst>
          </p:cNvPr>
          <p:cNvSpPr>
            <a:spLocks xmlns:a="http://schemas.openxmlformats.org/drawingml/2006/main" noGrp="1"/>
          </p:cNvSpPr>
          <p:nvPr/>
        </p:nvSpPr>
        <p:spPr>
          <a:xfrm xmlns:a="http://schemas.openxmlformats.org/drawingml/2006/main">
            <a:off x="6096000" y="443865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3" name="">
            <a:extLst xmlns:a="http://schemas.openxmlformats.org/drawingml/2006/main">
              <a:ext uri="{FF2B5EF4-FFF2-40B4-BE49-F238E27FC236}">
                <a16:creationId xmlns:a16="http://schemas.microsoft.com/office/drawing/2014/main" id="{BD879DC1-1029-4D4E-AB1E-97BA1DA6B8EF}"/>
              </a:ext>
            </a:extLst>
          </p:cNvPr>
          <p:cNvSpPr>
            <a:spLocks xmlns:a="http://schemas.openxmlformats.org/drawingml/2006/main" noGrp="1"/>
          </p:cNvSpPr>
          <p:nvPr/>
        </p:nvSpPr>
        <p:spPr>
          <a:xfrm xmlns:a="http://schemas.openxmlformats.org/drawingml/2006/main">
            <a:off x="6143625" y="4476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5</a:t>
            </a:r>
          </a:p>
        </p:txBody>
      </p:sp>
      <p:sp>
        <p:nvSpPr>
          <p:cNvPr id="94" name="">
            <a:extLst xmlns:a="http://schemas.openxmlformats.org/drawingml/2006/main">
              <a:ext uri="{FF2B5EF4-FFF2-40B4-BE49-F238E27FC236}">
                <a16:creationId xmlns:a16="http://schemas.microsoft.com/office/drawing/2014/main" id="{F06C851C-8698-4762-A666-639B2FDA6E3E}"/>
              </a:ext>
            </a:extLst>
          </p:cNvPr>
          <p:cNvSpPr>
            <a:spLocks xmlns:a="http://schemas.openxmlformats.org/drawingml/2006/main" noGrp="1"/>
          </p:cNvSpPr>
          <p:nvPr/>
        </p:nvSpPr>
        <p:spPr>
          <a:xfrm xmlns:a="http://schemas.openxmlformats.org/drawingml/2006/main">
            <a:off x="6496050" y="443865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5" name="">
            <a:extLst xmlns:a="http://schemas.openxmlformats.org/drawingml/2006/main">
              <a:ext uri="{FF2B5EF4-FFF2-40B4-BE49-F238E27FC236}">
                <a16:creationId xmlns:a16="http://schemas.microsoft.com/office/drawing/2014/main" id="{285D2307-8258-4B64-AD03-28263113EA19}"/>
              </a:ext>
            </a:extLst>
          </p:cNvPr>
          <p:cNvSpPr>
            <a:spLocks xmlns:a="http://schemas.openxmlformats.org/drawingml/2006/main" noGrp="1"/>
          </p:cNvSpPr>
          <p:nvPr/>
        </p:nvSpPr>
        <p:spPr>
          <a:xfrm xmlns:a="http://schemas.openxmlformats.org/drawingml/2006/main">
            <a:off x="6543675" y="447675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32"/>
          </a:bodyPr>
          <a:lstStyle xmlns:a="http://schemas.openxmlformats.org/drawingml/2006/main"/>
          <a:p xmlns:a="http://schemas.openxmlformats.org/drawingml/2006/main">
            <a:pPr algn="l">
              <a:defRPr sz="788" b="0" i="0">
                <a:solidFill>
                  <a:srgbClr val="111111"/>
                </a:solidFill>
                <a:latin typeface="Microsoft YaHei"/>
                <a:ea typeface="Microsoft YaHei"/>
                <a:cs typeface="Microsoft YaHei"/>
              </a:defRPr>
            </a:pPr>
            <a:r>
              <a:rPr sz="788" b="0" i="0">
                <a:solidFill>
                  <a:srgbClr val="111111"/>
                </a:solidFill>
                <a:latin typeface="Microsoft YaHei"/>
                <a:ea typeface="Microsoft YaHei"/>
                <a:cs typeface="Microsoft YaHei"/>
              </a:rPr>
              <a:t>5,6-Dimethoxy-2-(2-methoxyphenyl)-</a:t>
            </a:r>
          </a:p>
          <a:p xmlns:a="http://schemas.openxmlformats.org/drawingml/2006/main">
            <a:pPr algn="l">
              <a:defRPr sz="788" b="0" i="0">
                <a:solidFill>
                  <a:srgbClr val="111111"/>
                </a:solidFill>
                <a:latin typeface="Microsoft YaHei"/>
                <a:ea typeface="Microsoft YaHei"/>
                <a:cs typeface="Microsoft YaHei"/>
              </a:defRPr>
            </a:pPr>
            <a:r>
              <a:rPr sz="788" b="0" i="0">
                <a:solidFill>
                  <a:srgbClr val="111111"/>
                </a:solidFill>
                <a:latin typeface="Microsoft YaHei"/>
                <a:ea typeface="Microsoft YaHei"/>
                <a:cs typeface="Microsoft YaHei"/>
              </a:rPr>
              <a:t>4H-1-benzopyran-4-one</a:t>
            </a:r>
          </a:p>
        </p:txBody>
      </p:sp>
      <p:sp>
        <p:nvSpPr>
          <p:cNvPr id="96" name="">
            <a:extLst xmlns:a="http://schemas.openxmlformats.org/drawingml/2006/main">
              <a:ext uri="{FF2B5EF4-FFF2-40B4-BE49-F238E27FC236}">
                <a16:creationId xmlns:a16="http://schemas.microsoft.com/office/drawing/2014/main" id="{362C5850-3852-4199-A92A-EB8C09029781}"/>
              </a:ext>
            </a:extLst>
          </p:cNvPr>
          <p:cNvSpPr>
            <a:spLocks xmlns:a="http://schemas.openxmlformats.org/drawingml/2006/main" noGrp="1"/>
          </p:cNvSpPr>
          <p:nvPr/>
        </p:nvSpPr>
        <p:spPr>
          <a:xfrm xmlns:a="http://schemas.openxmlformats.org/drawingml/2006/main">
            <a:off x="9382125" y="443865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7" name="">
            <a:extLst xmlns:a="http://schemas.openxmlformats.org/drawingml/2006/main">
              <a:ext uri="{FF2B5EF4-FFF2-40B4-BE49-F238E27FC236}">
                <a16:creationId xmlns:a16="http://schemas.microsoft.com/office/drawing/2014/main" id="{1E0FE4EE-D1FA-4A0E-92D1-5FFED4ED248C}"/>
              </a:ext>
            </a:extLst>
          </p:cNvPr>
          <p:cNvSpPr>
            <a:spLocks xmlns:a="http://schemas.openxmlformats.org/drawingml/2006/main" noGrp="1"/>
          </p:cNvSpPr>
          <p:nvPr/>
        </p:nvSpPr>
        <p:spPr>
          <a:xfrm xmlns:a="http://schemas.openxmlformats.org/drawingml/2006/main">
            <a:off x="9429750" y="447675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98" name="">
            <a:extLst xmlns:a="http://schemas.openxmlformats.org/drawingml/2006/main">
              <a:ext uri="{FF2B5EF4-FFF2-40B4-BE49-F238E27FC236}">
                <a16:creationId xmlns:a16="http://schemas.microsoft.com/office/drawing/2014/main" id="{FE42D6B6-B627-4433-AF31-5ED111C93E87}"/>
              </a:ext>
            </a:extLst>
          </p:cNvPr>
          <p:cNvSpPr>
            <a:spLocks xmlns:a="http://schemas.openxmlformats.org/drawingml/2006/main" noGrp="1"/>
          </p:cNvSpPr>
          <p:nvPr/>
        </p:nvSpPr>
        <p:spPr>
          <a:xfrm xmlns:a="http://schemas.openxmlformats.org/drawingml/2006/main">
            <a:off x="10258425" y="443865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9" name="">
            <a:extLst xmlns:a="http://schemas.openxmlformats.org/drawingml/2006/main">
              <a:ext uri="{FF2B5EF4-FFF2-40B4-BE49-F238E27FC236}">
                <a16:creationId xmlns:a16="http://schemas.microsoft.com/office/drawing/2014/main" id="{E4018D03-0896-41E7-9182-930FFCE1E27E}"/>
              </a:ext>
            </a:extLst>
          </p:cNvPr>
          <p:cNvSpPr>
            <a:spLocks xmlns:a="http://schemas.openxmlformats.org/drawingml/2006/main" noGrp="1"/>
          </p:cNvSpPr>
          <p:nvPr/>
        </p:nvSpPr>
        <p:spPr>
          <a:xfrm xmlns:a="http://schemas.openxmlformats.org/drawingml/2006/main">
            <a:off x="10306050" y="447675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0.864</a:t>
            </a:r>
          </a:p>
        </p:txBody>
      </p:sp>
      <p:sp>
        <p:nvSpPr>
          <p:cNvPr id="100" name="">
            <a:extLst xmlns:a="http://schemas.openxmlformats.org/drawingml/2006/main">
              <a:ext uri="{FF2B5EF4-FFF2-40B4-BE49-F238E27FC236}">
                <a16:creationId xmlns:a16="http://schemas.microsoft.com/office/drawing/2014/main" id="{614A10D2-872E-4EC2-9935-BC7D90AA9987}"/>
              </a:ext>
            </a:extLst>
          </p:cNvPr>
          <p:cNvSpPr>
            <a:spLocks xmlns:a="http://schemas.openxmlformats.org/drawingml/2006/main" noGrp="1"/>
          </p:cNvSpPr>
          <p:nvPr/>
        </p:nvSpPr>
        <p:spPr>
          <a:xfrm xmlns:a="http://schemas.openxmlformats.org/drawingml/2006/main">
            <a:off x="6096000" y="4848225"/>
            <a:ext cx="40005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1" name="">
            <a:extLst xmlns:a="http://schemas.openxmlformats.org/drawingml/2006/main">
              <a:ext uri="{FF2B5EF4-FFF2-40B4-BE49-F238E27FC236}">
                <a16:creationId xmlns:a16="http://schemas.microsoft.com/office/drawing/2014/main" id="{A012576C-D551-411A-8EA5-8B0D6F98AD76}"/>
              </a:ext>
            </a:extLst>
          </p:cNvPr>
          <p:cNvSpPr>
            <a:spLocks xmlns:a="http://schemas.openxmlformats.org/drawingml/2006/main" noGrp="1"/>
          </p:cNvSpPr>
          <p:nvPr/>
        </p:nvSpPr>
        <p:spPr>
          <a:xfrm xmlns:a="http://schemas.openxmlformats.org/drawingml/2006/main">
            <a:off x="6143625" y="48863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6</a:t>
            </a:r>
          </a:p>
        </p:txBody>
      </p:sp>
      <p:sp>
        <p:nvSpPr>
          <p:cNvPr id="102" name="">
            <a:extLst xmlns:a="http://schemas.openxmlformats.org/drawingml/2006/main">
              <a:ext uri="{FF2B5EF4-FFF2-40B4-BE49-F238E27FC236}">
                <a16:creationId xmlns:a16="http://schemas.microsoft.com/office/drawing/2014/main" id="{BB968CBF-A92A-49D3-84C9-89BA4D32AAE6}"/>
              </a:ext>
            </a:extLst>
          </p:cNvPr>
          <p:cNvSpPr>
            <a:spLocks xmlns:a="http://schemas.openxmlformats.org/drawingml/2006/main" noGrp="1"/>
          </p:cNvSpPr>
          <p:nvPr/>
        </p:nvSpPr>
        <p:spPr>
          <a:xfrm xmlns:a="http://schemas.openxmlformats.org/drawingml/2006/main">
            <a:off x="6496050" y="4848225"/>
            <a:ext cx="2886075"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3" name="">
            <a:extLst xmlns:a="http://schemas.openxmlformats.org/drawingml/2006/main">
              <a:ext uri="{FF2B5EF4-FFF2-40B4-BE49-F238E27FC236}">
                <a16:creationId xmlns:a16="http://schemas.microsoft.com/office/drawing/2014/main" id="{1A0E250C-3B52-49AE-BF7C-8D5B8258B0EF}"/>
              </a:ext>
            </a:extLst>
          </p:cNvPr>
          <p:cNvSpPr>
            <a:spLocks xmlns:a="http://schemas.openxmlformats.org/drawingml/2006/main" noGrp="1"/>
          </p:cNvSpPr>
          <p:nvPr/>
        </p:nvSpPr>
        <p:spPr>
          <a:xfrm xmlns:a="http://schemas.openxmlformats.org/drawingml/2006/main">
            <a:off x="6543675" y="488632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1" i="0">
                <a:solidFill>
                  <a:srgbClr val="7A1F86"/>
                </a:solidFill>
                <a:latin typeface="Microsoft YaHei"/>
                <a:ea typeface="Microsoft YaHei"/>
                <a:cs typeface="Microsoft YaHei"/>
              </a:defRPr>
            </a:pPr>
            <a:r>
              <a:rPr sz="938" b="1" i="0">
                <a:solidFill>
                  <a:srgbClr val="7A1F86"/>
                </a:solidFill>
                <a:latin typeface="Microsoft YaHei"/>
                <a:ea typeface="Microsoft YaHei"/>
                <a:cs typeface="Microsoft YaHei"/>
              </a:rPr>
              <a:t>Cabreuvin  ✓</a:t>
            </a:r>
          </a:p>
        </p:txBody>
      </p:sp>
      <p:sp>
        <p:nvSpPr>
          <p:cNvPr id="104" name="">
            <a:extLst xmlns:a="http://schemas.openxmlformats.org/drawingml/2006/main">
              <a:ext uri="{FF2B5EF4-FFF2-40B4-BE49-F238E27FC236}">
                <a16:creationId xmlns:a16="http://schemas.microsoft.com/office/drawing/2014/main" id="{57BC32F9-FB03-4289-A44E-5DD20CCF3724}"/>
              </a:ext>
            </a:extLst>
          </p:cNvPr>
          <p:cNvSpPr>
            <a:spLocks xmlns:a="http://schemas.openxmlformats.org/drawingml/2006/main" noGrp="1"/>
          </p:cNvSpPr>
          <p:nvPr/>
        </p:nvSpPr>
        <p:spPr>
          <a:xfrm xmlns:a="http://schemas.openxmlformats.org/drawingml/2006/main">
            <a:off x="9382125" y="4848225"/>
            <a:ext cx="87630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5" name="">
            <a:extLst xmlns:a="http://schemas.openxmlformats.org/drawingml/2006/main">
              <a:ext uri="{FF2B5EF4-FFF2-40B4-BE49-F238E27FC236}">
                <a16:creationId xmlns:a16="http://schemas.microsoft.com/office/drawing/2014/main" id="{AECB99A3-A630-4C20-BAAF-F6FFF2E0E0BD}"/>
              </a:ext>
            </a:extLst>
          </p:cNvPr>
          <p:cNvSpPr>
            <a:spLocks xmlns:a="http://schemas.openxmlformats.org/drawingml/2006/main" noGrp="1"/>
          </p:cNvSpPr>
          <p:nvPr/>
        </p:nvSpPr>
        <p:spPr>
          <a:xfrm xmlns:a="http://schemas.openxmlformats.org/drawingml/2006/main">
            <a:off x="9429750" y="48863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C₁₈H₁₆O₅</a:t>
            </a:r>
          </a:p>
        </p:txBody>
      </p:sp>
      <p:sp>
        <p:nvSpPr>
          <p:cNvPr id="106" name="">
            <a:extLst xmlns:a="http://schemas.openxmlformats.org/drawingml/2006/main">
              <a:ext uri="{FF2B5EF4-FFF2-40B4-BE49-F238E27FC236}">
                <a16:creationId xmlns:a16="http://schemas.microsoft.com/office/drawing/2014/main" id="{C3AEC087-2542-491B-AEE2-7C83C86CDEE5}"/>
              </a:ext>
            </a:extLst>
          </p:cNvPr>
          <p:cNvSpPr>
            <a:spLocks xmlns:a="http://schemas.openxmlformats.org/drawingml/2006/main" noGrp="1"/>
          </p:cNvSpPr>
          <p:nvPr/>
        </p:nvSpPr>
        <p:spPr>
          <a:xfrm xmlns:a="http://schemas.openxmlformats.org/drawingml/2006/main">
            <a:off x="10258425" y="4848225"/>
            <a:ext cx="106680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7" name="">
            <a:extLst xmlns:a="http://schemas.openxmlformats.org/drawingml/2006/main">
              <a:ext uri="{FF2B5EF4-FFF2-40B4-BE49-F238E27FC236}">
                <a16:creationId xmlns:a16="http://schemas.microsoft.com/office/drawing/2014/main" id="{28B21719-104E-44B5-98C8-484BD088D60C}"/>
              </a:ext>
            </a:extLst>
          </p:cNvPr>
          <p:cNvSpPr>
            <a:spLocks xmlns:a="http://schemas.openxmlformats.org/drawingml/2006/main" noGrp="1"/>
          </p:cNvSpPr>
          <p:nvPr/>
        </p:nvSpPr>
        <p:spPr>
          <a:xfrm xmlns:a="http://schemas.openxmlformats.org/drawingml/2006/main">
            <a:off x="10306050" y="488632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0.864</a:t>
            </a:r>
          </a:p>
        </p:txBody>
      </p:sp>
      <p:sp>
        <p:nvSpPr>
          <p:cNvPr id="108" name="">
            <a:extLst xmlns:a="http://schemas.openxmlformats.org/drawingml/2006/main">
              <a:ext uri="{FF2B5EF4-FFF2-40B4-BE49-F238E27FC236}">
                <a16:creationId xmlns:a16="http://schemas.microsoft.com/office/drawing/2014/main" id="{B059FF4A-F0A0-4B84-938E-26A8C9DC0FAB}"/>
              </a:ext>
            </a:extLst>
          </p:cNvPr>
          <p:cNvSpPr>
            <a:spLocks xmlns:a="http://schemas.openxmlformats.org/drawingml/2006/main" noGrp="1"/>
          </p:cNvSpPr>
          <p:nvPr/>
        </p:nvSpPr>
        <p:spPr>
          <a:xfrm xmlns:a="http://schemas.openxmlformats.org/drawingml/2006/main">
            <a:off x="6715125" y="5429250"/>
            <a:ext cx="4429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34"/>
          </a:bodyPr>
          <a:lstStyle xmlns:a="http://schemas.openxmlformats.org/drawingml/2006/main"/>
          <a:p xmlns:a="http://schemas.openxmlformats.org/drawingml/2006/main">
            <a:pPr algn="ctr">
              <a:defRPr sz="1163" b="0" i="0">
                <a:solidFill>
                  <a:srgbClr val="5B5B5B"/>
                </a:solidFill>
                <a:latin typeface="Microsoft YaHei"/>
                <a:ea typeface="Microsoft YaHei"/>
                <a:cs typeface="Microsoft YaHei"/>
              </a:defRPr>
            </a:pPr>
            <a:r>
              <a:rPr sz="1163" b="0" i="0">
                <a:solidFill>
                  <a:srgbClr val="5B5B5B"/>
                </a:solidFill>
                <a:latin typeface="Microsoft YaHei"/>
                <a:ea typeface="Microsoft YaHei"/>
                <a:cs typeface="Microsoft YaHei"/>
              </a:rPr>
              <a:t>置信分数用于排序，并不等同于经过校准的“正确概率”。</a:t>
            </a:r>
          </a:p>
        </p:txBody>
      </p:sp>
      <p:sp>
        <p:nvSpPr>
          <p:cNvPr id="109" name="">
            <a:extLst xmlns:a="http://schemas.openxmlformats.org/drawingml/2006/main">
              <a:ext uri="{FF2B5EF4-FFF2-40B4-BE49-F238E27FC236}">
                <a16:creationId xmlns:a16="http://schemas.microsoft.com/office/drawing/2014/main" id="{C6F2ADAF-3B6C-4648-90C1-74DD2A9964DA}"/>
              </a:ext>
            </a:extLst>
          </p:cNvPr>
          <p:cNvSpPr>
            <a:spLocks xmlns:a="http://schemas.openxmlformats.org/drawingml/2006/main" noGrp="1"/>
          </p:cNvSpPr>
          <p:nvPr/>
        </p:nvSpPr>
        <p:spPr>
          <a:xfrm xmlns:a="http://schemas.openxmlformats.org/drawingml/2006/main">
            <a:off x="1285875" y="5753100"/>
            <a:ext cx="9620250" cy="4000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110" name="">
            <a:extLst xmlns:a="http://schemas.openxmlformats.org/drawingml/2006/main">
              <a:ext uri="{FF2B5EF4-FFF2-40B4-BE49-F238E27FC236}">
                <a16:creationId xmlns:a16="http://schemas.microsoft.com/office/drawing/2014/main" id="{20B28496-9D73-4CBD-AE21-BB545565CB80}"/>
              </a:ext>
            </a:extLst>
          </p:cNvPr>
          <p:cNvSpPr>
            <a:spLocks xmlns:a="http://schemas.openxmlformats.org/drawingml/2006/main" noGrp="1"/>
          </p:cNvSpPr>
          <p:nvPr/>
        </p:nvSpPr>
        <p:spPr>
          <a:xfrm xmlns:a="http://schemas.openxmlformats.org/drawingml/2006/main">
            <a:off x="1476375" y="5838825"/>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44"/>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训练集、参考谱库和公共数据库用于学习模型与构建候选空间，但不是单次注释时的直接输入。</a:t>
            </a:r>
          </a:p>
        </p:txBody>
      </p:sp>
    </p:spTree>
    <p:extLst>
      <p:ext uri="{BB962C8B-B14F-4D97-AF65-F5344CB8AC3E}">
        <p14:creationId xmlns:p14="http://schemas.microsoft.com/office/powerpoint/2010/main" val="376709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DC61D50-1E12-487F-8352-87137C6036CA}"/>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1CF25C-FF2F-4054-B580-7755BC7DFA40}"/>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8549F5-79E9-4E13-9906-664524B7822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A13FA7-E157-4CAF-88C9-31BCB787555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154DE3-BF52-49D0-8558-5CAB6D824B34}"/>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为什么一张 MS/MS 谱图通常不能唯一确定化学结构？</a:t>
            </a:r>
          </a:p>
        </p:txBody>
      </p:sp>
      <p:sp>
        <p:nvSpPr>
          <p:cNvPr id="6" name="">
            <a:extLst xmlns:a="http://schemas.openxmlformats.org/drawingml/2006/main">
              <a:ext uri="{FF2B5EF4-FFF2-40B4-BE49-F238E27FC236}">
                <a16:creationId xmlns:a16="http://schemas.microsoft.com/office/drawing/2014/main" id="{B47F8CF2-1FB8-49A5-8B5A-7A5DF0F63F5E}"/>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494288-A154-4F82-8664-B9CEC418A9B6}"/>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89E214-AD61-4974-ACCB-63296DF44684}"/>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9D97249-A241-483B-850D-F6FE2240E5A8}"/>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92B3E491-7E53-4C2D-AF6F-6E0F6AF9CD6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a3cc502857bb4b7f"/>
          <a:stretch xmlns:a="http://schemas.openxmlformats.org/drawingml/2006/main"/>
        </p:blipFill>
        <p:spPr>
          <a:xfrm xmlns:a="http://schemas.openxmlformats.org/drawingml/2006/main">
            <a:off x="762000" y="1000125"/>
            <a:ext cx="1524000" cy="15240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757613211e24931"/>
          <a:stretch xmlns:a="http://schemas.openxmlformats.org/drawingml/2006/main"/>
        </p:blipFill>
        <p:spPr>
          <a:xfrm xmlns:a="http://schemas.openxmlformats.org/drawingml/2006/main">
            <a:off x="3381375" y="1000125"/>
            <a:ext cx="1524000" cy="1524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AD472E1-4232-4DA1-AD1C-E74CF4665BB2}"/>
              </a:ext>
            </a:extLst>
          </p:cNvPr>
          <p:cNvSpPr>
            <a:spLocks xmlns:a="http://schemas.openxmlformats.org/drawingml/2006/main" noGrp="1"/>
          </p:cNvSpPr>
          <p:nvPr/>
        </p:nvSpPr>
        <p:spPr>
          <a:xfrm xmlns:a="http://schemas.openxmlformats.org/drawingml/2006/main">
            <a:off x="523875" y="25717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Cabreuvin（真实）</a:t>
            </a:r>
          </a:p>
        </p:txBody>
      </p:sp>
      <p:sp>
        <p:nvSpPr>
          <p:cNvPr id="14" name="">
            <a:extLst xmlns:a="http://schemas.openxmlformats.org/drawingml/2006/main">
              <a:ext uri="{FF2B5EF4-FFF2-40B4-BE49-F238E27FC236}">
                <a16:creationId xmlns:a16="http://schemas.microsoft.com/office/drawing/2014/main" id="{94F0024D-6FD4-4BC2-8A02-53BEF0F01158}"/>
              </a:ext>
            </a:extLst>
          </p:cNvPr>
          <p:cNvSpPr>
            <a:spLocks xmlns:a="http://schemas.openxmlformats.org/drawingml/2006/main" noGrp="1"/>
          </p:cNvSpPr>
          <p:nvPr/>
        </p:nvSpPr>
        <p:spPr>
          <a:xfrm xmlns:a="http://schemas.openxmlformats.org/drawingml/2006/main">
            <a:off x="2857500" y="2571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4"/>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3',4',7-Trimethoxyflavone（错误 Top-1）</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c91a587149c4a74"/>
          <a:stretch xmlns:a="http://schemas.openxmlformats.org/drawingml/2006/main"/>
        </p:blipFill>
        <p:spPr>
          <a:xfrm xmlns:a="http://schemas.openxmlformats.org/drawingml/2006/main">
            <a:off x="801620" y="3143250"/>
            <a:ext cx="4349885"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9182783-81A8-49DC-838B-D82DD548E1E9}"/>
              </a:ext>
            </a:extLst>
          </p:cNvPr>
          <p:cNvSpPr>
            <a:spLocks xmlns:a="http://schemas.openxmlformats.org/drawingml/2006/main" noGrp="1"/>
          </p:cNvSpPr>
          <p:nvPr/>
        </p:nvSpPr>
        <p:spPr>
          <a:xfrm xmlns:a="http://schemas.openxmlformats.org/drawingml/2006/main">
            <a:off x="5905500" y="1019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1</a:t>
            </a:r>
          </a:p>
        </p:txBody>
      </p:sp>
      <p:sp>
        <p:nvSpPr>
          <p:cNvPr id="17" name="">
            <a:extLst xmlns:a="http://schemas.openxmlformats.org/drawingml/2006/main">
              <a:ext uri="{FF2B5EF4-FFF2-40B4-BE49-F238E27FC236}">
                <a16:creationId xmlns:a16="http://schemas.microsoft.com/office/drawing/2014/main" id="{68E00F79-C75C-497C-B92A-727C3724EF26}"/>
              </a:ext>
            </a:extLst>
          </p:cNvPr>
          <p:cNvSpPr>
            <a:spLocks xmlns:a="http://schemas.openxmlformats.org/drawingml/2006/main" noGrp="1"/>
          </p:cNvSpPr>
          <p:nvPr/>
        </p:nvSpPr>
        <p:spPr>
          <a:xfrm xmlns:a="http://schemas.openxmlformats.org/drawingml/2006/main">
            <a:off x="6477000" y="1000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共享骨架与碎裂</a:t>
            </a:r>
          </a:p>
        </p:txBody>
      </p:sp>
      <p:sp>
        <p:nvSpPr>
          <p:cNvPr id="18" name="">
            <a:extLst xmlns:a="http://schemas.openxmlformats.org/drawingml/2006/main">
              <a:ext uri="{FF2B5EF4-FFF2-40B4-BE49-F238E27FC236}">
                <a16:creationId xmlns:a16="http://schemas.microsoft.com/office/drawing/2014/main" id="{52409476-B6E2-4D97-87CF-982AFC94B1F5}"/>
              </a:ext>
            </a:extLst>
          </p:cNvPr>
          <p:cNvSpPr>
            <a:spLocks xmlns:a="http://schemas.openxmlformats.org/drawingml/2006/main" noGrp="1"/>
          </p:cNvSpPr>
          <p:nvPr/>
        </p:nvSpPr>
        <p:spPr>
          <a:xfrm xmlns:a="http://schemas.openxmlformats.org/drawingml/2006/main">
            <a:off x="6477000" y="1333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同分子式异构体和近结构分子常产生相同的主要碎片与中性丢失；碎片峰给出质量信息，却不能直接还原完整的原子连接方式。</a:t>
            </a:r>
          </a:p>
        </p:txBody>
      </p:sp>
      <p:sp>
        <p:nvSpPr>
          <p:cNvPr id="19" name="">
            <a:extLst xmlns:a="http://schemas.openxmlformats.org/drawingml/2006/main">
              <a:ext uri="{FF2B5EF4-FFF2-40B4-BE49-F238E27FC236}">
                <a16:creationId xmlns:a16="http://schemas.microsoft.com/office/drawing/2014/main" id="{5C3155ED-D176-4FA5-9C64-BD78C6D60C81}"/>
              </a:ext>
            </a:extLst>
          </p:cNvPr>
          <p:cNvSpPr>
            <a:spLocks xmlns:a="http://schemas.openxmlformats.org/drawingml/2006/main" noGrp="1"/>
          </p:cNvSpPr>
          <p:nvPr/>
        </p:nvSpPr>
        <p:spPr>
          <a:xfrm xmlns:a="http://schemas.openxmlformats.org/drawingml/2006/main">
            <a:off x="5905500" y="2009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75DF4A-56E8-4DEB-9E67-AF781CBC4DB4}"/>
              </a:ext>
            </a:extLst>
          </p:cNvPr>
          <p:cNvSpPr>
            <a:spLocks xmlns:a="http://schemas.openxmlformats.org/drawingml/2006/main" noGrp="1"/>
          </p:cNvSpPr>
          <p:nvPr/>
        </p:nvSpPr>
        <p:spPr>
          <a:xfrm xmlns:a="http://schemas.openxmlformats.org/drawingml/2006/main">
            <a:off x="5905500" y="2162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2</a:t>
            </a:r>
          </a:p>
        </p:txBody>
      </p:sp>
      <p:sp>
        <p:nvSpPr>
          <p:cNvPr id="21" name="">
            <a:extLst xmlns:a="http://schemas.openxmlformats.org/drawingml/2006/main">
              <a:ext uri="{FF2B5EF4-FFF2-40B4-BE49-F238E27FC236}">
                <a16:creationId xmlns:a16="http://schemas.microsoft.com/office/drawing/2014/main" id="{CC2F360A-95AC-441C-A685-9E984538A1FA}"/>
              </a:ext>
            </a:extLst>
          </p:cNvPr>
          <p:cNvSpPr>
            <a:spLocks xmlns:a="http://schemas.openxmlformats.org/drawingml/2006/main" noGrp="1"/>
          </p:cNvSpPr>
          <p:nvPr/>
        </p:nvSpPr>
        <p:spPr>
          <a:xfrm xmlns:a="http://schemas.openxmlformats.org/drawingml/2006/main">
            <a:off x="6477000" y="2143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决定性证据有限</a:t>
            </a:r>
          </a:p>
        </p:txBody>
      </p:sp>
      <p:sp>
        <p:nvSpPr>
          <p:cNvPr id="22" name="">
            <a:extLst xmlns:a="http://schemas.openxmlformats.org/drawingml/2006/main">
              <a:ext uri="{FF2B5EF4-FFF2-40B4-BE49-F238E27FC236}">
                <a16:creationId xmlns:a16="http://schemas.microsoft.com/office/drawing/2014/main" id="{664DE10E-22A2-46AC-891B-460E70E37A52}"/>
              </a:ext>
            </a:extLst>
          </p:cNvPr>
          <p:cNvSpPr>
            <a:spLocks xmlns:a="http://schemas.openxmlformats.org/drawingml/2006/main" noGrp="1"/>
          </p:cNvSpPr>
          <p:nvPr/>
        </p:nvSpPr>
        <p:spPr>
          <a:xfrm xmlns:a="http://schemas.openxmlformats.org/drawingml/2006/main">
            <a:off x="6477000" y="2476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真正区分候选的可能只有一两个低强度峰，或少数峰之间的相对强度关系，容易在全局表示中被稀释。</a:t>
            </a:r>
          </a:p>
        </p:txBody>
      </p:sp>
      <p:sp>
        <p:nvSpPr>
          <p:cNvPr id="23" name="">
            <a:extLst xmlns:a="http://schemas.openxmlformats.org/drawingml/2006/main">
              <a:ext uri="{FF2B5EF4-FFF2-40B4-BE49-F238E27FC236}">
                <a16:creationId xmlns:a16="http://schemas.microsoft.com/office/drawing/2014/main" id="{AA16F9B8-AEEE-4F2B-AAAE-FE051C4DCF90}"/>
              </a:ext>
            </a:extLst>
          </p:cNvPr>
          <p:cNvSpPr>
            <a:spLocks xmlns:a="http://schemas.openxmlformats.org/drawingml/2006/main" noGrp="1"/>
          </p:cNvSpPr>
          <p:nvPr/>
        </p:nvSpPr>
        <p:spPr>
          <a:xfrm xmlns:a="http://schemas.openxmlformats.org/drawingml/2006/main">
            <a:off x="5905500" y="3152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E3D02AA-652E-4345-9528-FAA50EAF2298}"/>
              </a:ext>
            </a:extLst>
          </p:cNvPr>
          <p:cNvSpPr>
            <a:spLocks xmlns:a="http://schemas.openxmlformats.org/drawingml/2006/main" noGrp="1"/>
          </p:cNvSpPr>
          <p:nvPr/>
        </p:nvSpPr>
        <p:spPr>
          <a:xfrm xmlns:a="http://schemas.openxmlformats.org/drawingml/2006/main">
            <a:off x="5905500" y="3305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3</a:t>
            </a:r>
          </a:p>
        </p:txBody>
      </p:sp>
      <p:sp>
        <p:nvSpPr>
          <p:cNvPr id="25" name="">
            <a:extLst xmlns:a="http://schemas.openxmlformats.org/drawingml/2006/main">
              <a:ext uri="{FF2B5EF4-FFF2-40B4-BE49-F238E27FC236}">
                <a16:creationId xmlns:a16="http://schemas.microsoft.com/office/drawing/2014/main" id="{4523F866-7279-49BB-825B-65A96056AE78}"/>
              </a:ext>
            </a:extLst>
          </p:cNvPr>
          <p:cNvSpPr>
            <a:spLocks xmlns:a="http://schemas.openxmlformats.org/drawingml/2006/main" noGrp="1"/>
          </p:cNvSpPr>
          <p:nvPr/>
        </p:nvSpPr>
        <p:spPr>
          <a:xfrm xmlns:a="http://schemas.openxmlformats.org/drawingml/2006/main">
            <a:off x="6477000" y="3286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采集条件改变谱图</a:t>
            </a:r>
          </a:p>
        </p:txBody>
      </p:sp>
      <p:sp>
        <p:nvSpPr>
          <p:cNvPr id="26" name="">
            <a:extLst xmlns:a="http://schemas.openxmlformats.org/drawingml/2006/main">
              <a:ext uri="{FF2B5EF4-FFF2-40B4-BE49-F238E27FC236}">
                <a16:creationId xmlns:a16="http://schemas.microsoft.com/office/drawing/2014/main" id="{DED4267C-E5D6-49B1-AE2D-64B9D8980D71}"/>
              </a:ext>
            </a:extLst>
          </p:cNvPr>
          <p:cNvSpPr>
            <a:spLocks xmlns:a="http://schemas.openxmlformats.org/drawingml/2006/main" noGrp="1"/>
          </p:cNvSpPr>
          <p:nvPr/>
        </p:nvSpPr>
        <p:spPr>
          <a:xfrm xmlns:a="http://schemas.openxmlformats.org/drawingml/2006/main">
            <a:off x="6477000" y="3619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仪器平台、碰撞能、加合离子（adduct）和噪声会改变峰是否出现及其强度；同一化合物的两张谱也可能差异明显。</a:t>
            </a:r>
          </a:p>
        </p:txBody>
      </p:sp>
      <p:sp>
        <p:nvSpPr>
          <p:cNvPr id="27" name="">
            <a:extLst xmlns:a="http://schemas.openxmlformats.org/drawingml/2006/main">
              <a:ext uri="{FF2B5EF4-FFF2-40B4-BE49-F238E27FC236}">
                <a16:creationId xmlns:a16="http://schemas.microsoft.com/office/drawing/2014/main" id="{3F9BCD12-E0DB-4ED4-99F6-280D6DD0C63E}"/>
              </a:ext>
            </a:extLst>
          </p:cNvPr>
          <p:cNvSpPr>
            <a:spLocks xmlns:a="http://schemas.openxmlformats.org/drawingml/2006/main" noGrp="1"/>
          </p:cNvSpPr>
          <p:nvPr/>
        </p:nvSpPr>
        <p:spPr>
          <a:xfrm xmlns:a="http://schemas.openxmlformats.org/drawingml/2006/main">
            <a:off x="5905500" y="4295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407DBB-5DB5-4BC8-8808-14D19F8FF7A7}"/>
              </a:ext>
            </a:extLst>
          </p:cNvPr>
          <p:cNvSpPr>
            <a:spLocks xmlns:a="http://schemas.openxmlformats.org/drawingml/2006/main" noGrp="1"/>
          </p:cNvSpPr>
          <p:nvPr/>
        </p:nvSpPr>
        <p:spPr>
          <a:xfrm xmlns:a="http://schemas.openxmlformats.org/drawingml/2006/main">
            <a:off x="5905500" y="4448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4</a:t>
            </a:r>
          </a:p>
        </p:txBody>
      </p:sp>
      <p:sp>
        <p:nvSpPr>
          <p:cNvPr id="29" name="">
            <a:extLst xmlns:a="http://schemas.openxmlformats.org/drawingml/2006/main">
              <a:ext uri="{FF2B5EF4-FFF2-40B4-BE49-F238E27FC236}">
                <a16:creationId xmlns:a16="http://schemas.microsoft.com/office/drawing/2014/main" id="{3F74763D-1302-4937-ABDE-F236A911EF0F}"/>
              </a:ext>
            </a:extLst>
          </p:cNvPr>
          <p:cNvSpPr>
            <a:spLocks xmlns:a="http://schemas.openxmlformats.org/drawingml/2006/main" noGrp="1"/>
          </p:cNvSpPr>
          <p:nvPr/>
        </p:nvSpPr>
        <p:spPr>
          <a:xfrm xmlns:a="http://schemas.openxmlformats.org/drawingml/2006/main">
            <a:off x="6477000" y="4429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单谱缺少样本环境</a:t>
            </a:r>
          </a:p>
        </p:txBody>
      </p:sp>
      <p:sp>
        <p:nvSpPr>
          <p:cNvPr id="30" name="">
            <a:extLst xmlns:a="http://schemas.openxmlformats.org/drawingml/2006/main">
              <a:ext uri="{FF2B5EF4-FFF2-40B4-BE49-F238E27FC236}">
                <a16:creationId xmlns:a16="http://schemas.microsoft.com/office/drawing/2014/main" id="{CF64E4F4-4A4E-4CE3-AEB7-3528D2CAF7F8}"/>
              </a:ext>
            </a:extLst>
          </p:cNvPr>
          <p:cNvSpPr>
            <a:spLocks xmlns:a="http://schemas.openxmlformats.org/drawingml/2006/main" noGrp="1"/>
          </p:cNvSpPr>
          <p:nvPr/>
        </p:nvSpPr>
        <p:spPr>
          <a:xfrm xmlns:a="http://schemas.openxmlformats.org/drawingml/2006/main">
            <a:off x="6477000" y="4762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MS/MS 本身无法告诉模型该分子来自什么组织、与哪些代谢物共现、是否存在合理的一步反应邻居。</a:t>
            </a:r>
          </a:p>
        </p:txBody>
      </p:sp>
      <p:sp>
        <p:nvSpPr>
          <p:cNvPr id="31" name="">
            <a:extLst xmlns:a="http://schemas.openxmlformats.org/drawingml/2006/main">
              <a:ext uri="{FF2B5EF4-FFF2-40B4-BE49-F238E27FC236}">
                <a16:creationId xmlns:a16="http://schemas.microsoft.com/office/drawing/2014/main" id="{6C4DFE30-901D-41EA-92D7-5D7D4526A679}"/>
              </a:ext>
            </a:extLst>
          </p:cNvPr>
          <p:cNvSpPr>
            <a:spLocks xmlns:a="http://schemas.openxmlformats.org/drawingml/2006/main" noGrp="1"/>
          </p:cNvSpPr>
          <p:nvPr/>
        </p:nvSpPr>
        <p:spPr>
          <a:xfrm xmlns:a="http://schemas.openxmlformats.org/drawingml/2006/main">
            <a:off x="5905500" y="5438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59E4236-BDB9-427C-B0DC-96D55C67F683}"/>
              </a:ext>
            </a:extLst>
          </p:cNvPr>
          <p:cNvSpPr>
            <a:spLocks xmlns:a="http://schemas.openxmlformats.org/drawingml/2006/main" noGrp="1"/>
          </p:cNvSpPr>
          <p:nvPr/>
        </p:nvSpPr>
        <p:spPr>
          <a:xfrm xmlns:a="http://schemas.openxmlformats.org/drawingml/2006/main">
            <a:off x="6143625" y="5648325"/>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22"/>
          </a:bodyPr>
          <a:lstStyle xmlns:a="http://schemas.openxmlformats.org/drawingml/2006/main"/>
          <a:p xmlns:a="http://schemas.openxmlformats.org/drawingml/2006/main">
            <a:pPr algn="ctr">
              <a:defRPr sz="1463" b="1" i="0">
                <a:solidFill>
                  <a:srgbClr val="7A1F86"/>
                </a:solidFill>
                <a:latin typeface="Microsoft YaHei"/>
                <a:ea typeface="Microsoft YaHei"/>
                <a:cs typeface="Microsoft YaHei"/>
              </a:defRPr>
            </a:pPr>
            <a:r>
              <a:rPr sz="1463" b="1" i="0">
                <a:solidFill>
                  <a:srgbClr val="7A1F86"/>
                </a:solidFill>
                <a:latin typeface="Microsoft YaHei"/>
                <a:ea typeface="Microsoft YaHei"/>
                <a:cs typeface="Microsoft YaHei"/>
              </a:rPr>
              <a:t>这些困难是否真正造成 DreaMS 的排序错误，需要在统一候选集合中逐项分析。</a:t>
            </a:r>
          </a:p>
        </p:txBody>
      </p:sp>
    </p:spTree>
    <p:extLst>
      <p:ext uri="{BB962C8B-B14F-4D97-AF65-F5344CB8AC3E}">
        <p14:creationId xmlns:p14="http://schemas.microsoft.com/office/powerpoint/2010/main" val="12886171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5D9F4AF-9F82-44D4-B440-12A0035B1482}"/>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7C0292-99E3-4129-AA62-8AE5AC678353}"/>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A467A0-85EA-49DC-9649-4B30B013AA9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C8A848-CEC2-4F26-B4A1-3A7E60351253}"/>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DA32FD-7F06-4A3D-9B47-80209EB47144}"/>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代谢物注释四类计算路线的主要优势与局限</a:t>
            </a:r>
          </a:p>
        </p:txBody>
      </p:sp>
      <p:sp>
        <p:nvSpPr>
          <p:cNvPr id="6" name="">
            <a:extLst xmlns:a="http://schemas.openxmlformats.org/drawingml/2006/main">
              <a:ext uri="{FF2B5EF4-FFF2-40B4-BE49-F238E27FC236}">
                <a16:creationId xmlns:a16="http://schemas.microsoft.com/office/drawing/2014/main" id="{D1A06118-C459-4E21-8FA7-F9C27B8C5309}"/>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7A7128-48E7-4B43-959F-D36F14A8BC6C}"/>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B14B73-245C-405A-8040-3C81CA6985EC}"/>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73E097-FC9D-4C7E-AD11-BF5338F358F1}"/>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C7D1F996-8D2E-413C-8B61-A31C86FBB5A4}"/>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56257798-7D2C-441D-9552-BF10DBB9F3D6}"/>
              </a:ext>
            </a:extLst>
          </p:cNvPr>
          <p:cNvSpPr>
            <a:spLocks xmlns:a="http://schemas.openxmlformats.org/drawingml/2006/main" noGrp="1"/>
          </p:cNvSpPr>
          <p:nvPr/>
        </p:nvSpPr>
        <p:spPr>
          <a:xfrm xmlns:a="http://schemas.openxmlformats.org/drawingml/2006/main">
            <a:off x="428625" y="933450"/>
            <a:ext cx="1952625"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2" name="">
            <a:extLst xmlns:a="http://schemas.openxmlformats.org/drawingml/2006/main">
              <a:ext uri="{FF2B5EF4-FFF2-40B4-BE49-F238E27FC236}">
                <a16:creationId xmlns:a16="http://schemas.microsoft.com/office/drawing/2014/main" id="{859A8395-8688-4E1D-B10F-AE249191847D}"/>
              </a:ext>
            </a:extLst>
          </p:cNvPr>
          <p:cNvSpPr>
            <a:spLocks xmlns:a="http://schemas.openxmlformats.org/drawingml/2006/main" noGrp="1"/>
          </p:cNvSpPr>
          <p:nvPr/>
        </p:nvSpPr>
        <p:spPr>
          <a:xfrm xmlns:a="http://schemas.openxmlformats.org/drawingml/2006/main">
            <a:off x="485775" y="1019175"/>
            <a:ext cx="1838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方法路线</a:t>
            </a:r>
          </a:p>
        </p:txBody>
      </p:sp>
      <p:sp>
        <p:nvSpPr>
          <p:cNvPr id="13" name="">
            <a:extLst xmlns:a="http://schemas.openxmlformats.org/drawingml/2006/main">
              <a:ext uri="{FF2B5EF4-FFF2-40B4-BE49-F238E27FC236}">
                <a16:creationId xmlns:a16="http://schemas.microsoft.com/office/drawing/2014/main" id="{3FCEBC7D-38C4-4F3E-BF86-25B1953B0AF0}"/>
              </a:ext>
            </a:extLst>
          </p:cNvPr>
          <p:cNvSpPr>
            <a:spLocks xmlns:a="http://schemas.openxmlformats.org/drawingml/2006/main" noGrp="1"/>
          </p:cNvSpPr>
          <p:nvPr/>
        </p:nvSpPr>
        <p:spPr>
          <a:xfrm xmlns:a="http://schemas.openxmlformats.org/drawingml/2006/main">
            <a:off x="2476500" y="933450"/>
            <a:ext cx="2714625"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4" name="">
            <a:extLst xmlns:a="http://schemas.openxmlformats.org/drawingml/2006/main">
              <a:ext uri="{FF2B5EF4-FFF2-40B4-BE49-F238E27FC236}">
                <a16:creationId xmlns:a16="http://schemas.microsoft.com/office/drawing/2014/main" id="{9C1500DF-73F6-45E0-8321-830855C8161B}"/>
              </a:ext>
            </a:extLst>
          </p:cNvPr>
          <p:cNvSpPr>
            <a:spLocks xmlns:a="http://schemas.openxmlformats.org/drawingml/2006/main" noGrp="1"/>
          </p:cNvSpPr>
          <p:nvPr/>
        </p:nvSpPr>
        <p:spPr>
          <a:xfrm xmlns:a="http://schemas.openxmlformats.org/drawingml/2006/main">
            <a:off x="2533650" y="1019175"/>
            <a:ext cx="2600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使用什么信息</a:t>
            </a:r>
          </a:p>
        </p:txBody>
      </p:sp>
      <p:sp>
        <p:nvSpPr>
          <p:cNvPr id="15" name="">
            <a:extLst xmlns:a="http://schemas.openxmlformats.org/drawingml/2006/main">
              <a:ext uri="{FF2B5EF4-FFF2-40B4-BE49-F238E27FC236}">
                <a16:creationId xmlns:a16="http://schemas.microsoft.com/office/drawing/2014/main" id="{314AF2A7-5673-4FE6-BEC3-A89335F067EF}"/>
              </a:ext>
            </a:extLst>
          </p:cNvPr>
          <p:cNvSpPr>
            <a:spLocks xmlns:a="http://schemas.openxmlformats.org/drawingml/2006/main" noGrp="1"/>
          </p:cNvSpPr>
          <p:nvPr/>
        </p:nvSpPr>
        <p:spPr>
          <a:xfrm xmlns:a="http://schemas.openxmlformats.org/drawingml/2006/main">
            <a:off x="5286375" y="933450"/>
            <a:ext cx="2667000"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6" name="">
            <a:extLst xmlns:a="http://schemas.openxmlformats.org/drawingml/2006/main">
              <a:ext uri="{FF2B5EF4-FFF2-40B4-BE49-F238E27FC236}">
                <a16:creationId xmlns:a16="http://schemas.microsoft.com/office/drawing/2014/main" id="{A5D6B172-C2E7-4657-BF43-7B80E6B82C19}"/>
              </a:ext>
            </a:extLst>
          </p:cNvPr>
          <p:cNvSpPr>
            <a:spLocks xmlns:a="http://schemas.openxmlformats.org/drawingml/2006/main" noGrp="1"/>
          </p:cNvSpPr>
          <p:nvPr/>
        </p:nvSpPr>
        <p:spPr>
          <a:xfrm xmlns:a="http://schemas.openxmlformats.org/drawingml/2006/main">
            <a:off x="5343525" y="1019175"/>
            <a:ext cx="2552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主要优势</a:t>
            </a:r>
          </a:p>
        </p:txBody>
      </p:sp>
      <p:sp>
        <p:nvSpPr>
          <p:cNvPr id="17" name="">
            <a:extLst xmlns:a="http://schemas.openxmlformats.org/drawingml/2006/main">
              <a:ext uri="{FF2B5EF4-FFF2-40B4-BE49-F238E27FC236}">
                <a16:creationId xmlns:a16="http://schemas.microsoft.com/office/drawing/2014/main" id="{F174F62D-CEC7-468C-A1FC-FD3DDB1E03B6}"/>
              </a:ext>
            </a:extLst>
          </p:cNvPr>
          <p:cNvSpPr>
            <a:spLocks xmlns:a="http://schemas.openxmlformats.org/drawingml/2006/main" noGrp="1"/>
          </p:cNvSpPr>
          <p:nvPr/>
        </p:nvSpPr>
        <p:spPr>
          <a:xfrm xmlns:a="http://schemas.openxmlformats.org/drawingml/2006/main">
            <a:off x="8048625" y="933450"/>
            <a:ext cx="3714750"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8" name="">
            <a:extLst xmlns:a="http://schemas.openxmlformats.org/drawingml/2006/main">
              <a:ext uri="{FF2B5EF4-FFF2-40B4-BE49-F238E27FC236}">
                <a16:creationId xmlns:a16="http://schemas.microsoft.com/office/drawing/2014/main" id="{B8E92DC2-C46A-4141-AFC1-9F66EEA91F10}"/>
              </a:ext>
            </a:extLst>
          </p:cNvPr>
          <p:cNvSpPr>
            <a:spLocks xmlns:a="http://schemas.openxmlformats.org/drawingml/2006/main" noGrp="1"/>
          </p:cNvSpPr>
          <p:nvPr/>
        </p:nvSpPr>
        <p:spPr>
          <a:xfrm xmlns:a="http://schemas.openxmlformats.org/drawingml/2006/main">
            <a:off x="8105775" y="101917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当前限制</a:t>
            </a:r>
          </a:p>
        </p:txBody>
      </p:sp>
      <p:sp>
        <p:nvSpPr>
          <p:cNvPr id="19" name="">
            <a:extLst xmlns:a="http://schemas.openxmlformats.org/drawingml/2006/main">
              <a:ext uri="{FF2B5EF4-FFF2-40B4-BE49-F238E27FC236}">
                <a16:creationId xmlns:a16="http://schemas.microsoft.com/office/drawing/2014/main" id="{1EDAD1FB-CC98-46A7-84EC-D0ABDD1DDABE}"/>
              </a:ext>
            </a:extLst>
          </p:cNvPr>
          <p:cNvSpPr>
            <a:spLocks xmlns:a="http://schemas.openxmlformats.org/drawingml/2006/main" noGrp="1"/>
          </p:cNvSpPr>
          <p:nvPr/>
        </p:nvSpPr>
        <p:spPr>
          <a:xfrm xmlns:a="http://schemas.openxmlformats.org/drawingml/2006/main">
            <a:off x="428625" y="1390650"/>
            <a:ext cx="1952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EB6A6830-2EA9-4C31-8514-B65FE7F5B448}"/>
              </a:ext>
            </a:extLst>
          </p:cNvPr>
          <p:cNvSpPr>
            <a:spLocks xmlns:a="http://schemas.openxmlformats.org/drawingml/2006/main" noGrp="1"/>
          </p:cNvSpPr>
          <p:nvPr/>
        </p:nvSpPr>
        <p:spPr>
          <a:xfrm xmlns:a="http://schemas.openxmlformats.org/drawingml/2006/main">
            <a:off x="542925" y="15144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标准谱库匹配</a:t>
            </a:r>
          </a:p>
        </p:txBody>
      </p:sp>
      <p:sp>
        <p:nvSpPr>
          <p:cNvPr id="21" name="">
            <a:extLst xmlns:a="http://schemas.openxmlformats.org/drawingml/2006/main">
              <a:ext uri="{FF2B5EF4-FFF2-40B4-BE49-F238E27FC236}">
                <a16:creationId xmlns:a16="http://schemas.microsoft.com/office/drawing/2014/main" id="{1C38BDAB-637D-470A-A42F-DCC0227C6414}"/>
              </a:ext>
            </a:extLst>
          </p:cNvPr>
          <p:cNvSpPr>
            <a:spLocks xmlns:a="http://schemas.openxmlformats.org/drawingml/2006/main" noGrp="1"/>
          </p:cNvSpPr>
          <p:nvPr/>
        </p:nvSpPr>
        <p:spPr>
          <a:xfrm xmlns:a="http://schemas.openxmlformats.org/drawingml/2006/main">
            <a:off x="2476500" y="1390650"/>
            <a:ext cx="2714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771456A6-A557-452E-AB43-D3C8305F105C}"/>
              </a:ext>
            </a:extLst>
          </p:cNvPr>
          <p:cNvSpPr>
            <a:spLocks xmlns:a="http://schemas.openxmlformats.org/drawingml/2006/main" noGrp="1"/>
          </p:cNvSpPr>
          <p:nvPr/>
        </p:nvSpPr>
        <p:spPr>
          <a:xfrm xmlns:a="http://schemas.openxmlformats.org/drawingml/2006/main">
            <a:off x="2590800" y="15144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查询谱与标准品参考谱直接比较</a:t>
            </a:r>
          </a:p>
        </p:txBody>
      </p:sp>
      <p:sp>
        <p:nvSpPr>
          <p:cNvPr id="23" name="">
            <a:extLst xmlns:a="http://schemas.openxmlformats.org/drawingml/2006/main">
              <a:ext uri="{FF2B5EF4-FFF2-40B4-BE49-F238E27FC236}">
                <a16:creationId xmlns:a16="http://schemas.microsoft.com/office/drawing/2014/main" id="{1CDE1059-EB8D-49A5-9ABD-B381E5F3FCAB}"/>
              </a:ext>
            </a:extLst>
          </p:cNvPr>
          <p:cNvSpPr>
            <a:spLocks xmlns:a="http://schemas.openxmlformats.org/drawingml/2006/main" noGrp="1"/>
          </p:cNvSpPr>
          <p:nvPr/>
        </p:nvSpPr>
        <p:spPr>
          <a:xfrm xmlns:a="http://schemas.openxmlformats.org/drawingml/2006/main">
            <a:off x="5286375" y="13906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95519DCF-87C9-4D28-BA79-08B13E4E94DB}"/>
              </a:ext>
            </a:extLst>
          </p:cNvPr>
          <p:cNvSpPr>
            <a:spLocks xmlns:a="http://schemas.openxmlformats.org/drawingml/2006/main" noGrp="1"/>
          </p:cNvSpPr>
          <p:nvPr/>
        </p:nvSpPr>
        <p:spPr>
          <a:xfrm xmlns:a="http://schemas.openxmlformats.org/drawingml/2006/main">
            <a:off x="5400675" y="15144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证据直观、可追溯；匹配标准品时鉴定等级高</a:t>
            </a:r>
          </a:p>
        </p:txBody>
      </p:sp>
      <p:sp>
        <p:nvSpPr>
          <p:cNvPr id="25" name="">
            <a:extLst xmlns:a="http://schemas.openxmlformats.org/drawingml/2006/main">
              <a:ext uri="{FF2B5EF4-FFF2-40B4-BE49-F238E27FC236}">
                <a16:creationId xmlns:a16="http://schemas.microsoft.com/office/drawing/2014/main" id="{EFF86303-500E-4821-95A6-AA3322D3D04B}"/>
              </a:ext>
            </a:extLst>
          </p:cNvPr>
          <p:cNvSpPr>
            <a:spLocks xmlns:a="http://schemas.openxmlformats.org/drawingml/2006/main" noGrp="1"/>
          </p:cNvSpPr>
          <p:nvPr/>
        </p:nvSpPr>
        <p:spPr>
          <a:xfrm xmlns:a="http://schemas.openxmlformats.org/drawingml/2006/main">
            <a:off x="8048625" y="139065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C1F0116D-D1F3-4080-BB37-8FAA1266E797}"/>
              </a:ext>
            </a:extLst>
          </p:cNvPr>
          <p:cNvSpPr>
            <a:spLocks xmlns:a="http://schemas.openxmlformats.org/drawingml/2006/main" noGrp="1"/>
          </p:cNvSpPr>
          <p:nvPr/>
        </p:nvSpPr>
        <p:spPr>
          <a:xfrm xmlns:a="http://schemas.openxmlformats.org/drawingml/2006/main">
            <a:off x="8162925" y="15144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受谱库覆盖、仪器与碰撞条件限制；没有参考谱就无法直接匹配</a:t>
            </a:r>
          </a:p>
        </p:txBody>
      </p:sp>
      <p:sp>
        <p:nvSpPr>
          <p:cNvPr id="27" name="">
            <a:extLst xmlns:a="http://schemas.openxmlformats.org/drawingml/2006/main">
              <a:ext uri="{FF2B5EF4-FFF2-40B4-BE49-F238E27FC236}">
                <a16:creationId xmlns:a16="http://schemas.microsoft.com/office/drawing/2014/main" id="{C62CAC56-1D26-4AEC-B8B0-EA35DFDFB604}"/>
              </a:ext>
            </a:extLst>
          </p:cNvPr>
          <p:cNvSpPr>
            <a:spLocks xmlns:a="http://schemas.openxmlformats.org/drawingml/2006/main" noGrp="1"/>
          </p:cNvSpPr>
          <p:nvPr/>
        </p:nvSpPr>
        <p:spPr>
          <a:xfrm xmlns:a="http://schemas.openxmlformats.org/drawingml/2006/main">
            <a:off x="428625" y="2419350"/>
            <a:ext cx="1952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8" name="">
            <a:extLst xmlns:a="http://schemas.openxmlformats.org/drawingml/2006/main">
              <a:ext uri="{FF2B5EF4-FFF2-40B4-BE49-F238E27FC236}">
                <a16:creationId xmlns:a16="http://schemas.microsoft.com/office/drawing/2014/main" id="{5A1C7E04-B19C-4232-9B2E-1AEDAE987419}"/>
              </a:ext>
            </a:extLst>
          </p:cNvPr>
          <p:cNvSpPr>
            <a:spLocks xmlns:a="http://schemas.openxmlformats.org/drawingml/2006/main" noGrp="1"/>
          </p:cNvSpPr>
          <p:nvPr/>
        </p:nvSpPr>
        <p:spPr>
          <a:xfrm xmlns:a="http://schemas.openxmlformats.org/drawingml/2006/main">
            <a:off x="542925" y="25431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分子网络与知识传播</a:t>
            </a:r>
          </a:p>
        </p:txBody>
      </p:sp>
      <p:sp>
        <p:nvSpPr>
          <p:cNvPr id="29" name="">
            <a:extLst xmlns:a="http://schemas.openxmlformats.org/drawingml/2006/main">
              <a:ext uri="{FF2B5EF4-FFF2-40B4-BE49-F238E27FC236}">
                <a16:creationId xmlns:a16="http://schemas.microsoft.com/office/drawing/2014/main" id="{2393C66D-3B1B-492E-986E-1691947822B3}"/>
              </a:ext>
            </a:extLst>
          </p:cNvPr>
          <p:cNvSpPr>
            <a:spLocks xmlns:a="http://schemas.openxmlformats.org/drawingml/2006/main" noGrp="1"/>
          </p:cNvSpPr>
          <p:nvPr/>
        </p:nvSpPr>
        <p:spPr>
          <a:xfrm xmlns:a="http://schemas.openxmlformats.org/drawingml/2006/main">
            <a:off x="2476500" y="2419350"/>
            <a:ext cx="2714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7AB271A6-D837-4162-98A7-64DF59F11714}"/>
              </a:ext>
            </a:extLst>
          </p:cNvPr>
          <p:cNvSpPr>
            <a:spLocks xmlns:a="http://schemas.openxmlformats.org/drawingml/2006/main" noGrp="1"/>
          </p:cNvSpPr>
          <p:nvPr/>
        </p:nvSpPr>
        <p:spPr>
          <a:xfrm xmlns:a="http://schemas.openxmlformats.org/drawingml/2006/main">
            <a:off x="2590800" y="25431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谱图相似网络、已知种子和相邻节点</a:t>
            </a:r>
          </a:p>
        </p:txBody>
      </p:sp>
      <p:sp>
        <p:nvSpPr>
          <p:cNvPr id="31" name="">
            <a:extLst xmlns:a="http://schemas.openxmlformats.org/drawingml/2006/main">
              <a:ext uri="{FF2B5EF4-FFF2-40B4-BE49-F238E27FC236}">
                <a16:creationId xmlns:a16="http://schemas.microsoft.com/office/drawing/2014/main" id="{86FFFFE4-D67B-4926-AF0B-5036CA576CE0}"/>
              </a:ext>
            </a:extLst>
          </p:cNvPr>
          <p:cNvSpPr>
            <a:spLocks xmlns:a="http://schemas.openxmlformats.org/drawingml/2006/main" noGrp="1"/>
          </p:cNvSpPr>
          <p:nvPr/>
        </p:nvSpPr>
        <p:spPr>
          <a:xfrm xmlns:a="http://schemas.openxmlformats.org/drawingml/2006/main">
            <a:off x="5286375" y="2419350"/>
            <a:ext cx="266700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8C6C54DE-B704-47FE-9C80-D8F0D875CC6E}"/>
              </a:ext>
            </a:extLst>
          </p:cNvPr>
          <p:cNvSpPr>
            <a:spLocks xmlns:a="http://schemas.openxmlformats.org/drawingml/2006/main" noGrp="1"/>
          </p:cNvSpPr>
          <p:nvPr/>
        </p:nvSpPr>
        <p:spPr>
          <a:xfrm xmlns:a="http://schemas.openxmlformats.org/drawingml/2006/main">
            <a:off x="5400675" y="25431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可在一个数据集内扩大已知注释覆盖</a:t>
            </a:r>
          </a:p>
        </p:txBody>
      </p:sp>
      <p:sp>
        <p:nvSpPr>
          <p:cNvPr id="33" name="">
            <a:extLst xmlns:a="http://schemas.openxmlformats.org/drawingml/2006/main">
              <a:ext uri="{FF2B5EF4-FFF2-40B4-BE49-F238E27FC236}">
                <a16:creationId xmlns:a16="http://schemas.microsoft.com/office/drawing/2014/main" id="{78A5AE14-FBDC-471C-852D-B1D0EF118154}"/>
              </a:ext>
            </a:extLst>
          </p:cNvPr>
          <p:cNvSpPr>
            <a:spLocks xmlns:a="http://schemas.openxmlformats.org/drawingml/2006/main" noGrp="1"/>
          </p:cNvSpPr>
          <p:nvPr/>
        </p:nvSpPr>
        <p:spPr>
          <a:xfrm xmlns:a="http://schemas.openxmlformats.org/drawingml/2006/main">
            <a:off x="8048625" y="2419350"/>
            <a:ext cx="371475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4" name="">
            <a:extLst xmlns:a="http://schemas.openxmlformats.org/drawingml/2006/main">
              <a:ext uri="{FF2B5EF4-FFF2-40B4-BE49-F238E27FC236}">
                <a16:creationId xmlns:a16="http://schemas.microsoft.com/office/drawing/2014/main" id="{2EED7688-EF1C-4F21-8750-4412477AB55F}"/>
              </a:ext>
            </a:extLst>
          </p:cNvPr>
          <p:cNvSpPr>
            <a:spLocks xmlns:a="http://schemas.openxmlformats.org/drawingml/2006/main" noGrp="1"/>
          </p:cNvSpPr>
          <p:nvPr/>
        </p:nvSpPr>
        <p:spPr>
          <a:xfrm xmlns:a="http://schemas.openxmlformats.org/drawingml/2006/main">
            <a:off x="8162925" y="25431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相似谱不必然来自同一结构；种子错误与噪声可能沿网络传播</a:t>
            </a:r>
          </a:p>
        </p:txBody>
      </p:sp>
      <p:sp>
        <p:nvSpPr>
          <p:cNvPr id="35" name="">
            <a:extLst xmlns:a="http://schemas.openxmlformats.org/drawingml/2006/main">
              <a:ext uri="{FF2B5EF4-FFF2-40B4-BE49-F238E27FC236}">
                <a16:creationId xmlns:a16="http://schemas.microsoft.com/office/drawing/2014/main" id="{FAB80955-043A-486A-8C09-119F98545A96}"/>
              </a:ext>
            </a:extLst>
          </p:cNvPr>
          <p:cNvSpPr>
            <a:spLocks xmlns:a="http://schemas.openxmlformats.org/drawingml/2006/main" noGrp="1"/>
          </p:cNvSpPr>
          <p:nvPr/>
        </p:nvSpPr>
        <p:spPr>
          <a:xfrm xmlns:a="http://schemas.openxmlformats.org/drawingml/2006/main">
            <a:off x="428625" y="3448050"/>
            <a:ext cx="1952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6" name="">
            <a:extLst xmlns:a="http://schemas.openxmlformats.org/drawingml/2006/main">
              <a:ext uri="{FF2B5EF4-FFF2-40B4-BE49-F238E27FC236}">
                <a16:creationId xmlns:a16="http://schemas.microsoft.com/office/drawing/2014/main" id="{C04DCE18-53A1-42C3-B308-35F5B600FBCF}"/>
              </a:ext>
            </a:extLst>
          </p:cNvPr>
          <p:cNvSpPr>
            <a:spLocks xmlns:a="http://schemas.openxmlformats.org/drawingml/2006/main" noGrp="1"/>
          </p:cNvSpPr>
          <p:nvPr/>
        </p:nvSpPr>
        <p:spPr>
          <a:xfrm xmlns:a="http://schemas.openxmlformats.org/drawingml/2006/main">
            <a:off x="542925" y="35718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计算碎裂与结构预测</a:t>
            </a:r>
          </a:p>
        </p:txBody>
      </p:sp>
      <p:sp>
        <p:nvSpPr>
          <p:cNvPr id="37" name="">
            <a:extLst xmlns:a="http://schemas.openxmlformats.org/drawingml/2006/main">
              <a:ext uri="{FF2B5EF4-FFF2-40B4-BE49-F238E27FC236}">
                <a16:creationId xmlns:a16="http://schemas.microsoft.com/office/drawing/2014/main" id="{48D5BDA8-8386-435C-B537-7E2594DC7582}"/>
              </a:ext>
            </a:extLst>
          </p:cNvPr>
          <p:cNvSpPr>
            <a:spLocks xmlns:a="http://schemas.openxmlformats.org/drawingml/2006/main" noGrp="1"/>
          </p:cNvSpPr>
          <p:nvPr/>
        </p:nvSpPr>
        <p:spPr>
          <a:xfrm xmlns:a="http://schemas.openxmlformats.org/drawingml/2006/main">
            <a:off x="2476500" y="3448050"/>
            <a:ext cx="2714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8" name="">
            <a:extLst xmlns:a="http://schemas.openxmlformats.org/drawingml/2006/main">
              <a:ext uri="{FF2B5EF4-FFF2-40B4-BE49-F238E27FC236}">
                <a16:creationId xmlns:a16="http://schemas.microsoft.com/office/drawing/2014/main" id="{66661518-AA5D-49FE-90A0-1775DA8752A1}"/>
              </a:ext>
            </a:extLst>
          </p:cNvPr>
          <p:cNvSpPr>
            <a:spLocks xmlns:a="http://schemas.openxmlformats.org/drawingml/2006/main" noGrp="1"/>
          </p:cNvSpPr>
          <p:nvPr/>
        </p:nvSpPr>
        <p:spPr>
          <a:xfrm xmlns:a="http://schemas.openxmlformats.org/drawingml/2006/main">
            <a:off x="2590800" y="35718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候选分子图、碎裂规则或生成模型</a:t>
            </a:r>
          </a:p>
        </p:txBody>
      </p:sp>
      <p:sp>
        <p:nvSpPr>
          <p:cNvPr id="39" name="">
            <a:extLst xmlns:a="http://schemas.openxmlformats.org/drawingml/2006/main">
              <a:ext uri="{FF2B5EF4-FFF2-40B4-BE49-F238E27FC236}">
                <a16:creationId xmlns:a16="http://schemas.microsoft.com/office/drawing/2014/main" id="{E6D6AF3A-D73F-4F62-916E-1B1528F25535}"/>
              </a:ext>
            </a:extLst>
          </p:cNvPr>
          <p:cNvSpPr>
            <a:spLocks xmlns:a="http://schemas.openxmlformats.org/drawingml/2006/main" noGrp="1"/>
          </p:cNvSpPr>
          <p:nvPr/>
        </p:nvSpPr>
        <p:spPr>
          <a:xfrm xmlns:a="http://schemas.openxmlformats.org/drawingml/2006/main">
            <a:off x="5286375" y="34480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0" name="">
            <a:extLst xmlns:a="http://schemas.openxmlformats.org/drawingml/2006/main">
              <a:ext uri="{FF2B5EF4-FFF2-40B4-BE49-F238E27FC236}">
                <a16:creationId xmlns:a16="http://schemas.microsoft.com/office/drawing/2014/main" id="{8C5CC69F-487B-4503-BB3F-321A2078C09F}"/>
              </a:ext>
            </a:extLst>
          </p:cNvPr>
          <p:cNvSpPr>
            <a:spLocks xmlns:a="http://schemas.openxmlformats.org/drawingml/2006/main" noGrp="1"/>
          </p:cNvSpPr>
          <p:nvPr/>
        </p:nvSpPr>
        <p:spPr>
          <a:xfrm xmlns:a="http://schemas.openxmlformats.org/drawingml/2006/main">
            <a:off x="5400675" y="35718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能够超出实测参考谱，对候选结构给出机制线索</a:t>
            </a:r>
          </a:p>
        </p:txBody>
      </p:sp>
      <p:sp>
        <p:nvSpPr>
          <p:cNvPr id="41" name="">
            <a:extLst xmlns:a="http://schemas.openxmlformats.org/drawingml/2006/main">
              <a:ext uri="{FF2B5EF4-FFF2-40B4-BE49-F238E27FC236}">
                <a16:creationId xmlns:a16="http://schemas.microsoft.com/office/drawing/2014/main" id="{B537E795-DDF2-47C5-8C07-E4B70E1F65A5}"/>
              </a:ext>
            </a:extLst>
          </p:cNvPr>
          <p:cNvSpPr>
            <a:spLocks xmlns:a="http://schemas.openxmlformats.org/drawingml/2006/main" noGrp="1"/>
          </p:cNvSpPr>
          <p:nvPr/>
        </p:nvSpPr>
        <p:spPr>
          <a:xfrm xmlns:a="http://schemas.openxmlformats.org/drawingml/2006/main">
            <a:off x="8048625" y="344805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2" name="">
            <a:extLst xmlns:a="http://schemas.openxmlformats.org/drawingml/2006/main">
              <a:ext uri="{FF2B5EF4-FFF2-40B4-BE49-F238E27FC236}">
                <a16:creationId xmlns:a16="http://schemas.microsoft.com/office/drawing/2014/main" id="{2B6DA1E1-21BE-4096-B67A-76CE0F609A9C}"/>
              </a:ext>
            </a:extLst>
          </p:cNvPr>
          <p:cNvSpPr>
            <a:spLocks xmlns:a="http://schemas.openxmlformats.org/drawingml/2006/main" noGrp="1"/>
          </p:cNvSpPr>
          <p:nvPr/>
        </p:nvSpPr>
        <p:spPr>
          <a:xfrm xmlns:a="http://schemas.openxmlformats.org/drawingml/2006/main">
            <a:off x="8162925" y="35718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搜索空间大；候选共享骨架时，异构体区分仍然困难</a:t>
            </a:r>
          </a:p>
        </p:txBody>
      </p:sp>
      <p:sp>
        <p:nvSpPr>
          <p:cNvPr id="43" name="">
            <a:extLst xmlns:a="http://schemas.openxmlformats.org/drawingml/2006/main">
              <a:ext uri="{FF2B5EF4-FFF2-40B4-BE49-F238E27FC236}">
                <a16:creationId xmlns:a16="http://schemas.microsoft.com/office/drawing/2014/main" id="{71EAE4DE-C138-4EBE-B870-908BA1711D26}"/>
              </a:ext>
            </a:extLst>
          </p:cNvPr>
          <p:cNvSpPr>
            <a:spLocks xmlns:a="http://schemas.openxmlformats.org/drawingml/2006/main" noGrp="1"/>
          </p:cNvSpPr>
          <p:nvPr/>
        </p:nvSpPr>
        <p:spPr>
          <a:xfrm xmlns:a="http://schemas.openxmlformats.org/drawingml/2006/main">
            <a:off x="428625" y="4476750"/>
            <a:ext cx="1952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4" name="">
            <a:extLst xmlns:a="http://schemas.openxmlformats.org/drawingml/2006/main">
              <a:ext uri="{FF2B5EF4-FFF2-40B4-BE49-F238E27FC236}">
                <a16:creationId xmlns:a16="http://schemas.microsoft.com/office/drawing/2014/main" id="{F0FCCD01-9880-4DC9-8F77-8007EEA8786F}"/>
              </a:ext>
            </a:extLst>
          </p:cNvPr>
          <p:cNvSpPr>
            <a:spLocks xmlns:a="http://schemas.openxmlformats.org/drawingml/2006/main" noGrp="1"/>
          </p:cNvSpPr>
          <p:nvPr/>
        </p:nvSpPr>
        <p:spPr>
          <a:xfrm xmlns:a="http://schemas.openxmlformats.org/drawingml/2006/main">
            <a:off x="542925" y="46005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谱图表征学习</a:t>
            </a:r>
          </a:p>
        </p:txBody>
      </p:sp>
      <p:sp>
        <p:nvSpPr>
          <p:cNvPr id="45" name="">
            <a:extLst xmlns:a="http://schemas.openxmlformats.org/drawingml/2006/main">
              <a:ext uri="{FF2B5EF4-FFF2-40B4-BE49-F238E27FC236}">
                <a16:creationId xmlns:a16="http://schemas.microsoft.com/office/drawing/2014/main" id="{1F194197-E7DD-4CD6-95B8-E655337E61D6}"/>
              </a:ext>
            </a:extLst>
          </p:cNvPr>
          <p:cNvSpPr>
            <a:spLocks xmlns:a="http://schemas.openxmlformats.org/drawingml/2006/main" noGrp="1"/>
          </p:cNvSpPr>
          <p:nvPr/>
        </p:nvSpPr>
        <p:spPr>
          <a:xfrm xmlns:a="http://schemas.openxmlformats.org/drawingml/2006/main">
            <a:off x="2476500" y="4476750"/>
            <a:ext cx="2714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6" name="">
            <a:extLst xmlns:a="http://schemas.openxmlformats.org/drawingml/2006/main">
              <a:ext uri="{FF2B5EF4-FFF2-40B4-BE49-F238E27FC236}">
                <a16:creationId xmlns:a16="http://schemas.microsoft.com/office/drawing/2014/main" id="{307C621A-4FF4-471E-9AB2-5CF0AE7EA13D}"/>
              </a:ext>
            </a:extLst>
          </p:cNvPr>
          <p:cNvSpPr>
            <a:spLocks xmlns:a="http://schemas.openxmlformats.org/drawingml/2006/main" noGrp="1"/>
          </p:cNvSpPr>
          <p:nvPr/>
        </p:nvSpPr>
        <p:spPr>
          <a:xfrm xmlns:a="http://schemas.openxmlformats.org/drawingml/2006/main">
            <a:off x="2590800" y="46005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大规模未标注谱图与少量身份标签</a:t>
            </a:r>
          </a:p>
        </p:txBody>
      </p:sp>
      <p:sp>
        <p:nvSpPr>
          <p:cNvPr id="47" name="">
            <a:extLst xmlns:a="http://schemas.openxmlformats.org/drawingml/2006/main">
              <a:ext uri="{FF2B5EF4-FFF2-40B4-BE49-F238E27FC236}">
                <a16:creationId xmlns:a16="http://schemas.microsoft.com/office/drawing/2014/main" id="{353A3FB4-37DC-4CC7-BD00-4537B59202CB}"/>
              </a:ext>
            </a:extLst>
          </p:cNvPr>
          <p:cNvSpPr>
            <a:spLocks xmlns:a="http://schemas.openxmlformats.org/drawingml/2006/main" noGrp="1"/>
          </p:cNvSpPr>
          <p:nvPr/>
        </p:nvSpPr>
        <p:spPr>
          <a:xfrm xmlns:a="http://schemas.openxmlformats.org/drawingml/2006/main">
            <a:off x="5286375" y="4476750"/>
            <a:ext cx="266700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8" name="">
            <a:extLst xmlns:a="http://schemas.openxmlformats.org/drawingml/2006/main">
              <a:ext uri="{FF2B5EF4-FFF2-40B4-BE49-F238E27FC236}">
                <a16:creationId xmlns:a16="http://schemas.microsoft.com/office/drawing/2014/main" id="{5947BA16-29C5-48AF-B044-6FA1A8EB0C00}"/>
              </a:ext>
            </a:extLst>
          </p:cNvPr>
          <p:cNvSpPr>
            <a:spLocks xmlns:a="http://schemas.openxmlformats.org/drawingml/2006/main" noGrp="1"/>
          </p:cNvSpPr>
          <p:nvPr/>
        </p:nvSpPr>
        <p:spPr>
          <a:xfrm xmlns:a="http://schemas.openxmlformats.org/drawingml/2006/main">
            <a:off x="5400675" y="46005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把谱图编码成可检索向量，适合海量数据迁移</a:t>
            </a:r>
          </a:p>
        </p:txBody>
      </p:sp>
      <p:sp>
        <p:nvSpPr>
          <p:cNvPr id="49" name="">
            <a:extLst xmlns:a="http://schemas.openxmlformats.org/drawingml/2006/main">
              <a:ext uri="{FF2B5EF4-FFF2-40B4-BE49-F238E27FC236}">
                <a16:creationId xmlns:a16="http://schemas.microsoft.com/office/drawing/2014/main" id="{A7A920E9-E60F-4069-8074-E05FBF45DFF5}"/>
              </a:ext>
            </a:extLst>
          </p:cNvPr>
          <p:cNvSpPr>
            <a:spLocks xmlns:a="http://schemas.openxmlformats.org/drawingml/2006/main" noGrp="1"/>
          </p:cNvSpPr>
          <p:nvPr/>
        </p:nvSpPr>
        <p:spPr>
          <a:xfrm xmlns:a="http://schemas.openxmlformats.org/drawingml/2006/main">
            <a:off x="8048625" y="4476750"/>
            <a:ext cx="371475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0" name="">
            <a:extLst xmlns:a="http://schemas.openxmlformats.org/drawingml/2006/main">
              <a:ext uri="{FF2B5EF4-FFF2-40B4-BE49-F238E27FC236}">
                <a16:creationId xmlns:a16="http://schemas.microsoft.com/office/drawing/2014/main" id="{26860F8D-1598-4341-8BD5-151850F98B9F}"/>
              </a:ext>
            </a:extLst>
          </p:cNvPr>
          <p:cNvSpPr>
            <a:spLocks xmlns:a="http://schemas.openxmlformats.org/drawingml/2006/main" noGrp="1"/>
          </p:cNvSpPr>
          <p:nvPr/>
        </p:nvSpPr>
        <p:spPr>
          <a:xfrm xmlns:a="http://schemas.openxmlformats.org/drawingml/2006/main">
            <a:off x="8162925" y="46005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单一全局 embedding 可能压缩局部峰，并缺少样本生物学上下文</a:t>
            </a:r>
          </a:p>
        </p:txBody>
      </p:sp>
      <p:sp>
        <p:nvSpPr>
          <p:cNvPr id="51" name="">
            <a:extLst xmlns:a="http://schemas.openxmlformats.org/drawingml/2006/main">
              <a:ext uri="{FF2B5EF4-FFF2-40B4-BE49-F238E27FC236}">
                <a16:creationId xmlns:a16="http://schemas.microsoft.com/office/drawing/2014/main" id="{A97A9E86-E56F-48A1-A609-2B2366F5D755}"/>
              </a:ext>
            </a:extLst>
          </p:cNvPr>
          <p:cNvSpPr>
            <a:spLocks xmlns:a="http://schemas.openxmlformats.org/drawingml/2006/main" noGrp="1"/>
          </p:cNvSpPr>
          <p:nvPr/>
        </p:nvSpPr>
        <p:spPr>
          <a:xfrm xmlns:a="http://schemas.openxmlformats.org/drawingml/2006/main">
            <a:off x="1190625" y="5638800"/>
            <a:ext cx="9810750" cy="4572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52" name="">
            <a:extLst xmlns:a="http://schemas.openxmlformats.org/drawingml/2006/main">
              <a:ext uri="{FF2B5EF4-FFF2-40B4-BE49-F238E27FC236}">
                <a16:creationId xmlns:a16="http://schemas.microsoft.com/office/drawing/2014/main" id="{DAE9AFD3-9F9B-4586-BFB3-3DA9BA125581}"/>
              </a:ext>
            </a:extLst>
          </p:cNvPr>
          <p:cNvSpPr>
            <a:spLocks xmlns:a="http://schemas.openxmlformats.org/drawingml/2006/main" noGrp="1"/>
          </p:cNvSpPr>
          <p:nvPr/>
        </p:nvSpPr>
        <p:spPr>
          <a:xfrm xmlns:a="http://schemas.openxmlformats.org/drawingml/2006/main">
            <a:off x="1428750" y="5743575"/>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316"/>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本课题选择 DreaMS 作为谱图表征底座，再把局部谱学、化学碎裂和生物网络证据接回同一候选排序任务。</a:t>
            </a:r>
          </a:p>
        </p:txBody>
      </p:sp>
    </p:spTree>
    <p:extLst>
      <p:ext uri="{BB962C8B-B14F-4D97-AF65-F5344CB8AC3E}">
        <p14:creationId xmlns:p14="http://schemas.microsoft.com/office/powerpoint/2010/main" val="148351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39BEC89-CE1C-4055-ACC6-DC2110FBE0B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ACBD08-8801-45A7-8409-DB0EC728BA48}"/>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D1BFB8-83B9-4D3C-AEBB-A9F3A0B5D66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A589B4-4031-427D-85CA-381C1FFD0A6D}"/>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AF62B4-B477-4C2D-AF3E-17BDB3DF27A1}"/>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DreaMS 如何训练，并用于候选结构排序？</a:t>
            </a:r>
          </a:p>
        </p:txBody>
      </p:sp>
      <p:sp>
        <p:nvSpPr>
          <p:cNvPr id="6" name="">
            <a:extLst xmlns:a="http://schemas.openxmlformats.org/drawingml/2006/main">
              <a:ext uri="{FF2B5EF4-FFF2-40B4-BE49-F238E27FC236}">
                <a16:creationId xmlns:a16="http://schemas.microsoft.com/office/drawing/2014/main" id="{0D14A727-39AC-4AD5-9F9A-988A7A55A159}"/>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D3D3D0-EC47-4136-A722-09C8F0C0765F}"/>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F64D03D-586C-40BC-8FFA-3466CB4DEAA7}"/>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375A23-E584-43D0-93E9-C3D331312808}"/>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8B71725B-51E1-4AB7-8A32-A38A51492FB4}"/>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7929476E-0E8A-4A67-8EFB-E8FDB314825E}"/>
              </a:ext>
            </a:extLst>
          </p:cNvPr>
          <p:cNvSpPr>
            <a:spLocks xmlns:a="http://schemas.openxmlformats.org/drawingml/2006/main" noGrp="1"/>
          </p:cNvSpPr>
          <p:nvPr/>
        </p:nvSpPr>
        <p:spPr>
          <a:xfrm xmlns:a="http://schemas.openxmlformats.org/drawingml/2006/main">
            <a:off x="333375" y="876300"/>
            <a:ext cx="352425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C0A3CA6A-2875-4C38-9B1B-9FA66499EC00}"/>
              </a:ext>
            </a:extLst>
          </p:cNvPr>
          <p:cNvSpPr>
            <a:spLocks xmlns:a="http://schemas.openxmlformats.org/drawingml/2006/main" noGrp="1"/>
          </p:cNvSpPr>
          <p:nvPr/>
        </p:nvSpPr>
        <p:spPr>
          <a:xfrm xmlns:a="http://schemas.openxmlformats.org/drawingml/2006/main">
            <a:off x="333375" y="876300"/>
            <a:ext cx="35242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1C4F27-1536-45C8-946D-AE3DD7CACAA7}"/>
              </a:ext>
            </a:extLst>
          </p:cNvPr>
          <p:cNvSpPr>
            <a:spLocks xmlns:a="http://schemas.openxmlformats.org/drawingml/2006/main" noGrp="1"/>
          </p:cNvSpPr>
          <p:nvPr/>
        </p:nvSpPr>
        <p:spPr>
          <a:xfrm xmlns:a="http://schemas.openxmlformats.org/drawingml/2006/main">
            <a:off x="409575" y="90487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1｜自监督预训练</a:t>
            </a:r>
          </a:p>
        </p:txBody>
      </p:sp>
      <p:sp>
        <p:nvSpPr>
          <p:cNvPr id="14" name="">
            <a:extLst xmlns:a="http://schemas.openxmlformats.org/drawingml/2006/main">
              <a:ext uri="{FF2B5EF4-FFF2-40B4-BE49-F238E27FC236}">
                <a16:creationId xmlns:a16="http://schemas.microsoft.com/office/drawing/2014/main" id="{88DD2F18-8322-4130-88CE-EA65345578E4}"/>
              </a:ext>
            </a:extLst>
          </p:cNvPr>
          <p:cNvSpPr>
            <a:spLocks xmlns:a="http://schemas.openxmlformats.org/drawingml/2006/main" noGrp="1"/>
          </p:cNvSpPr>
          <p:nvPr/>
        </p:nvSpPr>
        <p:spPr>
          <a:xfrm xmlns:a="http://schemas.openxmlformats.org/drawingml/2006/main">
            <a:off x="4095750" y="876300"/>
            <a:ext cx="352425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318E42BE-E017-4B2C-AB76-EA57671AB1C4}"/>
              </a:ext>
            </a:extLst>
          </p:cNvPr>
          <p:cNvSpPr>
            <a:spLocks xmlns:a="http://schemas.openxmlformats.org/drawingml/2006/main" noGrp="1"/>
          </p:cNvSpPr>
          <p:nvPr/>
        </p:nvSpPr>
        <p:spPr>
          <a:xfrm xmlns:a="http://schemas.openxmlformats.org/drawingml/2006/main">
            <a:off x="4095750" y="876300"/>
            <a:ext cx="35242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997BB9-D30C-4BFD-8C37-C06C020CABA4}"/>
              </a:ext>
            </a:extLst>
          </p:cNvPr>
          <p:cNvSpPr>
            <a:spLocks xmlns:a="http://schemas.openxmlformats.org/drawingml/2006/main" noGrp="1"/>
          </p:cNvSpPr>
          <p:nvPr/>
        </p:nvSpPr>
        <p:spPr>
          <a:xfrm xmlns:a="http://schemas.openxmlformats.org/drawingml/2006/main">
            <a:off x="4171950" y="90487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2｜有监督候选微调</a:t>
            </a:r>
          </a:p>
        </p:txBody>
      </p:sp>
      <p:sp>
        <p:nvSpPr>
          <p:cNvPr id="17" name="">
            <a:extLst xmlns:a="http://schemas.openxmlformats.org/drawingml/2006/main">
              <a:ext uri="{FF2B5EF4-FFF2-40B4-BE49-F238E27FC236}">
                <a16:creationId xmlns:a16="http://schemas.microsoft.com/office/drawing/2014/main" id="{63C58FA7-6A11-4541-8D49-82682552FD98}"/>
              </a:ext>
            </a:extLst>
          </p:cNvPr>
          <p:cNvSpPr>
            <a:spLocks xmlns:a="http://schemas.openxmlformats.org/drawingml/2006/main" noGrp="1"/>
          </p:cNvSpPr>
          <p:nvPr/>
        </p:nvSpPr>
        <p:spPr>
          <a:xfrm xmlns:a="http://schemas.openxmlformats.org/drawingml/2006/main">
            <a:off x="7858125" y="876300"/>
            <a:ext cx="400050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675D4685-F46C-4DF4-B22E-AAFE3DAB466F}"/>
              </a:ext>
            </a:extLst>
          </p:cNvPr>
          <p:cNvSpPr>
            <a:spLocks xmlns:a="http://schemas.openxmlformats.org/drawingml/2006/main" noGrp="1"/>
          </p:cNvSpPr>
          <p:nvPr/>
        </p:nvSpPr>
        <p:spPr>
          <a:xfrm xmlns:a="http://schemas.openxmlformats.org/drawingml/2006/main">
            <a:off x="7858125" y="876300"/>
            <a:ext cx="400050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AA1CE4-A051-49F5-81A4-23D6F38158E8}"/>
              </a:ext>
            </a:extLst>
          </p:cNvPr>
          <p:cNvSpPr>
            <a:spLocks xmlns:a="http://schemas.openxmlformats.org/drawingml/2006/main" noGrp="1"/>
          </p:cNvSpPr>
          <p:nvPr/>
        </p:nvSpPr>
        <p:spPr>
          <a:xfrm xmlns:a="http://schemas.openxmlformats.org/drawingml/2006/main">
            <a:off x="7934325" y="904875"/>
            <a:ext cx="3848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3｜实际注释推理</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a3e4344815d64c14"/>
          <a:stretch xmlns:a="http://schemas.openxmlformats.org/drawingml/2006/main"/>
        </p:blipFill>
        <p:spPr>
          <a:xfrm xmlns:a="http://schemas.openxmlformats.org/drawingml/2006/main">
            <a:off x="476250" y="1347517"/>
            <a:ext cx="3238500" cy="159121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8240D58-86BC-4E87-A672-5CCC4A9FBFA5}"/>
              </a:ext>
            </a:extLst>
          </p:cNvPr>
          <p:cNvSpPr>
            <a:spLocks xmlns:a="http://schemas.openxmlformats.org/drawingml/2006/main" noGrp="1"/>
          </p:cNvSpPr>
          <p:nvPr/>
        </p:nvSpPr>
        <p:spPr>
          <a:xfrm xmlns:a="http://schemas.openxmlformats.org/drawingml/2006/main">
            <a:off x="552450" y="31432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输入：约 2400 万条未标注 MS/MS</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遮蔽部分峰，预测被遮蔽的 m/z</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判断两张谱图的保留时间先后</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输出：通用 DreaMS encoder 与 1024 维 embedding 空间</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24af984bb9bb4c69"/>
          <a:stretch xmlns:a="http://schemas.openxmlformats.org/drawingml/2006/main"/>
        </p:blipFill>
        <p:spPr>
          <a:xfrm xmlns:a="http://schemas.openxmlformats.org/drawingml/2006/main">
            <a:off x="4267200" y="1303912"/>
            <a:ext cx="3143250" cy="668777"/>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28150E17-B641-4FB1-B0B5-2985E2B9D941}"/>
              </a:ext>
            </a:extLst>
          </p:cNvPr>
          <p:cNvSpPr>
            <a:spLocks xmlns:a="http://schemas.openxmlformats.org/drawingml/2006/main" noGrp="1"/>
          </p:cNvSpPr>
          <p:nvPr/>
        </p:nvSpPr>
        <p:spPr>
          <a:xfrm xmlns:a="http://schemas.openxmlformats.org/drawingml/2006/main">
            <a:off x="4381500" y="2209800"/>
            <a:ext cx="2952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1E642126-8567-41FF-BD54-FF5E90471FC3}"/>
              </a:ext>
            </a:extLst>
          </p:cNvPr>
          <p:cNvSpPr>
            <a:spLocks xmlns:a="http://schemas.openxmlformats.org/drawingml/2006/main" noGrp="1"/>
          </p:cNvSpPr>
          <p:nvPr/>
        </p:nvSpPr>
        <p:spPr>
          <a:xfrm xmlns:a="http://schemas.openxmlformats.org/drawingml/2006/main">
            <a:off x="4495800" y="228600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Anchor</a:t>
            </a:r>
          </a:p>
        </p:txBody>
      </p:sp>
      <p:sp>
        <p:nvSpPr>
          <p:cNvPr id="25" name="">
            <a:extLst xmlns:a="http://schemas.openxmlformats.org/drawingml/2006/main">
              <a:ext uri="{FF2B5EF4-FFF2-40B4-BE49-F238E27FC236}">
                <a16:creationId xmlns:a16="http://schemas.microsoft.com/office/drawing/2014/main" id="{B503DEA0-F114-44D4-850A-C12A4087DEED}"/>
              </a:ext>
            </a:extLst>
          </p:cNvPr>
          <p:cNvSpPr>
            <a:spLocks xmlns:a="http://schemas.openxmlformats.org/drawingml/2006/main" noGrp="1"/>
          </p:cNvSpPr>
          <p:nvPr/>
        </p:nvSpPr>
        <p:spPr>
          <a:xfrm xmlns:a="http://schemas.openxmlformats.org/drawingml/2006/main">
            <a:off x="5410200" y="22860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查询谱图</a:t>
            </a:r>
          </a:p>
        </p:txBody>
      </p:sp>
      <p:sp>
        <p:nvSpPr>
          <p:cNvPr id="26" name="">
            <a:extLst xmlns:a="http://schemas.openxmlformats.org/drawingml/2006/main">
              <a:ext uri="{FF2B5EF4-FFF2-40B4-BE49-F238E27FC236}">
                <a16:creationId xmlns:a16="http://schemas.microsoft.com/office/drawing/2014/main" id="{ACED9217-8D2C-4E2B-BC8D-47D7F999DF7D}"/>
              </a:ext>
            </a:extLst>
          </p:cNvPr>
          <p:cNvSpPr>
            <a:spLocks xmlns:a="http://schemas.openxmlformats.org/drawingml/2006/main" noGrp="1"/>
          </p:cNvSpPr>
          <p:nvPr/>
        </p:nvSpPr>
        <p:spPr>
          <a:xfrm xmlns:a="http://schemas.openxmlformats.org/drawingml/2006/main">
            <a:off x="4381500" y="3028950"/>
            <a:ext cx="2952750" cy="6286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4164F3A1-6369-4637-9C35-726CD676141B}"/>
              </a:ext>
            </a:extLst>
          </p:cNvPr>
          <p:cNvSpPr>
            <a:spLocks xmlns:a="http://schemas.openxmlformats.org/drawingml/2006/main" noGrp="1"/>
          </p:cNvSpPr>
          <p:nvPr/>
        </p:nvSpPr>
        <p:spPr>
          <a:xfrm xmlns:a="http://schemas.openxmlformats.org/drawingml/2006/main">
            <a:off x="4495800" y="310515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Positive</a:t>
            </a:r>
          </a:p>
        </p:txBody>
      </p:sp>
      <p:sp>
        <p:nvSpPr>
          <p:cNvPr id="28" name="">
            <a:extLst xmlns:a="http://schemas.openxmlformats.org/drawingml/2006/main">
              <a:ext uri="{FF2B5EF4-FFF2-40B4-BE49-F238E27FC236}">
                <a16:creationId xmlns:a16="http://schemas.microsoft.com/office/drawing/2014/main" id="{BD708C5C-F6B3-4F94-A8BF-55BBB93B8750}"/>
              </a:ext>
            </a:extLst>
          </p:cNvPr>
          <p:cNvSpPr>
            <a:spLocks xmlns:a="http://schemas.openxmlformats.org/drawingml/2006/main" noGrp="1"/>
          </p:cNvSpPr>
          <p:nvPr/>
        </p:nvSpPr>
        <p:spPr>
          <a:xfrm xmlns:a="http://schemas.openxmlformats.org/drawingml/2006/main">
            <a:off x="5410200" y="31051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同一分子的参考谱</a:t>
            </a:r>
          </a:p>
        </p:txBody>
      </p:sp>
      <p:sp>
        <p:nvSpPr>
          <p:cNvPr id="29" name="">
            <a:extLst xmlns:a="http://schemas.openxmlformats.org/drawingml/2006/main">
              <a:ext uri="{FF2B5EF4-FFF2-40B4-BE49-F238E27FC236}">
                <a16:creationId xmlns:a16="http://schemas.microsoft.com/office/drawing/2014/main" id="{C3441D54-3828-4B48-A8AD-8FD4EF92B429}"/>
              </a:ext>
            </a:extLst>
          </p:cNvPr>
          <p:cNvSpPr>
            <a:spLocks xmlns:a="http://schemas.openxmlformats.org/drawingml/2006/main" noGrp="1"/>
          </p:cNvSpPr>
          <p:nvPr/>
        </p:nvSpPr>
        <p:spPr>
          <a:xfrm xmlns:a="http://schemas.openxmlformats.org/drawingml/2006/main">
            <a:off x="4381500" y="3848100"/>
            <a:ext cx="2952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C3C606D5-32E3-4D90-A92C-FAA8A7519DC2}"/>
              </a:ext>
            </a:extLst>
          </p:cNvPr>
          <p:cNvSpPr>
            <a:spLocks xmlns:a="http://schemas.openxmlformats.org/drawingml/2006/main" noGrp="1"/>
          </p:cNvSpPr>
          <p:nvPr/>
        </p:nvSpPr>
        <p:spPr>
          <a:xfrm xmlns:a="http://schemas.openxmlformats.org/drawingml/2006/main">
            <a:off x="4495800" y="392430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Negative</a:t>
            </a:r>
          </a:p>
        </p:txBody>
      </p:sp>
      <p:sp>
        <p:nvSpPr>
          <p:cNvPr id="31" name="">
            <a:extLst xmlns:a="http://schemas.openxmlformats.org/drawingml/2006/main">
              <a:ext uri="{FF2B5EF4-FFF2-40B4-BE49-F238E27FC236}">
                <a16:creationId xmlns:a16="http://schemas.microsoft.com/office/drawing/2014/main" id="{3E2BF8D2-F0AB-4C88-8CF3-8D9F4D2F63D2}"/>
              </a:ext>
            </a:extLst>
          </p:cNvPr>
          <p:cNvSpPr>
            <a:spLocks xmlns:a="http://schemas.openxmlformats.org/drawingml/2006/main" noGrp="1"/>
          </p:cNvSpPr>
          <p:nvPr/>
        </p:nvSpPr>
        <p:spPr>
          <a:xfrm xmlns:a="http://schemas.openxmlformats.org/drawingml/2006/main">
            <a:off x="5410200" y="39243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061"/>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前体质量差 ≤ 0.05 Da</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且身份不同的参考谱</a:t>
            </a:r>
          </a:p>
        </p:txBody>
      </p:sp>
      <p:sp>
        <p:nvSpPr>
          <p:cNvPr id="32" name="">
            <a:extLst xmlns:a="http://schemas.openxmlformats.org/drawingml/2006/main">
              <a:ext uri="{FF2B5EF4-FFF2-40B4-BE49-F238E27FC236}">
                <a16:creationId xmlns:a16="http://schemas.microsoft.com/office/drawing/2014/main" id="{EB2CE13B-8DA3-4B2E-AE89-A759EF291B21}"/>
              </a:ext>
            </a:extLst>
          </p:cNvPr>
          <p:cNvSpPr>
            <a:spLocks xmlns:a="http://schemas.openxmlformats.org/drawingml/2006/main" noGrp="1"/>
          </p:cNvSpPr>
          <p:nvPr/>
        </p:nvSpPr>
        <p:spPr>
          <a:xfrm xmlns:a="http://schemas.openxmlformats.org/drawingml/2006/main">
            <a:off x="4524375" y="469582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2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目标：同一分子的 embedding 更接近，</a:t>
            </a:r>
          </a:p>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不同身份的候选被推开。</a:t>
            </a:r>
          </a:p>
        </p:txBody>
      </p:sp>
      <p:sp>
        <p:nvSpPr>
          <p:cNvPr id="33" name="">
            <a:extLst xmlns:a="http://schemas.openxmlformats.org/drawingml/2006/main">
              <a:ext uri="{FF2B5EF4-FFF2-40B4-BE49-F238E27FC236}">
                <a16:creationId xmlns:a16="http://schemas.microsoft.com/office/drawing/2014/main" id="{30F06BB5-9FFE-41AD-A4AA-33865F30284A}"/>
              </a:ext>
            </a:extLst>
          </p:cNvPr>
          <p:cNvSpPr>
            <a:spLocks xmlns:a="http://schemas.openxmlformats.org/drawingml/2006/main" noGrp="1"/>
          </p:cNvSpPr>
          <p:nvPr/>
        </p:nvSpPr>
        <p:spPr>
          <a:xfrm xmlns:a="http://schemas.openxmlformats.org/drawingml/2006/main">
            <a:off x="8020050" y="1352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31"/>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Query MS/MS</a:t>
            </a:r>
          </a:p>
        </p:txBody>
      </p:sp>
      <p:sp>
        <p:nvSpPr>
          <p:cNvPr id="34" name="">
            <a:extLst xmlns:a="http://schemas.openxmlformats.org/drawingml/2006/main">
              <a:ext uri="{FF2B5EF4-FFF2-40B4-BE49-F238E27FC236}">
                <a16:creationId xmlns:a16="http://schemas.microsoft.com/office/drawing/2014/main" id="{DE045EF4-04FD-40D0-9300-12457535ADB7}"/>
              </a:ext>
            </a:extLst>
          </p:cNvPr>
          <p:cNvSpPr>
            <a:spLocks xmlns:a="http://schemas.openxmlformats.org/drawingml/2006/main" noGrp="1"/>
          </p:cNvSpPr>
          <p:nvPr/>
        </p:nvSpPr>
        <p:spPr>
          <a:xfrm xmlns:a="http://schemas.openxmlformats.org/drawingml/2006/main">
            <a:off x="8020050" y="2114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候选参考谱</a:t>
            </a:r>
          </a:p>
        </p:txBody>
      </p:sp>
      <p:sp>
        <p:nvSpPr>
          <p:cNvPr id="35" name="">
            <a:extLst xmlns:a="http://schemas.openxmlformats.org/drawingml/2006/main">
              <a:ext uri="{FF2B5EF4-FFF2-40B4-BE49-F238E27FC236}">
                <a16:creationId xmlns:a16="http://schemas.microsoft.com/office/drawing/2014/main" id="{CCCC149B-832D-4ECB-B2BB-1D475D6E3D6A}"/>
              </a:ext>
            </a:extLst>
          </p:cNvPr>
          <p:cNvSpPr>
            <a:spLocks xmlns:a="http://schemas.openxmlformats.org/drawingml/2006/main" noGrp="1"/>
          </p:cNvSpPr>
          <p:nvPr/>
        </p:nvSpPr>
        <p:spPr>
          <a:xfrm xmlns:a="http://schemas.openxmlformats.org/drawingml/2006/main">
            <a:off x="9191625" y="1352550"/>
            <a:ext cx="4000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E4D472D-A771-417E-BBAD-4BBEF88769B6}"/>
              </a:ext>
            </a:extLst>
          </p:cNvPr>
          <p:cNvSpPr>
            <a:spLocks xmlns:a="http://schemas.openxmlformats.org/drawingml/2006/main" noGrp="1"/>
          </p:cNvSpPr>
          <p:nvPr/>
        </p:nvSpPr>
        <p:spPr>
          <a:xfrm xmlns:a="http://schemas.openxmlformats.org/drawingml/2006/main">
            <a:off x="9191625" y="2114550"/>
            <a:ext cx="4000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ADDF19F-0DEF-45CD-B23E-22A3AF00F487}"/>
              </a:ext>
            </a:extLst>
          </p:cNvPr>
          <p:cNvSpPr>
            <a:spLocks xmlns:a="http://schemas.openxmlformats.org/drawingml/2006/main" noGrp="1"/>
          </p:cNvSpPr>
          <p:nvPr/>
        </p:nvSpPr>
        <p:spPr>
          <a:xfrm xmlns:a="http://schemas.openxmlformats.org/drawingml/2006/main">
            <a:off x="9639300" y="1238250"/>
            <a:ext cx="1790700" cy="13811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38" name="">
            <a:extLst xmlns:a="http://schemas.openxmlformats.org/drawingml/2006/main">
              <a:ext uri="{FF2B5EF4-FFF2-40B4-BE49-F238E27FC236}">
                <a16:creationId xmlns:a16="http://schemas.microsoft.com/office/drawing/2014/main" id="{E9D5DEC1-31C8-4F4A-A232-BAEC2F6A1467}"/>
              </a:ext>
            </a:extLst>
          </p:cNvPr>
          <p:cNvSpPr>
            <a:spLocks xmlns:a="http://schemas.openxmlformats.org/drawingml/2006/main" noGrp="1"/>
          </p:cNvSpPr>
          <p:nvPr/>
        </p:nvSpPr>
        <p:spPr>
          <a:xfrm xmlns:a="http://schemas.openxmlformats.org/drawingml/2006/main">
            <a:off x="9810750" y="154305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95"/>
          </a:bodyPr>
          <a:lstStyle xmlns:a="http://schemas.openxmlformats.org/drawingml/2006/main"/>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同一个</a:t>
            </a:r>
          </a:p>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DreaMS encoder</a:t>
            </a:r>
          </a:p>
        </p:txBody>
      </p:sp>
      <p:sp>
        <p:nvSpPr>
          <p:cNvPr id="39" name="">
            <a:extLst xmlns:a="http://schemas.openxmlformats.org/drawingml/2006/main">
              <a:ext uri="{FF2B5EF4-FFF2-40B4-BE49-F238E27FC236}">
                <a16:creationId xmlns:a16="http://schemas.microsoft.com/office/drawing/2014/main" id="{5451A7C8-EB22-4651-A393-DAF123D9049B}"/>
              </a:ext>
            </a:extLst>
          </p:cNvPr>
          <p:cNvSpPr>
            <a:spLocks xmlns:a="http://schemas.openxmlformats.org/drawingml/2006/main" noGrp="1"/>
          </p:cNvSpPr>
          <p:nvPr/>
        </p:nvSpPr>
        <p:spPr>
          <a:xfrm xmlns:a="http://schemas.openxmlformats.org/drawingml/2006/main">
            <a:off x="10306050" y="2686050"/>
            <a:ext cx="4381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85BB21D-402C-4EE0-9D15-A4A7B42C825D}"/>
              </a:ext>
            </a:extLst>
          </p:cNvPr>
          <p:cNvSpPr>
            <a:spLocks xmlns:a="http://schemas.openxmlformats.org/drawingml/2006/main" noGrp="1"/>
          </p:cNvSpPr>
          <p:nvPr/>
        </p:nvSpPr>
        <p:spPr>
          <a:xfrm xmlns:a="http://schemas.openxmlformats.org/drawingml/2006/main">
            <a:off x="8096250" y="31146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z_query</a:t>
            </a:r>
          </a:p>
        </p:txBody>
      </p:sp>
      <p:sp>
        <p:nvSpPr>
          <p:cNvPr id="41" name="">
            <a:extLst xmlns:a="http://schemas.openxmlformats.org/drawingml/2006/main">
              <a:ext uri="{FF2B5EF4-FFF2-40B4-BE49-F238E27FC236}">
                <a16:creationId xmlns:a16="http://schemas.microsoft.com/office/drawing/2014/main" id="{196B3933-8D8B-4E4A-88EB-F00F4392DA81}"/>
              </a:ext>
            </a:extLst>
          </p:cNvPr>
          <p:cNvSpPr>
            <a:spLocks xmlns:a="http://schemas.openxmlformats.org/drawingml/2006/main" noGrp="1"/>
          </p:cNvSpPr>
          <p:nvPr/>
        </p:nvSpPr>
        <p:spPr>
          <a:xfrm xmlns:a="http://schemas.openxmlformats.org/drawingml/2006/main">
            <a:off x="8096250" y="36004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z_ref</a:t>
            </a:r>
          </a:p>
        </p:txBody>
      </p:sp>
      <p:sp>
        <p:nvSpPr>
          <p:cNvPr id="42" name="">
            <a:extLst xmlns:a="http://schemas.openxmlformats.org/drawingml/2006/main">
              <a:ext uri="{FF2B5EF4-FFF2-40B4-BE49-F238E27FC236}">
                <a16:creationId xmlns:a16="http://schemas.microsoft.com/office/drawing/2014/main" id="{A3F2E962-50A0-46BA-AA29-A3F242A99A04}"/>
              </a:ext>
            </a:extLst>
          </p:cNvPr>
          <p:cNvSpPr>
            <a:spLocks xmlns:a="http://schemas.openxmlformats.org/drawingml/2006/main" noGrp="1"/>
          </p:cNvSpPr>
          <p:nvPr/>
        </p:nvSpPr>
        <p:spPr>
          <a:xfrm xmlns:a="http://schemas.openxmlformats.org/drawingml/2006/main">
            <a:off x="8858250"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3" name="">
            <a:extLst xmlns:a="http://schemas.openxmlformats.org/drawingml/2006/main">
              <a:ext uri="{FF2B5EF4-FFF2-40B4-BE49-F238E27FC236}">
                <a16:creationId xmlns:a16="http://schemas.microsoft.com/office/drawing/2014/main" id="{FBAEBFF5-0282-488E-B04B-1C954BCEDCF8}"/>
              </a:ext>
            </a:extLst>
          </p:cNvPr>
          <p:cNvSpPr>
            <a:spLocks xmlns:a="http://schemas.openxmlformats.org/drawingml/2006/main" noGrp="1"/>
          </p:cNvSpPr>
          <p:nvPr/>
        </p:nvSpPr>
        <p:spPr>
          <a:xfrm xmlns:a="http://schemas.openxmlformats.org/drawingml/2006/main">
            <a:off x="8858250" y="3590925"/>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4" name="">
            <a:extLst xmlns:a="http://schemas.openxmlformats.org/drawingml/2006/main">
              <a:ext uri="{FF2B5EF4-FFF2-40B4-BE49-F238E27FC236}">
                <a16:creationId xmlns:a16="http://schemas.microsoft.com/office/drawing/2014/main" id="{58790AA7-672E-41EF-B05C-C9815EDFB1AB}"/>
              </a:ext>
            </a:extLst>
          </p:cNvPr>
          <p:cNvSpPr>
            <a:spLocks xmlns:a="http://schemas.openxmlformats.org/drawingml/2006/main" noGrp="1"/>
          </p:cNvSpPr>
          <p:nvPr/>
        </p:nvSpPr>
        <p:spPr>
          <a:xfrm xmlns:a="http://schemas.openxmlformats.org/drawingml/2006/main">
            <a:off x="9115425"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45" name="">
            <a:extLst xmlns:a="http://schemas.openxmlformats.org/drawingml/2006/main">
              <a:ext uri="{FF2B5EF4-FFF2-40B4-BE49-F238E27FC236}">
                <a16:creationId xmlns:a16="http://schemas.microsoft.com/office/drawing/2014/main" id="{0C13D25E-3FBD-4165-A03E-9C9705E1C82D}"/>
              </a:ext>
            </a:extLst>
          </p:cNvPr>
          <p:cNvSpPr>
            <a:spLocks xmlns:a="http://schemas.openxmlformats.org/drawingml/2006/main" noGrp="1"/>
          </p:cNvSpPr>
          <p:nvPr/>
        </p:nvSpPr>
        <p:spPr>
          <a:xfrm xmlns:a="http://schemas.openxmlformats.org/drawingml/2006/main">
            <a:off x="9115425"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46" name="">
            <a:extLst xmlns:a="http://schemas.openxmlformats.org/drawingml/2006/main">
              <a:ext uri="{FF2B5EF4-FFF2-40B4-BE49-F238E27FC236}">
                <a16:creationId xmlns:a16="http://schemas.microsoft.com/office/drawing/2014/main" id="{9D984006-B632-49B3-8957-7871058D9856}"/>
              </a:ext>
            </a:extLst>
          </p:cNvPr>
          <p:cNvSpPr>
            <a:spLocks xmlns:a="http://schemas.openxmlformats.org/drawingml/2006/main" noGrp="1"/>
          </p:cNvSpPr>
          <p:nvPr/>
        </p:nvSpPr>
        <p:spPr>
          <a:xfrm xmlns:a="http://schemas.openxmlformats.org/drawingml/2006/main">
            <a:off x="9372600"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47" name="">
            <a:extLst xmlns:a="http://schemas.openxmlformats.org/drawingml/2006/main">
              <a:ext uri="{FF2B5EF4-FFF2-40B4-BE49-F238E27FC236}">
                <a16:creationId xmlns:a16="http://schemas.microsoft.com/office/drawing/2014/main" id="{5B9EAF22-339A-41BD-8808-B7201A016F69}"/>
              </a:ext>
            </a:extLst>
          </p:cNvPr>
          <p:cNvSpPr>
            <a:spLocks xmlns:a="http://schemas.openxmlformats.org/drawingml/2006/main" noGrp="1"/>
          </p:cNvSpPr>
          <p:nvPr/>
        </p:nvSpPr>
        <p:spPr>
          <a:xfrm xmlns:a="http://schemas.openxmlformats.org/drawingml/2006/main">
            <a:off x="9372600"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48" name="">
            <a:extLst xmlns:a="http://schemas.openxmlformats.org/drawingml/2006/main">
              <a:ext uri="{FF2B5EF4-FFF2-40B4-BE49-F238E27FC236}">
                <a16:creationId xmlns:a16="http://schemas.microsoft.com/office/drawing/2014/main" id="{BE17AB26-1DE2-4BCC-9B46-23161BFEC378}"/>
              </a:ext>
            </a:extLst>
          </p:cNvPr>
          <p:cNvSpPr>
            <a:spLocks xmlns:a="http://schemas.openxmlformats.org/drawingml/2006/main" noGrp="1"/>
          </p:cNvSpPr>
          <p:nvPr/>
        </p:nvSpPr>
        <p:spPr>
          <a:xfrm xmlns:a="http://schemas.openxmlformats.org/drawingml/2006/main">
            <a:off x="9629775"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9" name="">
            <a:extLst xmlns:a="http://schemas.openxmlformats.org/drawingml/2006/main">
              <a:ext uri="{FF2B5EF4-FFF2-40B4-BE49-F238E27FC236}">
                <a16:creationId xmlns:a16="http://schemas.microsoft.com/office/drawing/2014/main" id="{8E79C11C-C6EF-46A0-80F8-39F58FAC9F6C}"/>
              </a:ext>
            </a:extLst>
          </p:cNvPr>
          <p:cNvSpPr>
            <a:spLocks xmlns:a="http://schemas.openxmlformats.org/drawingml/2006/main" noGrp="1"/>
          </p:cNvSpPr>
          <p:nvPr/>
        </p:nvSpPr>
        <p:spPr>
          <a:xfrm xmlns:a="http://schemas.openxmlformats.org/drawingml/2006/main">
            <a:off x="9629775" y="3590925"/>
            <a:ext cx="190500" cy="276225"/>
          </a:xfrm>
          <a:prstGeom xmlns:a="http://schemas.openxmlformats.org/drawingml/2006/main" prst="rect">
            <a:avLst/>
          </a:prstGeom>
          <a:solidFill xmlns:a="http://schemas.openxmlformats.org/drawingml/2006/main">
            <a:srgbClr val="FFFFFF"/>
          </a:solidFill>
          <a:ln xmlns:a="http://schemas.openxmlformats.org/drawingml/2006/main" w="4763">
            <a:solidFill>
              <a:srgbClr val="C9C9C9"/>
            </a:solidFill>
            <a:prstDash val="solid"/>
          </a:ln>
        </p:spPr>
      </p:sp>
      <p:sp>
        <p:nvSpPr>
          <p:cNvPr id="50" name="">
            <a:extLst xmlns:a="http://schemas.openxmlformats.org/drawingml/2006/main">
              <a:ext uri="{FF2B5EF4-FFF2-40B4-BE49-F238E27FC236}">
                <a16:creationId xmlns:a16="http://schemas.microsoft.com/office/drawing/2014/main" id="{9678CD46-75BB-4499-B7BF-12F8CFC95D01}"/>
              </a:ext>
            </a:extLst>
          </p:cNvPr>
          <p:cNvSpPr>
            <a:spLocks xmlns:a="http://schemas.openxmlformats.org/drawingml/2006/main" noGrp="1"/>
          </p:cNvSpPr>
          <p:nvPr/>
        </p:nvSpPr>
        <p:spPr>
          <a:xfrm xmlns:a="http://schemas.openxmlformats.org/drawingml/2006/main">
            <a:off x="9886950"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1" name="">
            <a:extLst xmlns:a="http://schemas.openxmlformats.org/drawingml/2006/main">
              <a:ext uri="{FF2B5EF4-FFF2-40B4-BE49-F238E27FC236}">
                <a16:creationId xmlns:a16="http://schemas.microsoft.com/office/drawing/2014/main" id="{D871148B-9F75-40D4-AED3-14969365420F}"/>
              </a:ext>
            </a:extLst>
          </p:cNvPr>
          <p:cNvSpPr>
            <a:spLocks xmlns:a="http://schemas.openxmlformats.org/drawingml/2006/main" noGrp="1"/>
          </p:cNvSpPr>
          <p:nvPr/>
        </p:nvSpPr>
        <p:spPr>
          <a:xfrm xmlns:a="http://schemas.openxmlformats.org/drawingml/2006/main">
            <a:off x="9886950"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2" name="">
            <a:extLst xmlns:a="http://schemas.openxmlformats.org/drawingml/2006/main">
              <a:ext uri="{FF2B5EF4-FFF2-40B4-BE49-F238E27FC236}">
                <a16:creationId xmlns:a16="http://schemas.microsoft.com/office/drawing/2014/main" id="{1954FD90-4F62-4D6A-98E9-8D0F784C636F}"/>
              </a:ext>
            </a:extLst>
          </p:cNvPr>
          <p:cNvSpPr>
            <a:spLocks xmlns:a="http://schemas.openxmlformats.org/drawingml/2006/main" noGrp="1"/>
          </p:cNvSpPr>
          <p:nvPr/>
        </p:nvSpPr>
        <p:spPr>
          <a:xfrm xmlns:a="http://schemas.openxmlformats.org/drawingml/2006/main">
            <a:off x="10144125"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3" name="">
            <a:extLst xmlns:a="http://schemas.openxmlformats.org/drawingml/2006/main">
              <a:ext uri="{FF2B5EF4-FFF2-40B4-BE49-F238E27FC236}">
                <a16:creationId xmlns:a16="http://schemas.microsoft.com/office/drawing/2014/main" id="{6E5F15AC-1B9A-4306-A953-601E470A850B}"/>
              </a:ext>
            </a:extLst>
          </p:cNvPr>
          <p:cNvSpPr>
            <a:spLocks xmlns:a="http://schemas.openxmlformats.org/drawingml/2006/main" noGrp="1"/>
          </p:cNvSpPr>
          <p:nvPr/>
        </p:nvSpPr>
        <p:spPr>
          <a:xfrm xmlns:a="http://schemas.openxmlformats.org/drawingml/2006/main">
            <a:off x="10144125"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4" name="">
            <a:extLst xmlns:a="http://schemas.openxmlformats.org/drawingml/2006/main">
              <a:ext uri="{FF2B5EF4-FFF2-40B4-BE49-F238E27FC236}">
                <a16:creationId xmlns:a16="http://schemas.microsoft.com/office/drawing/2014/main" id="{44D2CE11-D1E1-470E-A347-94A24CEFE927}"/>
              </a:ext>
            </a:extLst>
          </p:cNvPr>
          <p:cNvSpPr>
            <a:spLocks xmlns:a="http://schemas.openxmlformats.org/drawingml/2006/main" noGrp="1"/>
          </p:cNvSpPr>
          <p:nvPr/>
        </p:nvSpPr>
        <p:spPr>
          <a:xfrm xmlns:a="http://schemas.openxmlformats.org/drawingml/2006/main">
            <a:off x="10401300"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55" name="">
            <a:extLst xmlns:a="http://schemas.openxmlformats.org/drawingml/2006/main">
              <a:ext uri="{FF2B5EF4-FFF2-40B4-BE49-F238E27FC236}">
                <a16:creationId xmlns:a16="http://schemas.microsoft.com/office/drawing/2014/main" id="{7F7BF60A-5242-4961-9562-98DB97966F18}"/>
              </a:ext>
            </a:extLst>
          </p:cNvPr>
          <p:cNvSpPr>
            <a:spLocks xmlns:a="http://schemas.openxmlformats.org/drawingml/2006/main" noGrp="1"/>
          </p:cNvSpPr>
          <p:nvPr/>
        </p:nvSpPr>
        <p:spPr>
          <a:xfrm xmlns:a="http://schemas.openxmlformats.org/drawingml/2006/main">
            <a:off x="10401300" y="3590925"/>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56" name="">
            <a:extLst xmlns:a="http://schemas.openxmlformats.org/drawingml/2006/main">
              <a:ext uri="{FF2B5EF4-FFF2-40B4-BE49-F238E27FC236}">
                <a16:creationId xmlns:a16="http://schemas.microsoft.com/office/drawing/2014/main" id="{6E0242F9-664C-4A98-B2FB-32199BC17AB2}"/>
              </a:ext>
            </a:extLst>
          </p:cNvPr>
          <p:cNvSpPr>
            <a:spLocks xmlns:a="http://schemas.openxmlformats.org/drawingml/2006/main" noGrp="1"/>
          </p:cNvSpPr>
          <p:nvPr/>
        </p:nvSpPr>
        <p:spPr>
          <a:xfrm xmlns:a="http://schemas.openxmlformats.org/drawingml/2006/main">
            <a:off x="10658475"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7" name="">
            <a:extLst xmlns:a="http://schemas.openxmlformats.org/drawingml/2006/main">
              <a:ext uri="{FF2B5EF4-FFF2-40B4-BE49-F238E27FC236}">
                <a16:creationId xmlns:a16="http://schemas.microsoft.com/office/drawing/2014/main" id="{3A7298A3-5F96-46A4-9B8C-58F3C302D373}"/>
              </a:ext>
            </a:extLst>
          </p:cNvPr>
          <p:cNvSpPr>
            <a:spLocks xmlns:a="http://schemas.openxmlformats.org/drawingml/2006/main" noGrp="1"/>
          </p:cNvSpPr>
          <p:nvPr/>
        </p:nvSpPr>
        <p:spPr>
          <a:xfrm xmlns:a="http://schemas.openxmlformats.org/drawingml/2006/main">
            <a:off x="10658475"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8" name="">
            <a:extLst xmlns:a="http://schemas.openxmlformats.org/drawingml/2006/main">
              <a:ext uri="{FF2B5EF4-FFF2-40B4-BE49-F238E27FC236}">
                <a16:creationId xmlns:a16="http://schemas.microsoft.com/office/drawing/2014/main" id="{ED124F59-E6D3-4D3B-86CD-7D589763B18D}"/>
              </a:ext>
            </a:extLst>
          </p:cNvPr>
          <p:cNvSpPr>
            <a:spLocks xmlns:a="http://schemas.openxmlformats.org/drawingml/2006/main" noGrp="1"/>
          </p:cNvSpPr>
          <p:nvPr/>
        </p:nvSpPr>
        <p:spPr>
          <a:xfrm xmlns:a="http://schemas.openxmlformats.org/drawingml/2006/main">
            <a:off x="10915650"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9" name="">
            <a:extLst xmlns:a="http://schemas.openxmlformats.org/drawingml/2006/main">
              <a:ext uri="{FF2B5EF4-FFF2-40B4-BE49-F238E27FC236}">
                <a16:creationId xmlns:a16="http://schemas.microsoft.com/office/drawing/2014/main" id="{B18B2CD9-92AF-4531-943D-11F403A0586A}"/>
              </a:ext>
            </a:extLst>
          </p:cNvPr>
          <p:cNvSpPr>
            <a:spLocks xmlns:a="http://schemas.openxmlformats.org/drawingml/2006/main" noGrp="1"/>
          </p:cNvSpPr>
          <p:nvPr/>
        </p:nvSpPr>
        <p:spPr>
          <a:xfrm xmlns:a="http://schemas.openxmlformats.org/drawingml/2006/main">
            <a:off x="10915650"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60" name="">
            <a:extLst xmlns:a="http://schemas.openxmlformats.org/drawingml/2006/main">
              <a:ext uri="{FF2B5EF4-FFF2-40B4-BE49-F238E27FC236}">
                <a16:creationId xmlns:a16="http://schemas.microsoft.com/office/drawing/2014/main" id="{0DBFDF9E-5D38-4B0F-B6BF-2F9C43517E5C}"/>
              </a:ext>
            </a:extLst>
          </p:cNvPr>
          <p:cNvSpPr>
            <a:spLocks xmlns:a="http://schemas.openxmlformats.org/drawingml/2006/main" noGrp="1"/>
          </p:cNvSpPr>
          <p:nvPr/>
        </p:nvSpPr>
        <p:spPr>
          <a:xfrm xmlns:a="http://schemas.openxmlformats.org/drawingml/2006/main">
            <a:off x="8858250" y="39052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ctr">
              <a:defRPr sz="1050" b="0" i="0">
                <a:solidFill>
                  <a:srgbClr val="5B5B5B"/>
                </a:solidFill>
                <a:latin typeface="Microsoft YaHei"/>
                <a:ea typeface="Microsoft YaHei"/>
                <a:cs typeface="Microsoft YaHei"/>
              </a:defRPr>
            </a:pPr>
            <a:r>
              <a:rPr sz="1050" b="0" i="0">
                <a:solidFill>
                  <a:srgbClr val="5B5B5B"/>
                </a:solidFill>
                <a:latin typeface="Microsoft YaHei"/>
                <a:ea typeface="Microsoft YaHei"/>
                <a:cs typeface="Microsoft YaHei"/>
              </a:rPr>
              <a:t>两个 1024 维 embedding</a:t>
            </a:r>
          </a:p>
        </p:txBody>
      </p:sp>
      <p:sp>
        <p:nvSpPr>
          <p:cNvPr id="61" name="">
            <a:extLst xmlns:a="http://schemas.openxmlformats.org/drawingml/2006/main">
              <a:ext uri="{FF2B5EF4-FFF2-40B4-BE49-F238E27FC236}">
                <a16:creationId xmlns:a16="http://schemas.microsoft.com/office/drawing/2014/main" id="{E28CE7EC-4479-43FC-8605-2C460214782F}"/>
              </a:ext>
            </a:extLst>
          </p:cNvPr>
          <p:cNvSpPr>
            <a:spLocks xmlns:a="http://schemas.openxmlformats.org/drawingml/2006/main" noGrp="1"/>
          </p:cNvSpPr>
          <p:nvPr/>
        </p:nvSpPr>
        <p:spPr>
          <a:xfrm xmlns:a="http://schemas.openxmlformats.org/drawingml/2006/main">
            <a:off x="8334375" y="4171950"/>
            <a:ext cx="3048000" cy="409575"/>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62" name="">
            <a:extLst xmlns:a="http://schemas.openxmlformats.org/drawingml/2006/main">
              <a:ext uri="{FF2B5EF4-FFF2-40B4-BE49-F238E27FC236}">
                <a16:creationId xmlns:a16="http://schemas.microsoft.com/office/drawing/2014/main" id="{E56384E2-E9B9-4CC6-94D5-42CEDBC9378B}"/>
              </a:ext>
            </a:extLst>
          </p:cNvPr>
          <p:cNvSpPr>
            <a:spLocks xmlns:a="http://schemas.openxmlformats.org/drawingml/2006/main" noGrp="1"/>
          </p:cNvSpPr>
          <p:nvPr/>
        </p:nvSpPr>
        <p:spPr>
          <a:xfrm xmlns:a="http://schemas.openxmlformats.org/drawingml/2006/main">
            <a:off x="8477250" y="42672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cosine(z_query, z_ref)  →  DreaMS 置信分数</a:t>
            </a:r>
          </a:p>
        </p:txBody>
      </p:sp>
      <p:sp>
        <p:nvSpPr>
          <p:cNvPr id="63" name="">
            <a:extLst xmlns:a="http://schemas.openxmlformats.org/drawingml/2006/main">
              <a:ext uri="{FF2B5EF4-FFF2-40B4-BE49-F238E27FC236}">
                <a16:creationId xmlns:a16="http://schemas.microsoft.com/office/drawing/2014/main" id="{BAB9A31B-E8AF-4C54-8FFE-4C60B7873757}"/>
              </a:ext>
            </a:extLst>
          </p:cNvPr>
          <p:cNvSpPr>
            <a:spLocks xmlns:a="http://schemas.openxmlformats.org/drawingml/2006/main" noGrp="1"/>
          </p:cNvSpPr>
          <p:nvPr/>
        </p:nvSpPr>
        <p:spPr>
          <a:xfrm xmlns:a="http://schemas.openxmlformats.org/drawingml/2006/main">
            <a:off x="9639300" y="4667250"/>
            <a:ext cx="47625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28DE165-E2BA-4ACA-9B80-26EBD660B648}"/>
              </a:ext>
            </a:extLst>
          </p:cNvPr>
          <p:cNvSpPr>
            <a:spLocks xmlns:a="http://schemas.openxmlformats.org/drawingml/2006/main" noGrp="1"/>
          </p:cNvSpPr>
          <p:nvPr/>
        </p:nvSpPr>
        <p:spPr>
          <a:xfrm xmlns:a="http://schemas.openxmlformats.org/drawingml/2006/main">
            <a:off x="8572500" y="49530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对每个候选分别打分并排序</a:t>
            </a:r>
          </a:p>
        </p:txBody>
      </p:sp>
      <p:sp>
        <p:nvSpPr>
          <p:cNvPr id="65" name="">
            <a:extLst xmlns:a="http://schemas.openxmlformats.org/drawingml/2006/main">
              <a:ext uri="{FF2B5EF4-FFF2-40B4-BE49-F238E27FC236}">
                <a16:creationId xmlns:a16="http://schemas.microsoft.com/office/drawing/2014/main" id="{D7640EA2-7590-418C-9268-8E168CDBD03E}"/>
              </a:ext>
            </a:extLst>
          </p:cNvPr>
          <p:cNvSpPr>
            <a:spLocks xmlns:a="http://schemas.openxmlformats.org/drawingml/2006/main" noGrp="1"/>
          </p:cNvSpPr>
          <p:nvPr/>
        </p:nvSpPr>
        <p:spPr>
          <a:xfrm xmlns:a="http://schemas.openxmlformats.org/drawingml/2006/main">
            <a:off x="8020050" y="5210175"/>
            <a:ext cx="352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826"/>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输入：干净 query + 候选参考谱　｜　输出：候选分数与名次</a:t>
            </a:r>
          </a:p>
        </p:txBody>
      </p:sp>
      <p:sp>
        <p:nvSpPr>
          <p:cNvPr id="66" name="">
            <a:extLst xmlns:a="http://schemas.openxmlformats.org/drawingml/2006/main">
              <a:ext uri="{FF2B5EF4-FFF2-40B4-BE49-F238E27FC236}">
                <a16:creationId xmlns:a16="http://schemas.microsoft.com/office/drawing/2014/main" id="{A371E881-95C7-4FBE-90A9-47DBAEE0AAF8}"/>
              </a:ext>
            </a:extLst>
          </p:cNvPr>
          <p:cNvSpPr>
            <a:spLocks xmlns:a="http://schemas.openxmlformats.org/drawingml/2006/main" noGrp="1"/>
          </p:cNvSpPr>
          <p:nvPr/>
        </p:nvSpPr>
        <p:spPr>
          <a:xfrm xmlns:a="http://schemas.openxmlformats.org/drawingml/2006/main">
            <a:off x="1143000" y="5619750"/>
            <a:ext cx="990600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67" name="">
            <a:extLst xmlns:a="http://schemas.openxmlformats.org/drawingml/2006/main">
              <a:ext uri="{FF2B5EF4-FFF2-40B4-BE49-F238E27FC236}">
                <a16:creationId xmlns:a16="http://schemas.microsoft.com/office/drawing/2014/main" id="{D19F2ED6-9885-4C3C-9876-529A189E0207}"/>
              </a:ext>
            </a:extLst>
          </p:cNvPr>
          <p:cNvSpPr>
            <a:spLocks xmlns:a="http://schemas.openxmlformats.org/drawingml/2006/main" noGrp="1"/>
          </p:cNvSpPr>
          <p:nvPr/>
        </p:nvSpPr>
        <p:spPr>
          <a:xfrm xmlns:a="http://schemas.openxmlformats.org/drawingml/2006/main">
            <a:off x="1428750" y="57340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自监督预训练学习通用谱图表征；triplet 微调拉近同身份谱图、推远近质量异身份谱图；推理时据此完成候选排序。</a:t>
            </a:r>
          </a:p>
        </p:txBody>
      </p:sp>
    </p:spTree>
    <p:extLst>
      <p:ext uri="{BB962C8B-B14F-4D97-AF65-F5344CB8AC3E}">
        <p14:creationId xmlns:p14="http://schemas.microsoft.com/office/powerpoint/2010/main" val="16602481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75C4D29-8A61-4F0E-A2B5-BAC573CCD21D}"/>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5790BF-77A3-4AF6-A449-8DF8C2C50028}"/>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7EDDE7F-410B-47BD-8E60-68F181922828}"/>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9B0DE5-4592-40B5-B7F4-88406A701878}"/>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FA722BA-04E1-4CB4-B389-126CFABC76BF}"/>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在固定候选集中，DreaMS 为什么仍会排错？</a:t>
            </a:r>
          </a:p>
        </p:txBody>
      </p:sp>
      <p:sp>
        <p:nvSpPr>
          <p:cNvPr id="6" name="">
            <a:extLst xmlns:a="http://schemas.openxmlformats.org/drawingml/2006/main">
              <a:ext uri="{FF2B5EF4-FFF2-40B4-BE49-F238E27FC236}">
                <a16:creationId xmlns:a16="http://schemas.microsoft.com/office/drawing/2014/main" id="{9E37ACAF-0A24-477F-80BD-3EAD2CD44624}"/>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C959E8-EA2A-4FA3-9B11-EF73B5D1EC69}"/>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427659-C478-49E8-B52F-C7A808D3624F}"/>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E1C6D7-9D0F-4A1D-9710-AE9323974C1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AD0441C5-79B8-4B85-977C-E455D4599B8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BFA83F43-AAE9-4B16-BCE0-DBC84E8C7004}"/>
              </a:ext>
            </a:extLst>
          </p:cNvPr>
          <p:cNvSpPr>
            <a:spLocks xmlns:a="http://schemas.openxmlformats.org/drawingml/2006/main" noGrp="1"/>
          </p:cNvSpPr>
          <p:nvPr/>
        </p:nvSpPr>
        <p:spPr>
          <a:xfrm xmlns:a="http://schemas.openxmlformats.org/drawingml/2006/main">
            <a:off x="3000375" y="8001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92"/>
          </a:bodyPr>
          <a:lstStyle xmlns:a="http://schemas.openxmlformats.org/drawingml/2006/main"/>
          <a:p xmlns:a="http://schemas.openxmlformats.org/drawingml/2006/main">
            <a:pPr algn="ctr">
              <a:defRPr sz="1238" b="0" i="0">
                <a:solidFill>
                  <a:srgbClr val="5B5B5B"/>
                </a:solidFill>
                <a:latin typeface="Microsoft YaHei"/>
                <a:ea typeface="Microsoft YaHei"/>
                <a:cs typeface="Microsoft YaHei"/>
              </a:defRPr>
            </a:pPr>
            <a:r>
              <a:rPr sz="1238" b="0" i="0">
                <a:solidFill>
                  <a:srgbClr val="5B5B5B"/>
                </a:solidFill>
                <a:latin typeface="Microsoft YaHei"/>
                <a:ea typeface="Microsoft YaHei"/>
                <a:cs typeface="Microsoft YaHei"/>
              </a:rPr>
              <a:t>历史机制开发队列：候选按分子式分组，仅用于错误拆解</a:t>
            </a:r>
          </a:p>
        </p:txBody>
      </p:sp>
      <p:sp>
        <p:nvSpPr>
          <p:cNvPr id="12" name="">
            <a:extLst xmlns:a="http://schemas.openxmlformats.org/drawingml/2006/main">
              <a:ext uri="{FF2B5EF4-FFF2-40B4-BE49-F238E27FC236}">
                <a16:creationId xmlns:a16="http://schemas.microsoft.com/office/drawing/2014/main" id="{10857F62-FDF6-4C46-84ED-615C716A5D2F}"/>
              </a:ext>
            </a:extLst>
          </p:cNvPr>
          <p:cNvSpPr>
            <a:spLocks xmlns:a="http://schemas.openxmlformats.org/drawingml/2006/main" noGrp="1"/>
          </p:cNvSpPr>
          <p:nvPr/>
        </p:nvSpPr>
        <p:spPr>
          <a:xfrm xmlns:a="http://schemas.openxmlformats.org/drawingml/2006/main">
            <a:off x="52387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CD21799C-E7F5-40D2-9B06-670B68569F29}"/>
              </a:ext>
            </a:extLst>
          </p:cNvPr>
          <p:cNvSpPr>
            <a:spLocks xmlns:a="http://schemas.openxmlformats.org/drawingml/2006/main" noGrp="1"/>
          </p:cNvSpPr>
          <p:nvPr/>
        </p:nvSpPr>
        <p:spPr>
          <a:xfrm xmlns:a="http://schemas.openxmlformats.org/drawingml/2006/main">
            <a:off x="61912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查询谱图</a:t>
            </a:r>
          </a:p>
        </p:txBody>
      </p:sp>
      <p:sp>
        <p:nvSpPr>
          <p:cNvPr id="14" name="">
            <a:extLst xmlns:a="http://schemas.openxmlformats.org/drawingml/2006/main">
              <a:ext uri="{FF2B5EF4-FFF2-40B4-BE49-F238E27FC236}">
                <a16:creationId xmlns:a16="http://schemas.microsoft.com/office/drawing/2014/main" id="{797821D1-904E-405A-9E90-E6F87CEDACB4}"/>
              </a:ext>
            </a:extLst>
          </p:cNvPr>
          <p:cNvSpPr>
            <a:spLocks xmlns:a="http://schemas.openxmlformats.org/drawingml/2006/main" noGrp="1"/>
          </p:cNvSpPr>
          <p:nvPr/>
        </p:nvSpPr>
        <p:spPr>
          <a:xfrm xmlns:a="http://schemas.openxmlformats.org/drawingml/2006/main">
            <a:off x="60007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23,876</a:t>
            </a:r>
          </a:p>
        </p:txBody>
      </p:sp>
      <p:sp>
        <p:nvSpPr>
          <p:cNvPr id="15" name="">
            <a:extLst xmlns:a="http://schemas.openxmlformats.org/drawingml/2006/main">
              <a:ext uri="{FF2B5EF4-FFF2-40B4-BE49-F238E27FC236}">
                <a16:creationId xmlns:a16="http://schemas.microsoft.com/office/drawing/2014/main" id="{974957C4-08DF-4BE9-AA7B-82CDF9DE70F9}"/>
              </a:ext>
            </a:extLst>
          </p:cNvPr>
          <p:cNvSpPr>
            <a:spLocks xmlns:a="http://schemas.openxmlformats.org/drawingml/2006/main" noGrp="1"/>
          </p:cNvSpPr>
          <p:nvPr/>
        </p:nvSpPr>
        <p:spPr>
          <a:xfrm xmlns:a="http://schemas.openxmlformats.org/drawingml/2006/main">
            <a:off x="347662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4CCBC22F-8305-48A4-93C5-6054E2C52422}"/>
              </a:ext>
            </a:extLst>
          </p:cNvPr>
          <p:cNvSpPr>
            <a:spLocks xmlns:a="http://schemas.openxmlformats.org/drawingml/2006/main" noGrp="1"/>
          </p:cNvSpPr>
          <p:nvPr/>
        </p:nvSpPr>
        <p:spPr>
          <a:xfrm xmlns:a="http://schemas.openxmlformats.org/drawingml/2006/main">
            <a:off x="357187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Top-1 错误</a:t>
            </a:r>
          </a:p>
        </p:txBody>
      </p:sp>
      <p:sp>
        <p:nvSpPr>
          <p:cNvPr id="17" name="">
            <a:extLst xmlns:a="http://schemas.openxmlformats.org/drawingml/2006/main">
              <a:ext uri="{FF2B5EF4-FFF2-40B4-BE49-F238E27FC236}">
                <a16:creationId xmlns:a16="http://schemas.microsoft.com/office/drawing/2014/main" id="{27DD9160-5BEA-4054-BB10-312721B96BF1}"/>
              </a:ext>
            </a:extLst>
          </p:cNvPr>
          <p:cNvSpPr>
            <a:spLocks xmlns:a="http://schemas.openxmlformats.org/drawingml/2006/main" noGrp="1"/>
          </p:cNvSpPr>
          <p:nvPr/>
        </p:nvSpPr>
        <p:spPr>
          <a:xfrm xmlns:a="http://schemas.openxmlformats.org/drawingml/2006/main">
            <a:off x="355282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1,805</a:t>
            </a:r>
          </a:p>
        </p:txBody>
      </p:sp>
      <p:sp>
        <p:nvSpPr>
          <p:cNvPr id="18" name="">
            <a:extLst xmlns:a="http://schemas.openxmlformats.org/drawingml/2006/main">
              <a:ext uri="{FF2B5EF4-FFF2-40B4-BE49-F238E27FC236}">
                <a16:creationId xmlns:a16="http://schemas.microsoft.com/office/drawing/2014/main" id="{FC114505-1871-499D-8177-2BDE4AFC552A}"/>
              </a:ext>
            </a:extLst>
          </p:cNvPr>
          <p:cNvSpPr>
            <a:spLocks xmlns:a="http://schemas.openxmlformats.org/drawingml/2006/main" noGrp="1"/>
          </p:cNvSpPr>
          <p:nvPr/>
        </p:nvSpPr>
        <p:spPr>
          <a:xfrm xmlns:a="http://schemas.openxmlformats.org/drawingml/2006/main">
            <a:off x="642937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96CE01BF-3ADA-4317-A06D-0085BC7696D6}"/>
              </a:ext>
            </a:extLst>
          </p:cNvPr>
          <p:cNvSpPr>
            <a:spLocks xmlns:a="http://schemas.openxmlformats.org/drawingml/2006/main" noGrp="1"/>
          </p:cNvSpPr>
          <p:nvPr/>
        </p:nvSpPr>
        <p:spPr>
          <a:xfrm xmlns:a="http://schemas.openxmlformats.org/drawingml/2006/main">
            <a:off x="652462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错误率</a:t>
            </a:r>
          </a:p>
        </p:txBody>
      </p:sp>
      <p:sp>
        <p:nvSpPr>
          <p:cNvPr id="20" name="">
            <a:extLst xmlns:a="http://schemas.openxmlformats.org/drawingml/2006/main">
              <a:ext uri="{FF2B5EF4-FFF2-40B4-BE49-F238E27FC236}">
                <a16:creationId xmlns:a16="http://schemas.microsoft.com/office/drawing/2014/main" id="{517E145B-F48B-4AC8-8BBD-13EC9FED9334}"/>
              </a:ext>
            </a:extLst>
          </p:cNvPr>
          <p:cNvSpPr>
            <a:spLocks xmlns:a="http://schemas.openxmlformats.org/drawingml/2006/main" noGrp="1"/>
          </p:cNvSpPr>
          <p:nvPr/>
        </p:nvSpPr>
        <p:spPr>
          <a:xfrm xmlns:a="http://schemas.openxmlformats.org/drawingml/2006/main">
            <a:off x="650557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7.56%</a:t>
            </a:r>
          </a:p>
        </p:txBody>
      </p:sp>
      <p:sp>
        <p:nvSpPr>
          <p:cNvPr id="21" name="">
            <a:extLst xmlns:a="http://schemas.openxmlformats.org/drawingml/2006/main">
              <a:ext uri="{FF2B5EF4-FFF2-40B4-BE49-F238E27FC236}">
                <a16:creationId xmlns:a16="http://schemas.microsoft.com/office/drawing/2014/main" id="{F44D7319-4756-4187-865E-50074EFEDBF5}"/>
              </a:ext>
            </a:extLst>
          </p:cNvPr>
          <p:cNvSpPr>
            <a:spLocks xmlns:a="http://schemas.openxmlformats.org/drawingml/2006/main" noGrp="1"/>
          </p:cNvSpPr>
          <p:nvPr/>
        </p:nvSpPr>
        <p:spPr>
          <a:xfrm xmlns:a="http://schemas.openxmlformats.org/drawingml/2006/main">
            <a:off x="938212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806D6BEF-C547-4CE0-9277-FA97ED1C11D9}"/>
              </a:ext>
            </a:extLst>
          </p:cNvPr>
          <p:cNvSpPr>
            <a:spLocks xmlns:a="http://schemas.openxmlformats.org/drawingml/2006/main" noGrp="1"/>
          </p:cNvSpPr>
          <p:nvPr/>
        </p:nvSpPr>
        <p:spPr>
          <a:xfrm xmlns:a="http://schemas.openxmlformats.org/drawingml/2006/main">
            <a:off x="947737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近结构错误</a:t>
            </a:r>
          </a:p>
        </p:txBody>
      </p:sp>
      <p:sp>
        <p:nvSpPr>
          <p:cNvPr id="23" name="">
            <a:extLst xmlns:a="http://schemas.openxmlformats.org/drawingml/2006/main">
              <a:ext uri="{FF2B5EF4-FFF2-40B4-BE49-F238E27FC236}">
                <a16:creationId xmlns:a16="http://schemas.microsoft.com/office/drawing/2014/main" id="{FE0E77A6-D867-4C2A-9E72-E4E507663CA2}"/>
              </a:ext>
            </a:extLst>
          </p:cNvPr>
          <p:cNvSpPr>
            <a:spLocks xmlns:a="http://schemas.openxmlformats.org/drawingml/2006/main" noGrp="1"/>
          </p:cNvSpPr>
          <p:nvPr/>
        </p:nvSpPr>
        <p:spPr>
          <a:xfrm xmlns:a="http://schemas.openxmlformats.org/drawingml/2006/main">
            <a:off x="945832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1,446</a:t>
            </a:r>
          </a:p>
        </p:txBody>
      </p:sp>
      <p:sp>
        <p:nvSpPr>
          <p:cNvPr id="24" name="">
            <a:extLst xmlns:a="http://schemas.openxmlformats.org/drawingml/2006/main">
              <a:ext uri="{FF2B5EF4-FFF2-40B4-BE49-F238E27FC236}">
                <a16:creationId xmlns:a16="http://schemas.microsoft.com/office/drawing/2014/main" id="{4B349687-2181-4028-8AFD-AF5A61F2626A}"/>
              </a:ext>
            </a:extLst>
          </p:cNvPr>
          <p:cNvSpPr>
            <a:spLocks xmlns:a="http://schemas.openxmlformats.org/drawingml/2006/main" noGrp="1"/>
          </p:cNvSpPr>
          <p:nvPr/>
        </p:nvSpPr>
        <p:spPr>
          <a:xfrm xmlns:a="http://schemas.openxmlformats.org/drawingml/2006/main">
            <a:off x="9458325" y="1704975"/>
            <a:ext cx="2228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485"/>
          </a:bodyPr>
          <a:lstStyle xmlns:a="http://schemas.openxmlformats.org/drawingml/2006/main"/>
          <a:p xmlns:a="http://schemas.openxmlformats.org/drawingml/2006/main">
            <a:pPr algn="ctr">
              <a:defRPr sz="825" b="0" i="0">
                <a:solidFill>
                  <a:srgbClr val="5B5B5B"/>
                </a:solidFill>
                <a:latin typeface="Microsoft YaHei"/>
                <a:ea typeface="Microsoft YaHei"/>
                <a:cs typeface="Microsoft YaHei"/>
              </a:defRPr>
            </a:pPr>
            <a:r>
              <a:rPr sz="825" b="0" i="0">
                <a:solidFill>
                  <a:srgbClr val="5B5B5B"/>
                </a:solidFill>
                <a:latin typeface="Microsoft YaHei"/>
                <a:ea typeface="Microsoft YaHei"/>
                <a:cs typeface="Microsoft YaHei"/>
              </a:rPr>
              <a:t>near：MCES 0–2</a:t>
            </a:r>
          </a:p>
        </p:txBody>
      </p:sp>
      <p:sp>
        <p:nvSpPr>
          <p:cNvPr id="25" name="">
            <a:extLst xmlns:a="http://schemas.openxmlformats.org/drawingml/2006/main">
              <a:ext uri="{FF2B5EF4-FFF2-40B4-BE49-F238E27FC236}">
                <a16:creationId xmlns:a16="http://schemas.microsoft.com/office/drawing/2014/main" id="{31898BEE-0B4C-4E4D-B23B-233F090B9685}"/>
              </a:ext>
            </a:extLst>
          </p:cNvPr>
          <p:cNvSpPr>
            <a:spLocks xmlns:a="http://schemas.openxmlformats.org/drawingml/2006/main" noGrp="1"/>
          </p:cNvSpPr>
          <p:nvPr/>
        </p:nvSpPr>
        <p:spPr>
          <a:xfrm xmlns:a="http://schemas.openxmlformats.org/drawingml/2006/main">
            <a:off x="571500" y="21431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错误类型</a:t>
            </a:r>
          </a:p>
        </p:txBody>
      </p:sp>
      <p:sp>
        <p:nvSpPr>
          <p:cNvPr id="26" name="">
            <a:extLst xmlns:a="http://schemas.openxmlformats.org/drawingml/2006/main">
              <a:ext uri="{FF2B5EF4-FFF2-40B4-BE49-F238E27FC236}">
                <a16:creationId xmlns:a16="http://schemas.microsoft.com/office/drawing/2014/main" id="{20505F78-B4A0-4F70-9669-F98ACE4EAF4D}"/>
              </a:ext>
            </a:extLst>
          </p:cNvPr>
          <p:cNvSpPr>
            <a:spLocks xmlns:a="http://schemas.openxmlformats.org/drawingml/2006/main" noGrp="1"/>
          </p:cNvSpPr>
          <p:nvPr/>
        </p:nvSpPr>
        <p:spPr>
          <a:xfrm xmlns:a="http://schemas.openxmlformats.org/drawingml/2006/main">
            <a:off x="571500" y="2619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真实候选相似度不足</a:t>
            </a:r>
          </a:p>
        </p:txBody>
      </p:sp>
      <p:sp>
        <p:nvSpPr>
          <p:cNvPr id="27" name="">
            <a:extLst xmlns:a="http://schemas.openxmlformats.org/drawingml/2006/main">
              <a:ext uri="{FF2B5EF4-FFF2-40B4-BE49-F238E27FC236}">
                <a16:creationId xmlns:a16="http://schemas.microsoft.com/office/drawing/2014/main" id="{45760073-5D70-4FBE-8115-A360D419D4A6}"/>
              </a:ext>
            </a:extLst>
          </p:cNvPr>
          <p:cNvSpPr>
            <a:spLocks xmlns:a="http://schemas.openxmlformats.org/drawingml/2006/main" noGrp="1"/>
          </p:cNvSpPr>
          <p:nvPr/>
        </p:nvSpPr>
        <p:spPr>
          <a:xfrm xmlns:a="http://schemas.openxmlformats.org/drawingml/2006/main">
            <a:off x="2762250" y="2667000"/>
            <a:ext cx="3524250" cy="22860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99E0232-6D01-48B2-8C4A-A2EC3E6EE6BF}"/>
              </a:ext>
            </a:extLst>
          </p:cNvPr>
          <p:cNvSpPr>
            <a:spLocks xmlns:a="http://schemas.openxmlformats.org/drawingml/2006/main" noGrp="1"/>
          </p:cNvSpPr>
          <p:nvPr/>
        </p:nvSpPr>
        <p:spPr>
          <a:xfrm xmlns:a="http://schemas.openxmlformats.org/drawingml/2006/main">
            <a:off x="4524375" y="26003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311"/>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1,242  /  68.8%</a:t>
            </a:r>
          </a:p>
        </p:txBody>
      </p:sp>
      <p:sp>
        <p:nvSpPr>
          <p:cNvPr id="29" name="">
            <a:extLst xmlns:a="http://schemas.openxmlformats.org/drawingml/2006/main">
              <a:ext uri="{FF2B5EF4-FFF2-40B4-BE49-F238E27FC236}">
                <a16:creationId xmlns:a16="http://schemas.microsoft.com/office/drawing/2014/main" id="{478E2FE9-827E-48CB-8FB3-B964F5BCBF37}"/>
              </a:ext>
            </a:extLst>
          </p:cNvPr>
          <p:cNvSpPr>
            <a:spLocks xmlns:a="http://schemas.openxmlformats.org/drawingml/2006/main" noGrp="1"/>
          </p:cNvSpPr>
          <p:nvPr/>
        </p:nvSpPr>
        <p:spPr>
          <a:xfrm xmlns:a="http://schemas.openxmlformats.org/drawingml/2006/main">
            <a:off x="571500" y="33051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正例不足且错误候选过高</a:t>
            </a:r>
          </a:p>
        </p:txBody>
      </p:sp>
      <p:sp>
        <p:nvSpPr>
          <p:cNvPr id="30" name="">
            <a:extLst xmlns:a="http://schemas.openxmlformats.org/drawingml/2006/main">
              <a:ext uri="{FF2B5EF4-FFF2-40B4-BE49-F238E27FC236}">
                <a16:creationId xmlns:a16="http://schemas.microsoft.com/office/drawing/2014/main" id="{BEFFD708-DC8D-4FCF-823B-BA7A2DC6099D}"/>
              </a:ext>
            </a:extLst>
          </p:cNvPr>
          <p:cNvSpPr>
            <a:spLocks xmlns:a="http://schemas.openxmlformats.org/drawingml/2006/main" noGrp="1"/>
          </p:cNvSpPr>
          <p:nvPr/>
        </p:nvSpPr>
        <p:spPr>
          <a:xfrm xmlns:a="http://schemas.openxmlformats.org/drawingml/2006/main">
            <a:off x="2762250" y="3352800"/>
            <a:ext cx="561975"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11D0F1E-B192-459B-9B6F-1B55A9A81392}"/>
              </a:ext>
            </a:extLst>
          </p:cNvPr>
          <p:cNvSpPr>
            <a:spLocks xmlns:a="http://schemas.openxmlformats.org/drawingml/2006/main" noGrp="1"/>
          </p:cNvSpPr>
          <p:nvPr/>
        </p:nvSpPr>
        <p:spPr>
          <a:xfrm xmlns:a="http://schemas.openxmlformats.org/drawingml/2006/main">
            <a:off x="4524375" y="32861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15"/>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197  /  10.9%</a:t>
            </a:r>
          </a:p>
        </p:txBody>
      </p:sp>
      <p:sp>
        <p:nvSpPr>
          <p:cNvPr id="32" name="">
            <a:extLst xmlns:a="http://schemas.openxmlformats.org/drawingml/2006/main">
              <a:ext uri="{FF2B5EF4-FFF2-40B4-BE49-F238E27FC236}">
                <a16:creationId xmlns:a16="http://schemas.microsoft.com/office/drawing/2014/main" id="{1D54807A-C4B9-40A3-88F7-4CBB022C231F}"/>
              </a:ext>
            </a:extLst>
          </p:cNvPr>
          <p:cNvSpPr>
            <a:spLocks xmlns:a="http://schemas.openxmlformats.org/drawingml/2006/main" noGrp="1"/>
          </p:cNvSpPr>
          <p:nvPr/>
        </p:nvSpPr>
        <p:spPr>
          <a:xfrm xmlns:a="http://schemas.openxmlformats.org/drawingml/2006/main">
            <a:off x="571500" y="3990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错误候选相似度过高</a:t>
            </a:r>
          </a:p>
        </p:txBody>
      </p:sp>
      <p:sp>
        <p:nvSpPr>
          <p:cNvPr id="33" name="">
            <a:extLst xmlns:a="http://schemas.openxmlformats.org/drawingml/2006/main">
              <a:ext uri="{FF2B5EF4-FFF2-40B4-BE49-F238E27FC236}">
                <a16:creationId xmlns:a16="http://schemas.microsoft.com/office/drawing/2014/main" id="{E452FA0E-0767-4CAF-B095-CB0D9BCC3181}"/>
              </a:ext>
            </a:extLst>
          </p:cNvPr>
          <p:cNvSpPr>
            <a:spLocks xmlns:a="http://schemas.openxmlformats.org/drawingml/2006/main" noGrp="1"/>
          </p:cNvSpPr>
          <p:nvPr/>
        </p:nvSpPr>
        <p:spPr>
          <a:xfrm xmlns:a="http://schemas.openxmlformats.org/drawingml/2006/main">
            <a:off x="2762250" y="4038600"/>
            <a:ext cx="533400"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3268E8-4018-416F-AD29-B2D81C1E62CD}"/>
              </a:ext>
            </a:extLst>
          </p:cNvPr>
          <p:cNvSpPr>
            <a:spLocks xmlns:a="http://schemas.openxmlformats.org/drawingml/2006/main" noGrp="1"/>
          </p:cNvSpPr>
          <p:nvPr/>
        </p:nvSpPr>
        <p:spPr>
          <a:xfrm xmlns:a="http://schemas.openxmlformats.org/drawingml/2006/main">
            <a:off x="4524375" y="39719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15"/>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188  /  10.4%</a:t>
            </a:r>
          </a:p>
        </p:txBody>
      </p:sp>
      <p:sp>
        <p:nvSpPr>
          <p:cNvPr id="35" name="">
            <a:extLst xmlns:a="http://schemas.openxmlformats.org/drawingml/2006/main">
              <a:ext uri="{FF2B5EF4-FFF2-40B4-BE49-F238E27FC236}">
                <a16:creationId xmlns:a16="http://schemas.microsoft.com/office/drawing/2014/main" id="{2C6912F2-35EC-415E-ACE5-C78B69B1297B}"/>
              </a:ext>
            </a:extLst>
          </p:cNvPr>
          <p:cNvSpPr>
            <a:spLocks xmlns:a="http://schemas.openxmlformats.org/drawingml/2006/main" noGrp="1"/>
          </p:cNvSpPr>
          <p:nvPr/>
        </p:nvSpPr>
        <p:spPr>
          <a:xfrm xmlns:a="http://schemas.openxmlformats.org/drawingml/2006/main">
            <a:off x="571500" y="46767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得分并列及其他边界</a:t>
            </a:r>
          </a:p>
        </p:txBody>
      </p:sp>
      <p:sp>
        <p:nvSpPr>
          <p:cNvPr id="36" name="">
            <a:extLst xmlns:a="http://schemas.openxmlformats.org/drawingml/2006/main">
              <a:ext uri="{FF2B5EF4-FFF2-40B4-BE49-F238E27FC236}">
                <a16:creationId xmlns:a16="http://schemas.microsoft.com/office/drawing/2014/main" id="{DACB580D-B331-4B8B-BBE6-9BBF34187FA8}"/>
              </a:ext>
            </a:extLst>
          </p:cNvPr>
          <p:cNvSpPr>
            <a:spLocks xmlns:a="http://schemas.openxmlformats.org/drawingml/2006/main" noGrp="1"/>
          </p:cNvSpPr>
          <p:nvPr/>
        </p:nvSpPr>
        <p:spPr>
          <a:xfrm xmlns:a="http://schemas.openxmlformats.org/drawingml/2006/main">
            <a:off x="2762250" y="4724400"/>
            <a:ext cx="504825"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717DA84-F23B-49A6-B7CB-4EDB15EC3604}"/>
              </a:ext>
            </a:extLst>
          </p:cNvPr>
          <p:cNvSpPr>
            <a:spLocks xmlns:a="http://schemas.openxmlformats.org/drawingml/2006/main" noGrp="1"/>
          </p:cNvSpPr>
          <p:nvPr/>
        </p:nvSpPr>
        <p:spPr>
          <a:xfrm xmlns:a="http://schemas.openxmlformats.org/drawingml/2006/main">
            <a:off x="4524375" y="46577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8"/>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178  /  9.9%</a:t>
            </a:r>
          </a:p>
        </p:txBody>
      </p:sp>
      <p:sp>
        <p:nvSpPr>
          <p:cNvPr id="38" name="">
            <a:extLst xmlns:a="http://schemas.openxmlformats.org/drawingml/2006/main">
              <a:ext uri="{FF2B5EF4-FFF2-40B4-BE49-F238E27FC236}">
                <a16:creationId xmlns:a16="http://schemas.microsoft.com/office/drawing/2014/main" id="{F8FA5A82-AE9F-4EE2-9166-B8A2E8E0FF24}"/>
              </a:ext>
            </a:extLst>
          </p:cNvPr>
          <p:cNvSpPr>
            <a:spLocks xmlns:a="http://schemas.openxmlformats.org/drawingml/2006/main" noGrp="1"/>
          </p:cNvSpPr>
          <p:nvPr/>
        </p:nvSpPr>
        <p:spPr>
          <a:xfrm xmlns:a="http://schemas.openxmlformats.org/drawingml/2006/main">
            <a:off x="5905500" y="2238375"/>
            <a:ext cx="5476875" cy="14287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9" name="">
            <a:extLst xmlns:a="http://schemas.openxmlformats.org/drawingml/2006/main">
              <a:ext uri="{FF2B5EF4-FFF2-40B4-BE49-F238E27FC236}">
                <a16:creationId xmlns:a16="http://schemas.microsoft.com/office/drawing/2014/main" id="{0498AA50-0A22-424B-8C4C-1EF0960D72B2}"/>
              </a:ext>
            </a:extLst>
          </p:cNvPr>
          <p:cNvSpPr>
            <a:spLocks xmlns:a="http://schemas.openxmlformats.org/drawingml/2006/main" noGrp="1"/>
          </p:cNvSpPr>
          <p:nvPr/>
        </p:nvSpPr>
        <p:spPr>
          <a:xfrm xmlns:a="http://schemas.openxmlformats.org/drawingml/2006/main">
            <a:off x="6191250" y="24003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真实候选相似度不足（positive deficit）</a:t>
            </a:r>
          </a:p>
        </p:txBody>
      </p:sp>
      <p:sp>
        <p:nvSpPr>
          <p:cNvPr id="40" name="">
            <a:extLst xmlns:a="http://schemas.openxmlformats.org/drawingml/2006/main">
              <a:ext uri="{FF2B5EF4-FFF2-40B4-BE49-F238E27FC236}">
                <a16:creationId xmlns:a16="http://schemas.microsoft.com/office/drawing/2014/main" id="{7719A82B-FFCB-4853-BE12-BE72C04BA99D}"/>
              </a:ext>
            </a:extLst>
          </p:cNvPr>
          <p:cNvSpPr>
            <a:spLocks xmlns:a="http://schemas.openxmlformats.org/drawingml/2006/main" noGrp="1"/>
          </p:cNvSpPr>
          <p:nvPr/>
        </p:nvSpPr>
        <p:spPr>
          <a:xfrm xmlns:a="http://schemas.openxmlformats.org/drawingml/2006/main">
            <a:off x="6238875" y="2876550"/>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同一分子在不同仪器、碰撞条件或谱峰缺失情况下，</a:t>
            </a:r>
          </a:p>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query 与真实参考谱没有被模型拉得足够近。</a:t>
            </a:r>
          </a:p>
        </p:txBody>
      </p:sp>
      <p:sp>
        <p:nvSpPr>
          <p:cNvPr id="41" name="">
            <a:extLst xmlns:a="http://schemas.openxmlformats.org/drawingml/2006/main">
              <a:ext uri="{FF2B5EF4-FFF2-40B4-BE49-F238E27FC236}">
                <a16:creationId xmlns:a16="http://schemas.microsoft.com/office/drawing/2014/main" id="{5F6A5163-7945-4DCD-8AE2-E6D921B07247}"/>
              </a:ext>
            </a:extLst>
          </p:cNvPr>
          <p:cNvSpPr>
            <a:spLocks xmlns:a="http://schemas.openxmlformats.org/drawingml/2006/main" noGrp="1"/>
          </p:cNvSpPr>
          <p:nvPr/>
        </p:nvSpPr>
        <p:spPr>
          <a:xfrm xmlns:a="http://schemas.openxmlformats.org/drawingml/2006/main">
            <a:off x="5905500" y="3857625"/>
            <a:ext cx="547687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2" name="">
            <a:extLst xmlns:a="http://schemas.openxmlformats.org/drawingml/2006/main">
              <a:ext uri="{FF2B5EF4-FFF2-40B4-BE49-F238E27FC236}">
                <a16:creationId xmlns:a16="http://schemas.microsoft.com/office/drawing/2014/main" id="{5272C54F-76BE-4E1B-86A8-3E6A0743F634}"/>
              </a:ext>
            </a:extLst>
          </p:cNvPr>
          <p:cNvSpPr>
            <a:spLocks xmlns:a="http://schemas.openxmlformats.org/drawingml/2006/main" noGrp="1"/>
          </p:cNvSpPr>
          <p:nvPr/>
        </p:nvSpPr>
        <p:spPr>
          <a:xfrm xmlns:a="http://schemas.openxmlformats.org/drawingml/2006/main">
            <a:off x="6191250" y="40195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错误候选相似度过高（negative excess）</a:t>
            </a:r>
          </a:p>
        </p:txBody>
      </p:sp>
      <p:sp>
        <p:nvSpPr>
          <p:cNvPr id="43" name="">
            <a:extLst xmlns:a="http://schemas.openxmlformats.org/drawingml/2006/main">
              <a:ext uri="{FF2B5EF4-FFF2-40B4-BE49-F238E27FC236}">
                <a16:creationId xmlns:a16="http://schemas.microsoft.com/office/drawing/2014/main" id="{6ACC6176-7592-4F33-B1B3-0246F4B02FE2}"/>
              </a:ext>
            </a:extLst>
          </p:cNvPr>
          <p:cNvSpPr>
            <a:spLocks xmlns:a="http://schemas.openxmlformats.org/drawingml/2006/main" noGrp="1"/>
          </p:cNvSpPr>
          <p:nvPr/>
        </p:nvSpPr>
        <p:spPr>
          <a:xfrm xmlns:a="http://schemas.openxmlformats.org/drawingml/2006/main">
            <a:off x="6238875" y="4495800"/>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近结构候选共享骨架和主要碎片，</a:t>
            </a:r>
          </a:p>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使错误身份在 embedding 空间中过度接近 query。</a:t>
            </a:r>
          </a:p>
        </p:txBody>
      </p:sp>
      <p:sp>
        <p:nvSpPr>
          <p:cNvPr id="44" name="">
            <a:extLst xmlns:a="http://schemas.openxmlformats.org/drawingml/2006/main">
              <a:ext uri="{FF2B5EF4-FFF2-40B4-BE49-F238E27FC236}">
                <a16:creationId xmlns:a16="http://schemas.microsoft.com/office/drawing/2014/main" id="{E2CA1355-8228-451D-AF6B-18CB6E234985}"/>
              </a:ext>
            </a:extLst>
          </p:cNvPr>
          <p:cNvSpPr>
            <a:spLocks xmlns:a="http://schemas.openxmlformats.org/drawingml/2006/main" noGrp="1"/>
          </p:cNvSpPr>
          <p:nvPr/>
        </p:nvSpPr>
        <p:spPr>
          <a:xfrm xmlns:a="http://schemas.openxmlformats.org/drawingml/2006/main">
            <a:off x="809625" y="53244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296"/>
          </a:bodyPr>
          <a:lstStyle xmlns:a="http://schemas.openxmlformats.org/drawingml/2006/main"/>
          <a:p xmlns:a="http://schemas.openxmlformats.org/drawingml/2006/main">
            <a:pPr algn="ctr">
              <a:defRPr sz="938" b="0" i="0">
                <a:solidFill>
                  <a:srgbClr val="5B5B5B"/>
                </a:solidFill>
                <a:latin typeface="Microsoft YaHei"/>
                <a:ea typeface="Microsoft YaHei"/>
                <a:cs typeface="Microsoft YaHei"/>
              </a:defRPr>
            </a:pPr>
            <a:r>
              <a:rPr sz="938" b="0" i="0">
                <a:solidFill>
                  <a:srgbClr val="5B5B5B"/>
                </a:solidFill>
                <a:latin typeface="Microsoft YaHei"/>
                <a:ea typeface="Microsoft YaHei"/>
                <a:cs typeface="Microsoft YaHei"/>
              </a:rPr>
              <a:t>说明：此 23,876-query 历史队列只用于机制拆解，不与修正后的全量候选图或其他任务百分比直接比较。</a:t>
            </a:r>
          </a:p>
        </p:txBody>
      </p:sp>
      <p:sp>
        <p:nvSpPr>
          <p:cNvPr id="45" name="">
            <a:extLst xmlns:a="http://schemas.openxmlformats.org/drawingml/2006/main">
              <a:ext uri="{FF2B5EF4-FFF2-40B4-BE49-F238E27FC236}">
                <a16:creationId xmlns:a16="http://schemas.microsoft.com/office/drawing/2014/main" id="{EE3251CB-AAAA-4BA8-83A2-28E946B75BF4}"/>
              </a:ext>
            </a:extLst>
          </p:cNvPr>
          <p:cNvSpPr>
            <a:spLocks xmlns:a="http://schemas.openxmlformats.org/drawingml/2006/main" noGrp="1"/>
          </p:cNvSpPr>
          <p:nvPr/>
        </p:nvSpPr>
        <p:spPr>
          <a:xfrm xmlns:a="http://schemas.openxmlformats.org/drawingml/2006/main">
            <a:off x="1143000" y="5572125"/>
            <a:ext cx="9906000" cy="5238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46" name="">
            <a:extLst xmlns:a="http://schemas.openxmlformats.org/drawingml/2006/main">
              <a:ext uri="{FF2B5EF4-FFF2-40B4-BE49-F238E27FC236}">
                <a16:creationId xmlns:a16="http://schemas.microsoft.com/office/drawing/2014/main" id="{B2D08689-F2B7-4F2C-BCB6-968D0D382362}"/>
              </a:ext>
            </a:extLst>
          </p:cNvPr>
          <p:cNvSpPr>
            <a:spLocks xmlns:a="http://schemas.openxmlformats.org/drawingml/2006/main" noGrp="1"/>
          </p:cNvSpPr>
          <p:nvPr/>
        </p:nvSpPr>
        <p:spPr>
          <a:xfrm xmlns:a="http://schemas.openxmlformats.org/drawingml/2006/main">
            <a:off x="1381125" y="5686425"/>
            <a:ext cx="942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0"/>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主要矛盾不是“错误候选都太高”，而是跨条件时真实候选经常不够近；因此仅靠删掉混淆峰无法覆盖全部错误。</a:t>
            </a:r>
          </a:p>
        </p:txBody>
      </p:sp>
    </p:spTree>
    <p:extLst>
      <p:ext uri="{BB962C8B-B14F-4D97-AF65-F5344CB8AC3E}">
        <p14:creationId xmlns:p14="http://schemas.microsoft.com/office/powerpoint/2010/main" val="862874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5BA53FCF-2803-4402-8646-273EB9A09973}"/>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DDA291-8965-4098-B5A2-4AB451F12552}"/>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58EDCE-45B3-4B22-A172-6B47036B6AD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D0C034-25D5-4E91-8AE3-FEDDE706B862}"/>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7C8793-4AE3-44C6-A4CA-C24E45B94C80}"/>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根据错误来源，形成两类改进方式和四个互补模块</a:t>
            </a:r>
          </a:p>
        </p:txBody>
      </p:sp>
      <p:sp>
        <p:nvSpPr>
          <p:cNvPr id="6" name="">
            <a:extLst xmlns:a="http://schemas.openxmlformats.org/drawingml/2006/main">
              <a:ext uri="{FF2B5EF4-FFF2-40B4-BE49-F238E27FC236}">
                <a16:creationId xmlns:a16="http://schemas.microsoft.com/office/drawing/2014/main" id="{921EB0C7-6811-4BA4-B0D6-FC940ADA4140}"/>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1B1CDC-6182-489B-A33A-A4B8823E47E1}"/>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5AB9F22-F9CE-4F50-AFF2-458B6FD0946A}"/>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73F37A-30EE-4D9B-8854-F47179897971}"/>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122E845E-74C0-42A1-9CB1-33559911BF7F}"/>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C0DE0DD9-557B-4C48-9964-9D41C96C1AD2}"/>
              </a:ext>
            </a:extLst>
          </p:cNvPr>
          <p:cNvSpPr>
            <a:spLocks xmlns:a="http://schemas.openxmlformats.org/drawingml/2006/main" noGrp="1"/>
          </p:cNvSpPr>
          <p:nvPr/>
        </p:nvSpPr>
        <p:spPr>
          <a:xfrm xmlns:a="http://schemas.openxmlformats.org/drawingml/2006/main">
            <a:off x="428625"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67"/>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query / 候选参考谱</a:t>
            </a:r>
          </a:p>
        </p:txBody>
      </p:sp>
      <p:sp>
        <p:nvSpPr>
          <p:cNvPr id="12" name="">
            <a:extLst xmlns:a="http://schemas.openxmlformats.org/drawingml/2006/main">
              <a:ext uri="{FF2B5EF4-FFF2-40B4-BE49-F238E27FC236}">
                <a16:creationId xmlns:a16="http://schemas.microsoft.com/office/drawing/2014/main" id="{F61C7D32-BA62-4AE1-96F1-C8F40EECD1A8}"/>
              </a:ext>
            </a:extLst>
          </p:cNvPr>
          <p:cNvSpPr>
            <a:spLocks xmlns:a="http://schemas.openxmlformats.org/drawingml/2006/main" noGrp="1"/>
          </p:cNvSpPr>
          <p:nvPr/>
        </p:nvSpPr>
        <p:spPr>
          <a:xfrm xmlns:a="http://schemas.openxmlformats.org/drawingml/2006/main">
            <a:off x="2095500"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E626F0-84EF-4610-867F-6635E72BE663}"/>
              </a:ext>
            </a:extLst>
          </p:cNvPr>
          <p:cNvSpPr>
            <a:spLocks xmlns:a="http://schemas.openxmlformats.org/drawingml/2006/main" noGrp="1"/>
          </p:cNvSpPr>
          <p:nvPr/>
        </p:nvSpPr>
        <p:spPr>
          <a:xfrm xmlns:a="http://schemas.openxmlformats.org/drawingml/2006/main">
            <a:off x="2571750" y="876300"/>
            <a:ext cx="2047875" cy="62865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4" name="">
            <a:extLst xmlns:a="http://schemas.openxmlformats.org/drawingml/2006/main">
              <a:ext uri="{FF2B5EF4-FFF2-40B4-BE49-F238E27FC236}">
                <a16:creationId xmlns:a16="http://schemas.microsoft.com/office/drawing/2014/main" id="{177F337D-A08D-48FB-82C2-0888395CF3C8}"/>
              </a:ext>
            </a:extLst>
          </p:cNvPr>
          <p:cNvSpPr>
            <a:spLocks xmlns:a="http://schemas.openxmlformats.org/drawingml/2006/main" noGrp="1"/>
          </p:cNvSpPr>
          <p:nvPr/>
        </p:nvSpPr>
        <p:spPr>
          <a:xfrm xmlns:a="http://schemas.openxmlformats.org/drawingml/2006/main">
            <a:off x="2762250" y="10287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DreaMS encoder</a:t>
            </a:r>
          </a:p>
        </p:txBody>
      </p:sp>
      <p:sp>
        <p:nvSpPr>
          <p:cNvPr id="15" name="">
            <a:extLst xmlns:a="http://schemas.openxmlformats.org/drawingml/2006/main">
              <a:ext uri="{FF2B5EF4-FFF2-40B4-BE49-F238E27FC236}">
                <a16:creationId xmlns:a16="http://schemas.microsoft.com/office/drawing/2014/main" id="{F4AD4A00-1E64-44A3-A829-9C4DAF722B25}"/>
              </a:ext>
            </a:extLst>
          </p:cNvPr>
          <p:cNvSpPr>
            <a:spLocks xmlns:a="http://schemas.openxmlformats.org/drawingml/2006/main" noGrp="1"/>
          </p:cNvSpPr>
          <p:nvPr/>
        </p:nvSpPr>
        <p:spPr>
          <a:xfrm xmlns:a="http://schemas.openxmlformats.org/drawingml/2006/main">
            <a:off x="47148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C018194-4B5F-4A22-AAE3-AD73300C8764}"/>
              </a:ext>
            </a:extLst>
          </p:cNvPr>
          <p:cNvSpPr>
            <a:spLocks xmlns:a="http://schemas.openxmlformats.org/drawingml/2006/main" noGrp="1"/>
          </p:cNvSpPr>
          <p:nvPr/>
        </p:nvSpPr>
        <p:spPr>
          <a:xfrm xmlns:a="http://schemas.openxmlformats.org/drawingml/2006/main">
            <a:off x="5143500"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共享 embedding</a:t>
            </a:r>
          </a:p>
        </p:txBody>
      </p:sp>
      <p:sp>
        <p:nvSpPr>
          <p:cNvPr id="17" name="">
            <a:extLst xmlns:a="http://schemas.openxmlformats.org/drawingml/2006/main">
              <a:ext uri="{FF2B5EF4-FFF2-40B4-BE49-F238E27FC236}">
                <a16:creationId xmlns:a16="http://schemas.microsoft.com/office/drawing/2014/main" id="{7FCD0203-EC97-4FC2-98C2-806F2912DD58}"/>
              </a:ext>
            </a:extLst>
          </p:cNvPr>
          <p:cNvSpPr>
            <a:spLocks xmlns:a="http://schemas.openxmlformats.org/drawingml/2006/main" noGrp="1"/>
          </p:cNvSpPr>
          <p:nvPr/>
        </p:nvSpPr>
        <p:spPr>
          <a:xfrm xmlns:a="http://schemas.openxmlformats.org/drawingml/2006/main">
            <a:off x="68103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D65716-B4F7-4CD3-AC76-323D13E0B278}"/>
              </a:ext>
            </a:extLst>
          </p:cNvPr>
          <p:cNvSpPr>
            <a:spLocks xmlns:a="http://schemas.openxmlformats.org/drawingml/2006/main" noGrp="1"/>
          </p:cNvSpPr>
          <p:nvPr/>
        </p:nvSpPr>
        <p:spPr>
          <a:xfrm xmlns:a="http://schemas.openxmlformats.org/drawingml/2006/main">
            <a:off x="7239000"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候选置信分数</a:t>
            </a:r>
          </a:p>
        </p:txBody>
      </p:sp>
      <p:sp>
        <p:nvSpPr>
          <p:cNvPr id="19" name="">
            <a:extLst xmlns:a="http://schemas.openxmlformats.org/drawingml/2006/main">
              <a:ext uri="{FF2B5EF4-FFF2-40B4-BE49-F238E27FC236}">
                <a16:creationId xmlns:a16="http://schemas.microsoft.com/office/drawing/2014/main" id="{DB120B6F-AB00-4BC8-812C-F22D85B06469}"/>
              </a:ext>
            </a:extLst>
          </p:cNvPr>
          <p:cNvSpPr>
            <a:spLocks xmlns:a="http://schemas.openxmlformats.org/drawingml/2006/main" noGrp="1"/>
          </p:cNvSpPr>
          <p:nvPr/>
        </p:nvSpPr>
        <p:spPr>
          <a:xfrm xmlns:a="http://schemas.openxmlformats.org/drawingml/2006/main">
            <a:off x="89058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379BEF1-0ED8-46F3-B263-3B1C63984763}"/>
              </a:ext>
            </a:extLst>
          </p:cNvPr>
          <p:cNvSpPr>
            <a:spLocks xmlns:a="http://schemas.openxmlformats.org/drawingml/2006/main" noGrp="1"/>
          </p:cNvSpPr>
          <p:nvPr/>
        </p:nvSpPr>
        <p:spPr>
          <a:xfrm xmlns:a="http://schemas.openxmlformats.org/drawingml/2006/main">
            <a:off x="9334500" y="9810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候选结构排序</a:t>
            </a:r>
          </a:p>
        </p:txBody>
      </p:sp>
      <p:sp>
        <p:nvSpPr>
          <p:cNvPr id="21" name="">
            <a:extLst xmlns:a="http://schemas.openxmlformats.org/drawingml/2006/main">
              <a:ext uri="{FF2B5EF4-FFF2-40B4-BE49-F238E27FC236}">
                <a16:creationId xmlns:a16="http://schemas.microsoft.com/office/drawing/2014/main" id="{0195E249-DAAD-4400-BA8B-3D196D1BB8DC}"/>
              </a:ext>
            </a:extLst>
          </p:cNvPr>
          <p:cNvSpPr>
            <a:spLocks xmlns:a="http://schemas.openxmlformats.org/drawingml/2006/main" noGrp="1"/>
          </p:cNvSpPr>
          <p:nvPr/>
        </p:nvSpPr>
        <p:spPr>
          <a:xfrm xmlns:a="http://schemas.openxmlformats.org/drawingml/2006/main">
            <a:off x="428625" y="1695450"/>
            <a:ext cx="11334750" cy="19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966BEE-A632-410F-97EA-65C6F9BA1923}"/>
              </a:ext>
            </a:extLst>
          </p:cNvPr>
          <p:cNvSpPr>
            <a:spLocks xmlns:a="http://schemas.openxmlformats.org/drawingml/2006/main" noGrp="1"/>
          </p:cNvSpPr>
          <p:nvPr/>
        </p:nvSpPr>
        <p:spPr>
          <a:xfrm xmlns:a="http://schemas.openxmlformats.org/drawingml/2006/main">
            <a:off x="428625" y="1952625"/>
            <a:ext cx="2476500"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3" name="">
            <a:extLst xmlns:a="http://schemas.openxmlformats.org/drawingml/2006/main">
              <a:ext uri="{FF2B5EF4-FFF2-40B4-BE49-F238E27FC236}">
                <a16:creationId xmlns:a16="http://schemas.microsoft.com/office/drawing/2014/main" id="{83943535-33B7-4A44-A546-80D822E3EC5F}"/>
              </a:ext>
            </a:extLst>
          </p:cNvPr>
          <p:cNvSpPr>
            <a:spLocks xmlns:a="http://schemas.openxmlformats.org/drawingml/2006/main" noGrp="1"/>
          </p:cNvSpPr>
          <p:nvPr/>
        </p:nvSpPr>
        <p:spPr>
          <a:xfrm xmlns:a="http://schemas.openxmlformats.org/drawingml/2006/main">
            <a:off x="476250" y="2019300"/>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审计发现</a:t>
            </a:r>
          </a:p>
        </p:txBody>
      </p:sp>
      <p:sp>
        <p:nvSpPr>
          <p:cNvPr id="24" name="">
            <a:extLst xmlns:a="http://schemas.openxmlformats.org/drawingml/2006/main">
              <a:ext uri="{FF2B5EF4-FFF2-40B4-BE49-F238E27FC236}">
                <a16:creationId xmlns:a16="http://schemas.microsoft.com/office/drawing/2014/main" id="{A0A71581-636A-4A9F-A8D3-839B7ECFEE9A}"/>
              </a:ext>
            </a:extLst>
          </p:cNvPr>
          <p:cNvSpPr>
            <a:spLocks xmlns:a="http://schemas.openxmlformats.org/drawingml/2006/main" noGrp="1"/>
          </p:cNvSpPr>
          <p:nvPr/>
        </p:nvSpPr>
        <p:spPr>
          <a:xfrm xmlns:a="http://schemas.openxmlformats.org/drawingml/2006/main">
            <a:off x="3000375" y="1952625"/>
            <a:ext cx="2095500"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5" name="">
            <a:extLst xmlns:a="http://schemas.openxmlformats.org/drawingml/2006/main">
              <a:ext uri="{FF2B5EF4-FFF2-40B4-BE49-F238E27FC236}">
                <a16:creationId xmlns:a16="http://schemas.microsoft.com/office/drawing/2014/main" id="{D5457267-C5A4-4F15-8EF6-A0315E670F4A}"/>
              </a:ext>
            </a:extLst>
          </p:cNvPr>
          <p:cNvSpPr>
            <a:spLocks xmlns:a="http://schemas.openxmlformats.org/drawingml/2006/main" noGrp="1"/>
          </p:cNvSpPr>
          <p:nvPr/>
        </p:nvSpPr>
        <p:spPr>
          <a:xfrm xmlns:a="http://schemas.openxmlformats.org/drawingml/2006/main">
            <a:off x="3048000" y="201930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算法模块</a:t>
            </a:r>
          </a:p>
        </p:txBody>
      </p:sp>
      <p:sp>
        <p:nvSpPr>
          <p:cNvPr id="26" name="">
            <a:extLst xmlns:a="http://schemas.openxmlformats.org/drawingml/2006/main">
              <a:ext uri="{FF2B5EF4-FFF2-40B4-BE49-F238E27FC236}">
                <a16:creationId xmlns:a16="http://schemas.microsoft.com/office/drawing/2014/main" id="{7385BC17-19A7-4A92-A5B7-C73CADC6DFF4}"/>
              </a:ext>
            </a:extLst>
          </p:cNvPr>
          <p:cNvSpPr>
            <a:spLocks xmlns:a="http://schemas.openxmlformats.org/drawingml/2006/main" noGrp="1"/>
          </p:cNvSpPr>
          <p:nvPr/>
        </p:nvSpPr>
        <p:spPr>
          <a:xfrm xmlns:a="http://schemas.openxmlformats.org/drawingml/2006/main">
            <a:off x="5191125" y="1952625"/>
            <a:ext cx="3095625"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A200E22D-0EC1-415F-B5D4-1F7649213DC3}"/>
              </a:ext>
            </a:extLst>
          </p:cNvPr>
          <p:cNvSpPr>
            <a:spLocks xmlns:a="http://schemas.openxmlformats.org/drawingml/2006/main" noGrp="1"/>
          </p:cNvSpPr>
          <p:nvPr/>
        </p:nvSpPr>
        <p:spPr>
          <a:xfrm xmlns:a="http://schemas.openxmlformats.org/drawingml/2006/main">
            <a:off x="5238750" y="2019300"/>
            <a:ext cx="3000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具体动作</a:t>
            </a:r>
          </a:p>
        </p:txBody>
      </p:sp>
      <p:sp>
        <p:nvSpPr>
          <p:cNvPr id="28" name="">
            <a:extLst xmlns:a="http://schemas.openxmlformats.org/drawingml/2006/main">
              <a:ext uri="{FF2B5EF4-FFF2-40B4-BE49-F238E27FC236}">
                <a16:creationId xmlns:a16="http://schemas.microsoft.com/office/drawing/2014/main" id="{75F46669-A04B-49B5-A03A-D0773AD8C639}"/>
              </a:ext>
            </a:extLst>
          </p:cNvPr>
          <p:cNvSpPr>
            <a:spLocks xmlns:a="http://schemas.openxmlformats.org/drawingml/2006/main" noGrp="1"/>
          </p:cNvSpPr>
          <p:nvPr/>
        </p:nvSpPr>
        <p:spPr>
          <a:xfrm xmlns:a="http://schemas.openxmlformats.org/drawingml/2006/main">
            <a:off x="8382000" y="1952625"/>
            <a:ext cx="3381375"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9" name="">
            <a:extLst xmlns:a="http://schemas.openxmlformats.org/drawingml/2006/main">
              <a:ext uri="{FF2B5EF4-FFF2-40B4-BE49-F238E27FC236}">
                <a16:creationId xmlns:a16="http://schemas.microsoft.com/office/drawing/2014/main" id="{9A750760-0E36-4FCB-AC6B-3FD2D8353CC9}"/>
              </a:ext>
            </a:extLst>
          </p:cNvPr>
          <p:cNvSpPr>
            <a:spLocks xmlns:a="http://schemas.openxmlformats.org/drawingml/2006/main" noGrp="1"/>
          </p:cNvSpPr>
          <p:nvPr/>
        </p:nvSpPr>
        <p:spPr>
          <a:xfrm xmlns:a="http://schemas.openxmlformats.org/drawingml/2006/main">
            <a:off x="8429625" y="2019300"/>
            <a:ext cx="3286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作用位置</a:t>
            </a:r>
          </a:p>
        </p:txBody>
      </p:sp>
      <p:sp>
        <p:nvSpPr>
          <p:cNvPr id="30" name="">
            <a:extLst xmlns:a="http://schemas.openxmlformats.org/drawingml/2006/main">
              <a:ext uri="{FF2B5EF4-FFF2-40B4-BE49-F238E27FC236}">
                <a16:creationId xmlns:a16="http://schemas.microsoft.com/office/drawing/2014/main" id="{2DD7B873-A11F-4D56-87E5-AA6EC24AD6C4}"/>
              </a:ext>
            </a:extLst>
          </p:cNvPr>
          <p:cNvSpPr>
            <a:spLocks xmlns:a="http://schemas.openxmlformats.org/drawingml/2006/main" noGrp="1"/>
          </p:cNvSpPr>
          <p:nvPr/>
        </p:nvSpPr>
        <p:spPr>
          <a:xfrm xmlns:a="http://schemas.openxmlformats.org/drawingml/2006/main">
            <a:off x="428625" y="2352675"/>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1" name="">
            <a:extLst xmlns:a="http://schemas.openxmlformats.org/drawingml/2006/main">
              <a:ext uri="{FF2B5EF4-FFF2-40B4-BE49-F238E27FC236}">
                <a16:creationId xmlns:a16="http://schemas.microsoft.com/office/drawing/2014/main" id="{446705E7-2A30-41B6-84CB-4001D4DAE00D}"/>
              </a:ext>
            </a:extLst>
          </p:cNvPr>
          <p:cNvSpPr>
            <a:spLocks xmlns:a="http://schemas.openxmlformats.org/drawingml/2006/main" noGrp="1"/>
          </p:cNvSpPr>
          <p:nvPr/>
        </p:nvSpPr>
        <p:spPr>
          <a:xfrm xmlns:a="http://schemas.openxmlformats.org/drawingml/2006/main">
            <a:off x="523875" y="243840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跨条件时真实候选不够近；决定性峰利用不稳定</a:t>
            </a:r>
          </a:p>
        </p:txBody>
      </p:sp>
      <p:sp>
        <p:nvSpPr>
          <p:cNvPr id="32" name="">
            <a:extLst xmlns:a="http://schemas.openxmlformats.org/drawingml/2006/main">
              <a:ext uri="{FF2B5EF4-FFF2-40B4-BE49-F238E27FC236}">
                <a16:creationId xmlns:a16="http://schemas.microsoft.com/office/drawing/2014/main" id="{A16CCD73-53A1-45C7-A212-0774791BEF43}"/>
              </a:ext>
            </a:extLst>
          </p:cNvPr>
          <p:cNvSpPr>
            <a:spLocks xmlns:a="http://schemas.openxmlformats.org/drawingml/2006/main" noGrp="1"/>
          </p:cNvSpPr>
          <p:nvPr/>
        </p:nvSpPr>
        <p:spPr>
          <a:xfrm xmlns:a="http://schemas.openxmlformats.org/drawingml/2006/main">
            <a:off x="3000375" y="2352675"/>
            <a:ext cx="2095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87044FEB-6ECE-4BB9-BF75-D49C656832E6}"/>
              </a:ext>
            </a:extLst>
          </p:cNvPr>
          <p:cNvSpPr>
            <a:spLocks xmlns:a="http://schemas.openxmlformats.org/drawingml/2006/main" noGrp="1"/>
          </p:cNvSpPr>
          <p:nvPr/>
        </p:nvSpPr>
        <p:spPr>
          <a:xfrm xmlns:a="http://schemas.openxmlformats.org/drawingml/2006/main">
            <a:off x="3095625" y="2438400"/>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Noise</a:t>
            </a:r>
          </a:p>
        </p:txBody>
      </p:sp>
      <p:sp>
        <p:nvSpPr>
          <p:cNvPr id="34" name="">
            <a:extLst xmlns:a="http://schemas.openxmlformats.org/drawingml/2006/main">
              <a:ext uri="{FF2B5EF4-FFF2-40B4-BE49-F238E27FC236}">
                <a16:creationId xmlns:a16="http://schemas.microsoft.com/office/drawing/2014/main" id="{A9D3E2C5-86EB-4474-A0F0-03DE14227EBF}"/>
              </a:ext>
            </a:extLst>
          </p:cNvPr>
          <p:cNvSpPr>
            <a:spLocks xmlns:a="http://schemas.openxmlformats.org/drawingml/2006/main" noGrp="1"/>
          </p:cNvSpPr>
          <p:nvPr/>
        </p:nvSpPr>
        <p:spPr>
          <a:xfrm xmlns:a="http://schemas.openxmlformats.org/drawingml/2006/main">
            <a:off x="5191125" y="2352675"/>
            <a:ext cx="30956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5" name="">
            <a:extLst xmlns:a="http://schemas.openxmlformats.org/drawingml/2006/main">
              <a:ext uri="{FF2B5EF4-FFF2-40B4-BE49-F238E27FC236}">
                <a16:creationId xmlns:a16="http://schemas.microsoft.com/office/drawing/2014/main" id="{745F58FD-538B-4695-9A0A-B9931F9566D2}"/>
              </a:ext>
            </a:extLst>
          </p:cNvPr>
          <p:cNvSpPr>
            <a:spLocks xmlns:a="http://schemas.openxmlformats.org/drawingml/2006/main" noGrp="1"/>
          </p:cNvSpPr>
          <p:nvPr/>
        </p:nvSpPr>
        <p:spPr>
          <a:xfrm xmlns:a="http://schemas.openxmlformats.org/drawingml/2006/main">
            <a:off x="5286375" y="2438400"/>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训练期由真实错误定位峰级动作，并用干净谱保护完成微调</a:t>
            </a:r>
          </a:p>
        </p:txBody>
      </p:sp>
      <p:sp>
        <p:nvSpPr>
          <p:cNvPr id="36" name="">
            <a:extLst xmlns:a="http://schemas.openxmlformats.org/drawingml/2006/main">
              <a:ext uri="{FF2B5EF4-FFF2-40B4-BE49-F238E27FC236}">
                <a16:creationId xmlns:a16="http://schemas.microsoft.com/office/drawing/2014/main" id="{DCDB5B6B-F647-417D-B225-0F8DD6DC84C6}"/>
              </a:ext>
            </a:extLst>
          </p:cNvPr>
          <p:cNvSpPr>
            <a:spLocks xmlns:a="http://schemas.openxmlformats.org/drawingml/2006/main" noGrp="1"/>
          </p:cNvSpPr>
          <p:nvPr/>
        </p:nvSpPr>
        <p:spPr>
          <a:xfrm xmlns:a="http://schemas.openxmlformats.org/drawingml/2006/main">
            <a:off x="8382000" y="2352675"/>
            <a:ext cx="338137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7" name="">
            <a:extLst xmlns:a="http://schemas.openxmlformats.org/drawingml/2006/main">
              <a:ext uri="{FF2B5EF4-FFF2-40B4-BE49-F238E27FC236}">
                <a16:creationId xmlns:a16="http://schemas.microsoft.com/office/drawing/2014/main" id="{5617D845-AF4F-4CC3-813A-3CBBCC6068D4}"/>
              </a:ext>
            </a:extLst>
          </p:cNvPr>
          <p:cNvSpPr>
            <a:spLocks xmlns:a="http://schemas.openxmlformats.org/drawingml/2006/main" noGrp="1"/>
          </p:cNvSpPr>
          <p:nvPr/>
        </p:nvSpPr>
        <p:spPr>
          <a:xfrm xmlns:a="http://schemas.openxmlformats.org/drawingml/2006/main">
            <a:off x="8477250" y="2438400"/>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共享 encoder 微调：更新模型末端，使 clean query/reference 的 embedding 更稳定</a:t>
            </a:r>
          </a:p>
        </p:txBody>
      </p:sp>
      <p:sp>
        <p:nvSpPr>
          <p:cNvPr id="38" name="">
            <a:extLst xmlns:a="http://schemas.openxmlformats.org/drawingml/2006/main">
              <a:ext uri="{FF2B5EF4-FFF2-40B4-BE49-F238E27FC236}">
                <a16:creationId xmlns:a16="http://schemas.microsoft.com/office/drawing/2014/main" id="{7047DC4E-526A-4B65-AA9A-5A7E86D8899E}"/>
              </a:ext>
            </a:extLst>
          </p:cNvPr>
          <p:cNvSpPr>
            <a:spLocks xmlns:a="http://schemas.openxmlformats.org/drawingml/2006/main" noGrp="1"/>
          </p:cNvSpPr>
          <p:nvPr/>
        </p:nvSpPr>
        <p:spPr>
          <a:xfrm xmlns:a="http://schemas.openxmlformats.org/drawingml/2006/main">
            <a:off x="428625" y="3181350"/>
            <a:ext cx="2476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9" name="">
            <a:extLst xmlns:a="http://schemas.openxmlformats.org/drawingml/2006/main">
              <a:ext uri="{FF2B5EF4-FFF2-40B4-BE49-F238E27FC236}">
                <a16:creationId xmlns:a16="http://schemas.microsoft.com/office/drawing/2014/main" id="{16E07E11-CCC0-4A4C-9988-52AD3C02612D}"/>
              </a:ext>
            </a:extLst>
          </p:cNvPr>
          <p:cNvSpPr>
            <a:spLocks xmlns:a="http://schemas.openxmlformats.org/drawingml/2006/main" noGrp="1"/>
          </p:cNvSpPr>
          <p:nvPr/>
        </p:nvSpPr>
        <p:spPr>
          <a:xfrm xmlns:a="http://schemas.openxmlformats.org/drawingml/2006/main">
            <a:off x="523875" y="326707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全局向量压缩碎片强度和中性丢失细节</a:t>
            </a:r>
          </a:p>
        </p:txBody>
      </p:sp>
      <p:sp>
        <p:nvSpPr>
          <p:cNvPr id="40" name="">
            <a:extLst xmlns:a="http://schemas.openxmlformats.org/drawingml/2006/main">
              <a:ext uri="{FF2B5EF4-FFF2-40B4-BE49-F238E27FC236}">
                <a16:creationId xmlns:a16="http://schemas.microsoft.com/office/drawing/2014/main" id="{BE110591-89F3-4ED4-BC40-8CADE72C6422}"/>
              </a:ext>
            </a:extLst>
          </p:cNvPr>
          <p:cNvSpPr>
            <a:spLocks xmlns:a="http://schemas.openxmlformats.org/drawingml/2006/main" noGrp="1"/>
          </p:cNvSpPr>
          <p:nvPr/>
        </p:nvSpPr>
        <p:spPr>
          <a:xfrm xmlns:a="http://schemas.openxmlformats.org/drawingml/2006/main">
            <a:off x="3000375" y="3181350"/>
            <a:ext cx="2095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1" name="">
            <a:extLst xmlns:a="http://schemas.openxmlformats.org/drawingml/2006/main">
              <a:ext uri="{FF2B5EF4-FFF2-40B4-BE49-F238E27FC236}">
                <a16:creationId xmlns:a16="http://schemas.microsoft.com/office/drawing/2014/main" id="{90CA1359-9019-446D-9CCB-EA21E8974A93}"/>
              </a:ext>
            </a:extLst>
          </p:cNvPr>
          <p:cNvSpPr>
            <a:spLocks xmlns:a="http://schemas.openxmlformats.org/drawingml/2006/main" noGrp="1"/>
          </p:cNvSpPr>
          <p:nvPr/>
        </p:nvSpPr>
        <p:spPr>
          <a:xfrm xmlns:a="http://schemas.openxmlformats.org/drawingml/2006/main">
            <a:off x="3095625" y="326707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P2b</a:t>
            </a:r>
          </a:p>
        </p:txBody>
      </p:sp>
      <p:sp>
        <p:nvSpPr>
          <p:cNvPr id="42" name="">
            <a:extLst xmlns:a="http://schemas.openxmlformats.org/drawingml/2006/main">
              <a:ext uri="{FF2B5EF4-FFF2-40B4-BE49-F238E27FC236}">
                <a16:creationId xmlns:a16="http://schemas.microsoft.com/office/drawing/2014/main" id="{877451C6-A5E3-402F-96ED-A8ACE261AD73}"/>
              </a:ext>
            </a:extLst>
          </p:cNvPr>
          <p:cNvSpPr>
            <a:spLocks xmlns:a="http://schemas.openxmlformats.org/drawingml/2006/main" noGrp="1"/>
          </p:cNvSpPr>
          <p:nvPr/>
        </p:nvSpPr>
        <p:spPr>
          <a:xfrm xmlns:a="http://schemas.openxmlformats.org/drawingml/2006/main">
            <a:off x="5191125" y="3181350"/>
            <a:ext cx="309562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3" name="">
            <a:extLst xmlns:a="http://schemas.openxmlformats.org/drawingml/2006/main">
              <a:ext uri="{FF2B5EF4-FFF2-40B4-BE49-F238E27FC236}">
                <a16:creationId xmlns:a16="http://schemas.microsoft.com/office/drawing/2014/main" id="{07A93A2E-C6DB-434A-917E-2D4478F56DB9}"/>
              </a:ext>
            </a:extLst>
          </p:cNvPr>
          <p:cNvSpPr>
            <a:spLocks xmlns:a="http://schemas.openxmlformats.org/drawingml/2006/main" noGrp="1"/>
          </p:cNvSpPr>
          <p:nvPr/>
        </p:nvSpPr>
        <p:spPr>
          <a:xfrm xmlns:a="http://schemas.openxmlformats.org/drawingml/2006/main">
            <a:off x="5286375" y="3267075"/>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碎片强度专家 + 中性丢失专家重新读取原始峰表</a:t>
            </a:r>
          </a:p>
        </p:txBody>
      </p:sp>
      <p:sp>
        <p:nvSpPr>
          <p:cNvPr id="44" name="">
            <a:extLst xmlns:a="http://schemas.openxmlformats.org/drawingml/2006/main">
              <a:ext uri="{FF2B5EF4-FFF2-40B4-BE49-F238E27FC236}">
                <a16:creationId xmlns:a16="http://schemas.microsoft.com/office/drawing/2014/main" id="{73A5EFF1-A9E5-47C3-BEB8-1B6043956C69}"/>
              </a:ext>
            </a:extLst>
          </p:cNvPr>
          <p:cNvSpPr>
            <a:spLocks xmlns:a="http://schemas.openxmlformats.org/drawingml/2006/main" noGrp="1"/>
          </p:cNvSpPr>
          <p:nvPr/>
        </p:nvSpPr>
        <p:spPr>
          <a:xfrm xmlns:a="http://schemas.openxmlformats.org/drawingml/2006/main">
            <a:off x="8382000" y="3181350"/>
            <a:ext cx="338137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5" name="">
            <a:extLst xmlns:a="http://schemas.openxmlformats.org/drawingml/2006/main">
              <a:ext uri="{FF2B5EF4-FFF2-40B4-BE49-F238E27FC236}">
                <a16:creationId xmlns:a16="http://schemas.microsoft.com/office/drawing/2014/main" id="{3B1F1CDB-F11F-4E1D-8806-B5D49AE687E9}"/>
              </a:ext>
            </a:extLst>
          </p:cNvPr>
          <p:cNvSpPr>
            <a:spLocks xmlns:a="http://schemas.openxmlformats.org/drawingml/2006/main" noGrp="1"/>
          </p:cNvSpPr>
          <p:nvPr/>
        </p:nvSpPr>
        <p:spPr>
          <a:xfrm xmlns:a="http://schemas.openxmlformats.org/drawingml/2006/main">
            <a:off x="8477250" y="326707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固定候选集重排：encoder 不变，只改变 Top-k 内的排序</a:t>
            </a:r>
          </a:p>
        </p:txBody>
      </p:sp>
      <p:sp>
        <p:nvSpPr>
          <p:cNvPr id="46" name="">
            <a:extLst xmlns:a="http://schemas.openxmlformats.org/drawingml/2006/main">
              <a:ext uri="{FF2B5EF4-FFF2-40B4-BE49-F238E27FC236}">
                <a16:creationId xmlns:a16="http://schemas.microsoft.com/office/drawing/2014/main" id="{2FC43F0B-DB90-4D1B-8560-DC1EB9637BCC}"/>
              </a:ext>
            </a:extLst>
          </p:cNvPr>
          <p:cNvSpPr>
            <a:spLocks xmlns:a="http://schemas.openxmlformats.org/drawingml/2006/main" noGrp="1"/>
          </p:cNvSpPr>
          <p:nvPr/>
        </p:nvSpPr>
        <p:spPr>
          <a:xfrm xmlns:a="http://schemas.openxmlformats.org/drawingml/2006/main">
            <a:off x="428625" y="4010025"/>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7" name="">
            <a:extLst xmlns:a="http://schemas.openxmlformats.org/drawingml/2006/main">
              <a:ext uri="{FF2B5EF4-FFF2-40B4-BE49-F238E27FC236}">
                <a16:creationId xmlns:a16="http://schemas.microsoft.com/office/drawing/2014/main" id="{A18280C3-CBA3-442C-90AB-3BCA1405A3CD}"/>
              </a:ext>
            </a:extLst>
          </p:cNvPr>
          <p:cNvSpPr>
            <a:spLocks xmlns:a="http://schemas.openxmlformats.org/drawingml/2006/main" noGrp="1"/>
          </p:cNvSpPr>
          <p:nvPr/>
        </p:nvSpPr>
        <p:spPr>
          <a:xfrm xmlns:a="http://schemas.openxmlformats.org/drawingml/2006/main">
            <a:off x="523875" y="409575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共享骨架使相同碎片难以区分候选结构</a:t>
            </a:r>
          </a:p>
        </p:txBody>
      </p:sp>
      <p:sp>
        <p:nvSpPr>
          <p:cNvPr id="48" name="">
            <a:extLst xmlns:a="http://schemas.openxmlformats.org/drawingml/2006/main">
              <a:ext uri="{FF2B5EF4-FFF2-40B4-BE49-F238E27FC236}">
                <a16:creationId xmlns:a16="http://schemas.microsoft.com/office/drawing/2014/main" id="{C8B87CBE-49DD-4979-B1BA-E9CE6A26DD76}"/>
              </a:ext>
            </a:extLst>
          </p:cNvPr>
          <p:cNvSpPr>
            <a:spLocks xmlns:a="http://schemas.openxmlformats.org/drawingml/2006/main" noGrp="1"/>
          </p:cNvSpPr>
          <p:nvPr/>
        </p:nvSpPr>
        <p:spPr>
          <a:xfrm xmlns:a="http://schemas.openxmlformats.org/drawingml/2006/main">
            <a:off x="3000375" y="4010025"/>
            <a:ext cx="2095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9" name="">
            <a:extLst xmlns:a="http://schemas.openxmlformats.org/drawingml/2006/main">
              <a:ext uri="{FF2B5EF4-FFF2-40B4-BE49-F238E27FC236}">
                <a16:creationId xmlns:a16="http://schemas.microsoft.com/office/drawing/2014/main" id="{9402680F-0468-43FA-87DB-EDE16CE28772}"/>
              </a:ext>
            </a:extLst>
          </p:cNvPr>
          <p:cNvSpPr>
            <a:spLocks xmlns:a="http://schemas.openxmlformats.org/drawingml/2006/main" noGrp="1"/>
          </p:cNvSpPr>
          <p:nvPr/>
        </p:nvSpPr>
        <p:spPr>
          <a:xfrm xmlns:a="http://schemas.openxmlformats.org/drawingml/2006/main">
            <a:off x="3095625" y="4095750"/>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ChemAware</a:t>
            </a:r>
          </a:p>
        </p:txBody>
      </p:sp>
      <p:sp>
        <p:nvSpPr>
          <p:cNvPr id="50" name="">
            <a:extLst xmlns:a="http://schemas.openxmlformats.org/drawingml/2006/main">
              <a:ext uri="{FF2B5EF4-FFF2-40B4-BE49-F238E27FC236}">
                <a16:creationId xmlns:a16="http://schemas.microsoft.com/office/drawing/2014/main" id="{23970D22-126D-4EB6-B3E2-02D90FD18FC9}"/>
              </a:ext>
            </a:extLst>
          </p:cNvPr>
          <p:cNvSpPr>
            <a:spLocks xmlns:a="http://schemas.openxmlformats.org/drawingml/2006/main" noGrp="1"/>
          </p:cNvSpPr>
          <p:nvPr/>
        </p:nvSpPr>
        <p:spPr>
          <a:xfrm xmlns:a="http://schemas.openxmlformats.org/drawingml/2006/main">
            <a:off x="5191125" y="4010025"/>
            <a:ext cx="30956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1" name="">
            <a:extLst xmlns:a="http://schemas.openxmlformats.org/drawingml/2006/main">
              <a:ext uri="{FF2B5EF4-FFF2-40B4-BE49-F238E27FC236}">
                <a16:creationId xmlns:a16="http://schemas.microsoft.com/office/drawing/2014/main" id="{3A4DF659-D283-4179-835E-B0E78CE3658B}"/>
              </a:ext>
            </a:extLst>
          </p:cNvPr>
          <p:cNvSpPr>
            <a:spLocks xmlns:a="http://schemas.openxmlformats.org/drawingml/2006/main" noGrp="1"/>
          </p:cNvSpPr>
          <p:nvPr/>
        </p:nvSpPr>
        <p:spPr>
          <a:xfrm xmlns:a="http://schemas.openxmlformats.org/drawingml/2006/main">
            <a:off x="5286375" y="4095750"/>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用候选结构预测碎裂，构造化学条件训练视图</a:t>
            </a:r>
          </a:p>
        </p:txBody>
      </p:sp>
      <p:sp>
        <p:nvSpPr>
          <p:cNvPr id="52" name="">
            <a:extLst xmlns:a="http://schemas.openxmlformats.org/drawingml/2006/main">
              <a:ext uri="{FF2B5EF4-FFF2-40B4-BE49-F238E27FC236}">
                <a16:creationId xmlns:a16="http://schemas.microsoft.com/office/drawing/2014/main" id="{4F879286-1F64-4A87-9F62-5B83F77A37BD}"/>
              </a:ext>
            </a:extLst>
          </p:cNvPr>
          <p:cNvSpPr>
            <a:spLocks xmlns:a="http://schemas.openxmlformats.org/drawingml/2006/main" noGrp="1"/>
          </p:cNvSpPr>
          <p:nvPr/>
        </p:nvSpPr>
        <p:spPr>
          <a:xfrm xmlns:a="http://schemas.openxmlformats.org/drawingml/2006/main">
            <a:off x="8382000" y="4010025"/>
            <a:ext cx="338137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3" name="">
            <a:extLst xmlns:a="http://schemas.openxmlformats.org/drawingml/2006/main">
              <a:ext uri="{FF2B5EF4-FFF2-40B4-BE49-F238E27FC236}">
                <a16:creationId xmlns:a16="http://schemas.microsoft.com/office/drawing/2014/main" id="{E1AE8F57-9E00-4ECA-9D04-F0188FE9FC3C}"/>
              </a:ext>
            </a:extLst>
          </p:cNvPr>
          <p:cNvSpPr>
            <a:spLocks xmlns:a="http://schemas.openxmlformats.org/drawingml/2006/main" noGrp="1"/>
          </p:cNvSpPr>
          <p:nvPr/>
        </p:nvSpPr>
        <p:spPr>
          <a:xfrm xmlns:a="http://schemas.openxmlformats.org/drawingml/2006/main">
            <a:off x="8477250" y="4095750"/>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共享 encoder 微调：把结构—碎裂冲突写入 embedding</a:t>
            </a:r>
          </a:p>
        </p:txBody>
      </p:sp>
      <p:sp>
        <p:nvSpPr>
          <p:cNvPr id="54" name="">
            <a:extLst xmlns:a="http://schemas.openxmlformats.org/drawingml/2006/main">
              <a:ext uri="{FF2B5EF4-FFF2-40B4-BE49-F238E27FC236}">
                <a16:creationId xmlns:a16="http://schemas.microsoft.com/office/drawing/2014/main" id="{5C754980-B875-4E64-BA25-820751BC3AAB}"/>
              </a:ext>
            </a:extLst>
          </p:cNvPr>
          <p:cNvSpPr>
            <a:spLocks xmlns:a="http://schemas.openxmlformats.org/drawingml/2006/main" noGrp="1"/>
          </p:cNvSpPr>
          <p:nvPr/>
        </p:nvSpPr>
        <p:spPr>
          <a:xfrm xmlns:a="http://schemas.openxmlformats.org/drawingml/2006/main">
            <a:off x="428625" y="4838700"/>
            <a:ext cx="2476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95BC14DC-5CA4-4834-9E78-63B63F9F8763}"/>
              </a:ext>
            </a:extLst>
          </p:cNvPr>
          <p:cNvSpPr>
            <a:spLocks xmlns:a="http://schemas.openxmlformats.org/drawingml/2006/main" noGrp="1"/>
          </p:cNvSpPr>
          <p:nvPr/>
        </p:nvSpPr>
        <p:spPr>
          <a:xfrm xmlns:a="http://schemas.openxmlformats.org/drawingml/2006/main">
            <a:off x="523875" y="492442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单张谱图缺少样本内反应和共现环境</a:t>
            </a:r>
          </a:p>
        </p:txBody>
      </p:sp>
      <p:sp>
        <p:nvSpPr>
          <p:cNvPr id="56" name="">
            <a:extLst xmlns:a="http://schemas.openxmlformats.org/drawingml/2006/main">
              <a:ext uri="{FF2B5EF4-FFF2-40B4-BE49-F238E27FC236}">
                <a16:creationId xmlns:a16="http://schemas.microsoft.com/office/drawing/2014/main" id="{F845A949-73B8-4F14-B946-E90B7867A439}"/>
              </a:ext>
            </a:extLst>
          </p:cNvPr>
          <p:cNvSpPr>
            <a:spLocks xmlns:a="http://schemas.openxmlformats.org/drawingml/2006/main" noGrp="1"/>
          </p:cNvSpPr>
          <p:nvPr/>
        </p:nvSpPr>
        <p:spPr>
          <a:xfrm xmlns:a="http://schemas.openxmlformats.org/drawingml/2006/main">
            <a:off x="3000375" y="4838700"/>
            <a:ext cx="2095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7" name="">
            <a:extLst xmlns:a="http://schemas.openxmlformats.org/drawingml/2006/main">
              <a:ext uri="{FF2B5EF4-FFF2-40B4-BE49-F238E27FC236}">
                <a16:creationId xmlns:a16="http://schemas.microsoft.com/office/drawing/2014/main" id="{FFC79475-ABE2-4FDA-9F4C-D7AE7DFDF1A3}"/>
              </a:ext>
            </a:extLst>
          </p:cNvPr>
          <p:cNvSpPr>
            <a:spLocks xmlns:a="http://schemas.openxmlformats.org/drawingml/2006/main" noGrp="1"/>
          </p:cNvSpPr>
          <p:nvPr/>
        </p:nvSpPr>
        <p:spPr>
          <a:xfrm xmlns:a="http://schemas.openxmlformats.org/drawingml/2006/main">
            <a:off x="3095625" y="49244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BioAware</a:t>
            </a:r>
          </a:p>
        </p:txBody>
      </p:sp>
      <p:sp>
        <p:nvSpPr>
          <p:cNvPr id="58" name="">
            <a:extLst xmlns:a="http://schemas.openxmlformats.org/drawingml/2006/main">
              <a:ext uri="{FF2B5EF4-FFF2-40B4-BE49-F238E27FC236}">
                <a16:creationId xmlns:a16="http://schemas.microsoft.com/office/drawing/2014/main" id="{CAF04C57-7793-4C6D-85A6-789F5A5D6289}"/>
              </a:ext>
            </a:extLst>
          </p:cNvPr>
          <p:cNvSpPr>
            <a:spLocks xmlns:a="http://schemas.openxmlformats.org/drawingml/2006/main" noGrp="1"/>
          </p:cNvSpPr>
          <p:nvPr/>
        </p:nvSpPr>
        <p:spPr>
          <a:xfrm xmlns:a="http://schemas.openxmlformats.org/drawingml/2006/main">
            <a:off x="5191125" y="4838700"/>
            <a:ext cx="309562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9" name="">
            <a:extLst xmlns:a="http://schemas.openxmlformats.org/drawingml/2006/main">
              <a:ext uri="{FF2B5EF4-FFF2-40B4-BE49-F238E27FC236}">
                <a16:creationId xmlns:a16="http://schemas.microsoft.com/office/drawing/2014/main" id="{B7D0E282-92BB-4E2A-9E0F-EE3C75AC2793}"/>
              </a:ext>
            </a:extLst>
          </p:cNvPr>
          <p:cNvSpPr>
            <a:spLocks xmlns:a="http://schemas.openxmlformats.org/drawingml/2006/main" noGrp="1"/>
          </p:cNvSpPr>
          <p:nvPr/>
        </p:nvSpPr>
        <p:spPr>
          <a:xfrm xmlns:a="http://schemas.openxmlformats.org/drawingml/2006/main">
            <a:off x="5286375" y="4924425"/>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用高置信种子和一步反应邻居计算上下文分数</a:t>
            </a:r>
          </a:p>
        </p:txBody>
      </p:sp>
      <p:sp>
        <p:nvSpPr>
          <p:cNvPr id="60" name="">
            <a:extLst xmlns:a="http://schemas.openxmlformats.org/drawingml/2006/main">
              <a:ext uri="{FF2B5EF4-FFF2-40B4-BE49-F238E27FC236}">
                <a16:creationId xmlns:a16="http://schemas.microsoft.com/office/drawing/2014/main" id="{22756269-AEA5-476C-8D37-E3317328C2C6}"/>
              </a:ext>
            </a:extLst>
          </p:cNvPr>
          <p:cNvSpPr>
            <a:spLocks xmlns:a="http://schemas.openxmlformats.org/drawingml/2006/main" noGrp="1"/>
          </p:cNvSpPr>
          <p:nvPr/>
        </p:nvSpPr>
        <p:spPr>
          <a:xfrm xmlns:a="http://schemas.openxmlformats.org/drawingml/2006/main">
            <a:off x="8382000" y="4838700"/>
            <a:ext cx="338137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46F47AE3-D78C-4937-A2D7-4F53DED7D40D}"/>
              </a:ext>
            </a:extLst>
          </p:cNvPr>
          <p:cNvSpPr>
            <a:spLocks xmlns:a="http://schemas.openxmlformats.org/drawingml/2006/main" noGrp="1"/>
          </p:cNvSpPr>
          <p:nvPr/>
        </p:nvSpPr>
        <p:spPr>
          <a:xfrm xmlns:a="http://schemas.openxmlformats.org/drawingml/2006/main">
            <a:off x="8477250" y="492442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固定候选集重排：谱学接近时用生物学证据打破平局</a:t>
            </a:r>
          </a:p>
        </p:txBody>
      </p:sp>
      <p:sp>
        <p:nvSpPr>
          <p:cNvPr id="62" name="">
            <a:extLst xmlns:a="http://schemas.openxmlformats.org/drawingml/2006/main">
              <a:ext uri="{FF2B5EF4-FFF2-40B4-BE49-F238E27FC236}">
                <a16:creationId xmlns:a16="http://schemas.microsoft.com/office/drawing/2014/main" id="{4998A020-13D4-47F6-8B12-4BA20B22FE0F}"/>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63" name="">
            <a:extLst xmlns:a="http://schemas.openxmlformats.org/drawingml/2006/main">
              <a:ext uri="{FF2B5EF4-FFF2-40B4-BE49-F238E27FC236}">
                <a16:creationId xmlns:a16="http://schemas.microsoft.com/office/drawing/2014/main" id="{8B5F9DA7-2D5C-41C4-8B75-3A3C216D153D}"/>
              </a:ext>
            </a:extLst>
          </p:cNvPr>
          <p:cNvSpPr>
            <a:spLocks xmlns:a="http://schemas.openxmlformats.org/drawingml/2006/main" noGrp="1"/>
          </p:cNvSpPr>
          <p:nvPr/>
        </p:nvSpPr>
        <p:spPr>
          <a:xfrm xmlns:a="http://schemas.openxmlformats.org/drawingml/2006/main">
            <a:off x="1428750" y="58864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841"/>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四个模块始终服务于同一个输出：在固定候选集合中，把真实结构排得更靠前，并保留证据来源。</a:t>
            </a:r>
          </a:p>
        </p:txBody>
      </p:sp>
    </p:spTree>
    <p:extLst>
      <p:ext uri="{BB962C8B-B14F-4D97-AF65-F5344CB8AC3E}">
        <p14:creationId xmlns:p14="http://schemas.microsoft.com/office/powerpoint/2010/main" val="580387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6F05AD2-1391-423D-8559-1DC5902E8649}"/>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F01ED8-24B8-41BB-BA9A-C4A86E71727D}"/>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8F8BD3-5763-4092-B3EB-1AD145F9D8B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B00C78-F63C-4B84-BA42-6E46FB748A51}"/>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21D860-B9D7-4AF8-83DE-578144E6A769}"/>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候选排序模型的评价方法</a:t>
            </a:r>
          </a:p>
        </p:txBody>
      </p:sp>
      <p:sp>
        <p:nvSpPr>
          <p:cNvPr id="6" name="">
            <a:extLst xmlns:a="http://schemas.openxmlformats.org/drawingml/2006/main">
              <a:ext uri="{FF2B5EF4-FFF2-40B4-BE49-F238E27FC236}">
                <a16:creationId xmlns:a16="http://schemas.microsoft.com/office/drawing/2014/main" id="{DA71F1A6-C6FA-40F2-AB36-8F296992C24E}"/>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00B3E7-B932-4E9E-AB53-8E0D46290A6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73E495-E380-40B1-B279-C9058FA72961}"/>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864ECD-E41B-420E-BD42-F805B0260FBB}"/>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80903231-F9B0-4223-B4B1-AAB4872ABE50}"/>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98B97E0C-5364-4EE7-BFE2-2BE25FB05C99}"/>
              </a:ext>
            </a:extLst>
          </p:cNvPr>
          <p:cNvSpPr>
            <a:spLocks xmlns:a="http://schemas.openxmlformats.org/drawingml/2006/main" noGrp="1"/>
          </p:cNvSpPr>
          <p:nvPr/>
        </p:nvSpPr>
        <p:spPr>
          <a:xfrm xmlns:a="http://schemas.openxmlformats.org/drawingml/2006/main">
            <a:off x="1190625" y="8763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749"/>
          </a:bodyPr>
          <a:lstStyle xmlns:a="http://schemas.openxmlformats.org/drawingml/2006/main"/>
          <a:p xmlns:a="http://schemas.openxmlformats.org/drawingml/2006/main">
            <a:pPr algn="ctr">
              <a:defRPr sz="1688" b="1" i="0">
                <a:solidFill>
                  <a:srgbClr val="7A1F86"/>
                </a:solidFill>
                <a:latin typeface="Microsoft YaHei"/>
                <a:ea typeface="Microsoft YaHei"/>
                <a:cs typeface="Microsoft YaHei"/>
              </a:defRPr>
            </a:pPr>
            <a:r>
              <a:rPr sz="1688" b="1" i="0">
                <a:solidFill>
                  <a:srgbClr val="7A1F86"/>
                </a:solidFill>
                <a:latin typeface="Microsoft YaHei"/>
                <a:ea typeface="Microsoft YaHei"/>
                <a:cs typeface="Microsoft YaHei"/>
              </a:rPr>
              <a:t>所有模型在同一评价单元上比较：一条 query + 固定候选集合 + 唯一正确身份</a:t>
            </a:r>
          </a:p>
        </p:txBody>
      </p:sp>
      <p:sp>
        <p:nvSpPr>
          <p:cNvPr id="12" name="">
            <a:extLst xmlns:a="http://schemas.openxmlformats.org/drawingml/2006/main">
              <a:ext uri="{FF2B5EF4-FFF2-40B4-BE49-F238E27FC236}">
                <a16:creationId xmlns:a16="http://schemas.microsoft.com/office/drawing/2014/main" id="{3B69BA9C-D974-4A78-BCA5-C4F9C5F20753}"/>
              </a:ext>
            </a:extLst>
          </p:cNvPr>
          <p:cNvSpPr>
            <a:spLocks xmlns:a="http://schemas.openxmlformats.org/drawingml/2006/main" noGrp="1"/>
          </p:cNvSpPr>
          <p:nvPr/>
        </p:nvSpPr>
        <p:spPr>
          <a:xfrm xmlns:a="http://schemas.openxmlformats.org/drawingml/2006/main">
            <a:off x="571500" y="1524000"/>
            <a:ext cx="542925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E6E25E65-0E07-4712-8033-4C08919AC1A3}"/>
              </a:ext>
            </a:extLst>
          </p:cNvPr>
          <p:cNvSpPr>
            <a:spLocks xmlns:a="http://schemas.openxmlformats.org/drawingml/2006/main" noGrp="1"/>
          </p:cNvSpPr>
          <p:nvPr/>
        </p:nvSpPr>
        <p:spPr>
          <a:xfrm xmlns:a="http://schemas.openxmlformats.org/drawingml/2006/main">
            <a:off x="762000" y="1695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Recall@1/2/3/5/10/20</a:t>
            </a:r>
          </a:p>
        </p:txBody>
      </p:sp>
      <p:sp>
        <p:nvSpPr>
          <p:cNvPr id="14" name="">
            <a:extLst xmlns:a="http://schemas.openxmlformats.org/drawingml/2006/main">
              <a:ext uri="{FF2B5EF4-FFF2-40B4-BE49-F238E27FC236}">
                <a16:creationId xmlns:a16="http://schemas.microsoft.com/office/drawing/2014/main" id="{4B1402DE-5FE4-4AFB-B518-E50F40C96429}"/>
              </a:ext>
            </a:extLst>
          </p:cNvPr>
          <p:cNvSpPr>
            <a:spLocks xmlns:a="http://schemas.openxmlformats.org/drawingml/2006/main" noGrp="1"/>
          </p:cNvSpPr>
          <p:nvPr/>
        </p:nvSpPr>
        <p:spPr>
          <a:xfrm xmlns:a="http://schemas.openxmlformats.org/drawingml/2006/main">
            <a:off x="876300" y="2171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若每条谱只核查前 k 个候选，</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有多少查询能够覆盖真实身份，是本课题最直观的主指标。</a:t>
            </a:r>
          </a:p>
        </p:txBody>
      </p:sp>
      <p:sp>
        <p:nvSpPr>
          <p:cNvPr id="15" name="">
            <a:extLst xmlns:a="http://schemas.openxmlformats.org/drawingml/2006/main">
              <a:ext uri="{FF2B5EF4-FFF2-40B4-BE49-F238E27FC236}">
                <a16:creationId xmlns:a16="http://schemas.microsoft.com/office/drawing/2014/main" id="{023997BF-F1B5-4447-B47E-60D847A88292}"/>
              </a:ext>
            </a:extLst>
          </p:cNvPr>
          <p:cNvSpPr>
            <a:spLocks xmlns:a="http://schemas.openxmlformats.org/drawingml/2006/main" noGrp="1"/>
          </p:cNvSpPr>
          <p:nvPr/>
        </p:nvSpPr>
        <p:spPr>
          <a:xfrm xmlns:a="http://schemas.openxmlformats.org/drawingml/2006/main">
            <a:off x="6191250" y="1524000"/>
            <a:ext cx="5429250" cy="1571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8FD83945-E927-4DDE-8E2B-E15FC4934CD2}"/>
              </a:ext>
            </a:extLst>
          </p:cNvPr>
          <p:cNvSpPr>
            <a:spLocks xmlns:a="http://schemas.openxmlformats.org/drawingml/2006/main" noGrp="1"/>
          </p:cNvSpPr>
          <p:nvPr/>
        </p:nvSpPr>
        <p:spPr>
          <a:xfrm xmlns:a="http://schemas.openxmlformats.org/drawingml/2006/main">
            <a:off x="6381750" y="1695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AUROC / AUPRC</a:t>
            </a:r>
          </a:p>
        </p:txBody>
      </p:sp>
      <p:sp>
        <p:nvSpPr>
          <p:cNvPr id="17" name="">
            <a:extLst xmlns:a="http://schemas.openxmlformats.org/drawingml/2006/main">
              <a:ext uri="{FF2B5EF4-FFF2-40B4-BE49-F238E27FC236}">
                <a16:creationId xmlns:a16="http://schemas.microsoft.com/office/drawing/2014/main" id="{5D2475BE-8090-4126-A1CE-35D90A4363A0}"/>
              </a:ext>
            </a:extLst>
          </p:cNvPr>
          <p:cNvSpPr>
            <a:spLocks xmlns:a="http://schemas.openxmlformats.org/drawingml/2006/main" noGrp="1"/>
          </p:cNvSpPr>
          <p:nvPr/>
        </p:nvSpPr>
        <p:spPr>
          <a:xfrm xmlns:a="http://schemas.openxmlformats.org/drawingml/2006/main">
            <a:off x="6496050" y="2171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在每条 query 内区分真实候选和全部错误候选。</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AUROC 看整体排序；AUPRC 在正例稀少时更敏感。</a:t>
            </a:r>
          </a:p>
        </p:txBody>
      </p:sp>
      <p:sp>
        <p:nvSpPr>
          <p:cNvPr id="18" name="">
            <a:extLst xmlns:a="http://schemas.openxmlformats.org/drawingml/2006/main">
              <a:ext uri="{FF2B5EF4-FFF2-40B4-BE49-F238E27FC236}">
                <a16:creationId xmlns:a16="http://schemas.microsoft.com/office/drawing/2014/main" id="{FFC5B8D6-FCAB-4E63-B9F7-5C23DAF339F5}"/>
              </a:ext>
            </a:extLst>
          </p:cNvPr>
          <p:cNvSpPr>
            <a:spLocks xmlns:a="http://schemas.openxmlformats.org/drawingml/2006/main" noGrp="1"/>
          </p:cNvSpPr>
          <p:nvPr/>
        </p:nvSpPr>
        <p:spPr>
          <a:xfrm xmlns:a="http://schemas.openxmlformats.org/drawingml/2006/main">
            <a:off x="571500" y="3429000"/>
            <a:ext cx="542925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19432110-1B93-4E43-A2C5-42099AA46D80}"/>
              </a:ext>
            </a:extLst>
          </p:cNvPr>
          <p:cNvSpPr>
            <a:spLocks xmlns:a="http://schemas.openxmlformats.org/drawingml/2006/main" noGrp="1"/>
          </p:cNvSpPr>
          <p:nvPr/>
        </p:nvSpPr>
        <p:spPr>
          <a:xfrm xmlns:a="http://schemas.openxmlformats.org/drawingml/2006/main">
            <a:off x="762000" y="3600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Top1–Top2 gap</a:t>
            </a:r>
          </a:p>
        </p:txBody>
      </p:sp>
      <p:sp>
        <p:nvSpPr>
          <p:cNvPr id="20" name="">
            <a:extLst xmlns:a="http://schemas.openxmlformats.org/drawingml/2006/main">
              <a:ext uri="{FF2B5EF4-FFF2-40B4-BE49-F238E27FC236}">
                <a16:creationId xmlns:a16="http://schemas.microsoft.com/office/drawing/2014/main" id="{935BF473-B285-4700-8E49-294E3F5C9816}"/>
              </a:ext>
            </a:extLst>
          </p:cNvPr>
          <p:cNvSpPr>
            <a:spLocks xmlns:a="http://schemas.openxmlformats.org/drawingml/2006/main" noGrp="1"/>
          </p:cNvSpPr>
          <p:nvPr/>
        </p:nvSpPr>
        <p:spPr>
          <a:xfrm xmlns:a="http://schemas.openxmlformats.org/drawingml/2006/main">
            <a:off x="876300" y="4076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第一名与第二名的排序分数差。</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它反映首位分离度，但不能单独证明 Top-1 就是正确身份。</a:t>
            </a:r>
          </a:p>
        </p:txBody>
      </p:sp>
      <p:sp>
        <p:nvSpPr>
          <p:cNvPr id="21" name="">
            <a:extLst xmlns:a="http://schemas.openxmlformats.org/drawingml/2006/main">
              <a:ext uri="{FF2B5EF4-FFF2-40B4-BE49-F238E27FC236}">
                <a16:creationId xmlns:a16="http://schemas.microsoft.com/office/drawing/2014/main" id="{6FD8C150-EE69-44A3-92FA-620B3F0309EA}"/>
              </a:ext>
            </a:extLst>
          </p:cNvPr>
          <p:cNvSpPr>
            <a:spLocks xmlns:a="http://schemas.openxmlformats.org/drawingml/2006/main" noGrp="1"/>
          </p:cNvSpPr>
          <p:nvPr/>
        </p:nvSpPr>
        <p:spPr>
          <a:xfrm xmlns:a="http://schemas.openxmlformats.org/drawingml/2006/main">
            <a:off x="6191250" y="3429000"/>
            <a:ext cx="5429250" cy="1571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707250A0-FA2E-4FC1-B557-1BF5DEB428B6}"/>
              </a:ext>
            </a:extLst>
          </p:cNvPr>
          <p:cNvSpPr>
            <a:spLocks xmlns:a="http://schemas.openxmlformats.org/drawingml/2006/main" noGrp="1"/>
          </p:cNvSpPr>
          <p:nvPr/>
        </p:nvSpPr>
        <p:spPr>
          <a:xfrm xmlns:a="http://schemas.openxmlformats.org/drawingml/2006/main">
            <a:off x="6381750" y="3600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MRR / mean &amp; median rank</a:t>
            </a:r>
          </a:p>
        </p:txBody>
      </p:sp>
      <p:sp>
        <p:nvSpPr>
          <p:cNvPr id="23" name="">
            <a:extLst xmlns:a="http://schemas.openxmlformats.org/drawingml/2006/main">
              <a:ext uri="{FF2B5EF4-FFF2-40B4-BE49-F238E27FC236}">
                <a16:creationId xmlns:a16="http://schemas.microsoft.com/office/drawing/2014/main" id="{7242C6D5-0C68-489A-AB81-55771B83B8D9}"/>
              </a:ext>
            </a:extLst>
          </p:cNvPr>
          <p:cNvSpPr>
            <a:spLocks xmlns:a="http://schemas.openxmlformats.org/drawingml/2006/main" noGrp="1"/>
          </p:cNvSpPr>
          <p:nvPr/>
        </p:nvSpPr>
        <p:spPr>
          <a:xfrm xmlns:a="http://schemas.openxmlformats.org/drawingml/2006/main">
            <a:off x="6496050" y="4076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MRR 强调正确身份是否接近列表头部；</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平均和中位排名描述它在完整候选列表中的总体位置。</a:t>
            </a:r>
          </a:p>
        </p:txBody>
      </p:sp>
      <p:sp>
        <p:nvSpPr>
          <p:cNvPr id="24" name="">
            <a:extLst xmlns:a="http://schemas.openxmlformats.org/drawingml/2006/main">
              <a:ext uri="{FF2B5EF4-FFF2-40B4-BE49-F238E27FC236}">
                <a16:creationId xmlns:a16="http://schemas.microsoft.com/office/drawing/2014/main" id="{D5BA0D59-2D69-49B6-A3FE-3AAA793D5078}"/>
              </a:ext>
            </a:extLst>
          </p:cNvPr>
          <p:cNvSpPr>
            <a:spLocks xmlns:a="http://schemas.openxmlformats.org/drawingml/2006/main" noGrp="1"/>
          </p:cNvSpPr>
          <p:nvPr/>
        </p:nvSpPr>
        <p:spPr>
          <a:xfrm xmlns:a="http://schemas.openxmlformats.org/drawingml/2006/main">
            <a:off x="1381125" y="5429250"/>
            <a:ext cx="9429750" cy="6477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5" name="">
            <a:extLst xmlns:a="http://schemas.openxmlformats.org/drawingml/2006/main">
              <a:ext uri="{FF2B5EF4-FFF2-40B4-BE49-F238E27FC236}">
                <a16:creationId xmlns:a16="http://schemas.microsoft.com/office/drawing/2014/main" id="{1B1E035D-E1F9-4744-B426-913ACE5EA2E6}"/>
              </a:ext>
            </a:extLst>
          </p:cNvPr>
          <p:cNvSpPr>
            <a:spLocks xmlns:a="http://schemas.openxmlformats.org/drawingml/2006/main" noGrp="1"/>
          </p:cNvSpPr>
          <p:nvPr/>
        </p:nvSpPr>
        <p:spPr>
          <a:xfrm xmlns:a="http://schemas.openxmlformats.org/drawingml/2006/main">
            <a:off x="1619250" y="55435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79"/>
          </a:bodyPr>
          <a:lstStyle xmlns:a="http://schemas.openxmlformats.org/drawingml/2006/main"/>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模型比较必须固定 query、候选空间、正确身份聚合和数据划分。</a:t>
            </a:r>
          </a:p>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不同任务、不同分母上的百分比不能直接拼在一起。</a:t>
            </a:r>
          </a:p>
        </p:txBody>
      </p:sp>
    </p:spTree>
    <p:extLst>
      <p:ext uri="{BB962C8B-B14F-4D97-AF65-F5344CB8AC3E}">
        <p14:creationId xmlns:p14="http://schemas.microsoft.com/office/powerpoint/2010/main" val="20163163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C94CB71-2E01-4178-9BE2-05F40780C3FC}"/>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29BEB7-0B74-4444-97F5-3371A652A973}"/>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79DF32-FF4D-491C-AC17-E2FFB04E6129}"/>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2A0A36-2261-43AA-8A91-BD1418D2A98E}"/>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9E9C3B-4819-41F3-91A3-6637B8C9ABA3}"/>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谱峰缺失与强度变化：已有质谱表征工作如何处理？</a:t>
            </a:r>
          </a:p>
        </p:txBody>
      </p:sp>
      <p:sp>
        <p:nvSpPr>
          <p:cNvPr id="6" name="">
            <a:extLst xmlns:a="http://schemas.openxmlformats.org/drawingml/2006/main">
              <a:ext uri="{FF2B5EF4-FFF2-40B4-BE49-F238E27FC236}">
                <a16:creationId xmlns:a16="http://schemas.microsoft.com/office/drawing/2014/main" id="{4D0CAD28-3059-4F40-97F7-8D3997AE0B3D}"/>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7989C4-12A4-411B-B992-90DFB2AA85C9}"/>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492A60-8929-4449-9249-662CEBAD85E3}"/>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B8EFBF-2980-4ECC-9E04-8F3455D81D96}"/>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A3E3606E-D024-44A2-9DF2-179D50F2E20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7EECEB14-8840-4689-B167-AEF056A27767}"/>
              </a:ext>
            </a:extLst>
          </p:cNvPr>
          <p:cNvSpPr>
            <a:spLocks xmlns:a="http://schemas.openxmlformats.org/drawingml/2006/main" noGrp="1"/>
          </p:cNvSpPr>
          <p:nvPr/>
        </p:nvSpPr>
        <p:spPr>
          <a:xfrm xmlns:a="http://schemas.openxmlformats.org/drawingml/2006/main">
            <a:off x="381000" y="904875"/>
            <a:ext cx="5524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232B3DEA-BF36-4BD6-8C1D-DD65A88CD0C4}"/>
              </a:ext>
            </a:extLst>
          </p:cNvPr>
          <p:cNvSpPr>
            <a:spLocks xmlns:a="http://schemas.openxmlformats.org/drawingml/2006/main" noGrp="1"/>
          </p:cNvSpPr>
          <p:nvPr/>
        </p:nvSpPr>
        <p:spPr>
          <a:xfrm xmlns:a="http://schemas.openxmlformats.org/drawingml/2006/main">
            <a:off x="381000" y="904875"/>
            <a:ext cx="552450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8CE312-0A00-4639-97F7-3E83E3F273DD}"/>
              </a:ext>
            </a:extLst>
          </p:cNvPr>
          <p:cNvSpPr>
            <a:spLocks xmlns:a="http://schemas.openxmlformats.org/drawingml/2006/main" noGrp="1"/>
          </p:cNvSpPr>
          <p:nvPr/>
        </p:nvSpPr>
        <p:spPr>
          <a:xfrm xmlns:a="http://schemas.openxmlformats.org/drawingml/2006/main">
            <a:off x="457200" y="933450"/>
            <a:ext cx="537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DreaMS：Masked Peak Prediction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ab8a01526b54da0"/>
          <a:stretch xmlns:a="http://schemas.openxmlformats.org/drawingml/2006/main"/>
        </p:blipFill>
        <p:spPr>
          <a:xfrm xmlns:a="http://schemas.openxmlformats.org/drawingml/2006/main">
            <a:off x="962369" y="1381125"/>
            <a:ext cx="4361763" cy="21431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34866BC-EFC0-4EC0-A411-430819B9EB50}"/>
              </a:ext>
            </a:extLst>
          </p:cNvPr>
          <p:cNvSpPr>
            <a:spLocks xmlns:a="http://schemas.openxmlformats.org/drawingml/2006/main" noGrp="1"/>
          </p:cNvSpPr>
          <p:nvPr/>
        </p:nvSpPr>
        <p:spPr>
          <a:xfrm xmlns:a="http://schemas.openxmlformats.org/drawingml/2006/main">
            <a:off x="714375" y="3667125"/>
            <a:ext cx="4857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按强度概率抽样并遮蔽约 30% 的峰位</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根据未遮蔽峰恢复被遮蔽的 m/z</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目的：学习峰之间的关系，降低对单个固定峰的依赖</a:t>
            </a:r>
          </a:p>
        </p:txBody>
      </p:sp>
      <p:sp>
        <p:nvSpPr>
          <p:cNvPr id="16" name="">
            <a:extLst xmlns:a="http://schemas.openxmlformats.org/drawingml/2006/main">
              <a:ext uri="{FF2B5EF4-FFF2-40B4-BE49-F238E27FC236}">
                <a16:creationId xmlns:a16="http://schemas.microsoft.com/office/drawing/2014/main" id="{60652EBB-B584-4CB4-A620-B5AFF009C129}"/>
              </a:ext>
            </a:extLst>
          </p:cNvPr>
          <p:cNvSpPr>
            <a:spLocks xmlns:a="http://schemas.openxmlformats.org/drawingml/2006/main" noGrp="1"/>
          </p:cNvSpPr>
          <p:nvPr/>
        </p:nvSpPr>
        <p:spPr>
          <a:xfrm xmlns:a="http://schemas.openxmlformats.org/drawingml/2006/main">
            <a:off x="6286500" y="904875"/>
            <a:ext cx="5524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7" name="">
            <a:extLst xmlns:a="http://schemas.openxmlformats.org/drawingml/2006/main">
              <a:ext uri="{FF2B5EF4-FFF2-40B4-BE49-F238E27FC236}">
                <a16:creationId xmlns:a16="http://schemas.microsoft.com/office/drawing/2014/main" id="{0F63F581-2E2D-4416-9626-3B64AC4E25FD}"/>
              </a:ext>
            </a:extLst>
          </p:cNvPr>
          <p:cNvSpPr>
            <a:spLocks xmlns:a="http://schemas.openxmlformats.org/drawingml/2006/main" noGrp="1"/>
          </p:cNvSpPr>
          <p:nvPr/>
        </p:nvSpPr>
        <p:spPr>
          <a:xfrm xmlns:a="http://schemas.openxmlformats.org/drawingml/2006/main">
            <a:off x="6286500" y="904875"/>
            <a:ext cx="552450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E16363-8265-4540-98FE-6CDCFF215E40}"/>
              </a:ext>
            </a:extLst>
          </p:cNvPr>
          <p:cNvSpPr>
            <a:spLocks xmlns:a="http://schemas.openxmlformats.org/drawingml/2006/main" noGrp="1"/>
          </p:cNvSpPr>
          <p:nvPr/>
        </p:nvSpPr>
        <p:spPr>
          <a:xfrm xmlns:a="http://schemas.openxmlformats.org/drawingml/2006/main">
            <a:off x="6362700" y="933450"/>
            <a:ext cx="537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MS2DeepScore：训练时的数据增强</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1a0c92ab1244f93"/>
          <a:stretch xmlns:a="http://schemas.openxmlformats.org/drawingml/2006/main"/>
        </p:blipFill>
        <p:spPr>
          <a:xfrm xmlns:a="http://schemas.openxmlformats.org/drawingml/2006/main">
            <a:off x="7000875" y="1381125"/>
            <a:ext cx="2238375" cy="2238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50D85D8-95F8-4D83-ACEB-B1501C85E61E}"/>
              </a:ext>
            </a:extLst>
          </p:cNvPr>
          <p:cNvSpPr>
            <a:spLocks xmlns:a="http://schemas.openxmlformats.org/drawingml/2006/main" noGrp="1"/>
          </p:cNvSpPr>
          <p:nvPr/>
        </p:nvSpPr>
        <p:spPr>
          <a:xfrm xmlns:a="http://schemas.openxmlformats.org/drawingml/2006/main">
            <a:off x="9791700" y="1504950"/>
            <a:ext cx="152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t>
            </a:r>
          </a:p>
        </p:txBody>
      </p:sp>
      <p:sp>
        <p:nvSpPr>
          <p:cNvPr id="21" name="">
            <a:extLst xmlns:a="http://schemas.openxmlformats.org/drawingml/2006/main">
              <a:ext uri="{FF2B5EF4-FFF2-40B4-BE49-F238E27FC236}">
                <a16:creationId xmlns:a16="http://schemas.microsoft.com/office/drawing/2014/main" id="{A17025E9-0980-4010-B60E-50B2C09F0001}"/>
              </a:ext>
            </a:extLst>
          </p:cNvPr>
          <p:cNvSpPr>
            <a:spLocks xmlns:a="http://schemas.openxmlformats.org/drawingml/2006/main" noGrp="1"/>
          </p:cNvSpPr>
          <p:nvPr/>
        </p:nvSpPr>
        <p:spPr>
          <a:xfrm xmlns:a="http://schemas.openxmlformats.org/drawingml/2006/main">
            <a:off x="9982200" y="150495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40" b="0" i="0">
                <a:solidFill>
                  <a:srgbClr val="111111"/>
                </a:solidFill>
                <a:latin typeface="Microsoft YaHei"/>
                <a:ea typeface="Microsoft YaHei"/>
                <a:cs typeface="Microsoft YaHei"/>
              </a:defRPr>
            </a:pPr>
            <a:r>
              <a:rPr sz="1140" b="0" i="0">
                <a:solidFill>
                  <a:srgbClr val="111111"/>
                </a:solidFill>
                <a:latin typeface="Microsoft YaHei"/>
                <a:ea typeface="Microsoft YaHei"/>
                <a:cs typeface="Microsoft YaHei"/>
              </a:rPr>
              <a:t>随机删除 0–20% 的低强度峰</a:t>
            </a:r>
          </a:p>
        </p:txBody>
      </p:sp>
      <p:sp>
        <p:nvSpPr>
          <p:cNvPr id="22" name="">
            <a:extLst xmlns:a="http://schemas.openxmlformats.org/drawingml/2006/main">
              <a:ext uri="{FF2B5EF4-FFF2-40B4-BE49-F238E27FC236}">
                <a16:creationId xmlns:a16="http://schemas.microsoft.com/office/drawing/2014/main" id="{EBAF68AB-2D01-41F7-9FAA-96674068597A}"/>
              </a:ext>
            </a:extLst>
          </p:cNvPr>
          <p:cNvSpPr>
            <a:spLocks xmlns:a="http://schemas.openxmlformats.org/drawingml/2006/main" noGrp="1"/>
          </p:cNvSpPr>
          <p:nvPr/>
        </p:nvSpPr>
        <p:spPr>
          <a:xfrm xmlns:a="http://schemas.openxmlformats.org/drawingml/2006/main">
            <a:off x="9791700" y="2028825"/>
            <a:ext cx="152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t>
            </a:r>
          </a:p>
        </p:txBody>
      </p:sp>
      <p:sp>
        <p:nvSpPr>
          <p:cNvPr id="23" name="">
            <a:extLst xmlns:a="http://schemas.openxmlformats.org/drawingml/2006/main">
              <a:ext uri="{FF2B5EF4-FFF2-40B4-BE49-F238E27FC236}">
                <a16:creationId xmlns:a16="http://schemas.microsoft.com/office/drawing/2014/main" id="{3003C615-F209-4578-8718-E02A07D71B82}"/>
              </a:ext>
            </a:extLst>
          </p:cNvPr>
          <p:cNvSpPr>
            <a:spLocks xmlns:a="http://schemas.openxmlformats.org/drawingml/2006/main" noGrp="1"/>
          </p:cNvSpPr>
          <p:nvPr/>
        </p:nvSpPr>
        <p:spPr>
          <a:xfrm xmlns:a="http://schemas.openxmlformats.org/drawingml/2006/main">
            <a:off x="9982200" y="2028825"/>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40" b="0" i="0">
                <a:solidFill>
                  <a:srgbClr val="111111"/>
                </a:solidFill>
                <a:latin typeface="Microsoft YaHei"/>
                <a:ea typeface="Microsoft YaHei"/>
                <a:cs typeface="Microsoft YaHei"/>
              </a:defRPr>
            </a:pPr>
            <a:r>
              <a:rPr sz="1140" b="0" i="0">
                <a:solidFill>
                  <a:srgbClr val="111111"/>
                </a:solidFill>
                <a:latin typeface="Microsoft YaHei"/>
                <a:ea typeface="Microsoft YaHei"/>
                <a:cs typeface="Microsoft YaHei"/>
              </a:rPr>
              <a:t>对保留峰的强度进行随机扰动</a:t>
            </a:r>
          </a:p>
        </p:txBody>
      </p:sp>
      <p:sp>
        <p:nvSpPr>
          <p:cNvPr id="24" name="">
            <a:extLst xmlns:a="http://schemas.openxmlformats.org/drawingml/2006/main">
              <a:ext uri="{FF2B5EF4-FFF2-40B4-BE49-F238E27FC236}">
                <a16:creationId xmlns:a16="http://schemas.microsoft.com/office/drawing/2014/main" id="{C7550039-E5A4-49D6-92D0-0E996031ED12}"/>
              </a:ext>
            </a:extLst>
          </p:cNvPr>
          <p:cNvSpPr>
            <a:spLocks xmlns:a="http://schemas.openxmlformats.org/drawingml/2006/main" noGrp="1"/>
          </p:cNvSpPr>
          <p:nvPr/>
        </p:nvSpPr>
        <p:spPr>
          <a:xfrm xmlns:a="http://schemas.openxmlformats.org/drawingml/2006/main">
            <a:off x="9791700" y="2552700"/>
            <a:ext cx="152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t>
            </a:r>
          </a:p>
        </p:txBody>
      </p:sp>
      <p:sp>
        <p:nvSpPr>
          <p:cNvPr id="25" name="">
            <a:extLst xmlns:a="http://schemas.openxmlformats.org/drawingml/2006/main">
              <a:ext uri="{FF2B5EF4-FFF2-40B4-BE49-F238E27FC236}">
                <a16:creationId xmlns:a16="http://schemas.microsoft.com/office/drawing/2014/main" id="{66A745F1-17EB-4173-A390-E2E896099B74}"/>
              </a:ext>
            </a:extLst>
          </p:cNvPr>
          <p:cNvSpPr>
            <a:spLocks xmlns:a="http://schemas.openxmlformats.org/drawingml/2006/main" noGrp="1"/>
          </p:cNvSpPr>
          <p:nvPr/>
        </p:nvSpPr>
        <p:spPr>
          <a:xfrm xmlns:a="http://schemas.openxmlformats.org/drawingml/2006/main">
            <a:off x="9982200" y="25527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40" b="0" i="0">
                <a:solidFill>
                  <a:srgbClr val="111111"/>
                </a:solidFill>
                <a:latin typeface="Microsoft YaHei"/>
                <a:ea typeface="Microsoft YaHei"/>
                <a:cs typeface="Microsoft YaHei"/>
              </a:defRPr>
            </a:pPr>
            <a:r>
              <a:rPr sz="1140" b="0" i="0">
                <a:solidFill>
                  <a:srgbClr val="111111"/>
                </a:solidFill>
                <a:latin typeface="Microsoft YaHei"/>
                <a:ea typeface="Microsoft YaHei"/>
                <a:cs typeface="Microsoft YaHei"/>
              </a:rPr>
              <a:t>加入少量低强度峰</a:t>
            </a:r>
          </a:p>
        </p:txBody>
      </p:sp>
      <p:sp>
        <p:nvSpPr>
          <p:cNvPr id="26" name="">
            <a:extLst xmlns:a="http://schemas.openxmlformats.org/drawingml/2006/main">
              <a:ext uri="{FF2B5EF4-FFF2-40B4-BE49-F238E27FC236}">
                <a16:creationId xmlns:a16="http://schemas.microsoft.com/office/drawing/2014/main" id="{783655BA-5AF7-4398-9E3C-78BCC031909E}"/>
              </a:ext>
            </a:extLst>
          </p:cNvPr>
          <p:cNvSpPr>
            <a:spLocks xmlns:a="http://schemas.openxmlformats.org/drawingml/2006/main" noGrp="1"/>
          </p:cNvSpPr>
          <p:nvPr/>
        </p:nvSpPr>
        <p:spPr>
          <a:xfrm xmlns:a="http://schemas.openxmlformats.org/drawingml/2006/main">
            <a:off x="9791700" y="3076575"/>
            <a:ext cx="152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t>
            </a:r>
          </a:p>
        </p:txBody>
      </p:sp>
      <p:sp>
        <p:nvSpPr>
          <p:cNvPr id="27" name="">
            <a:extLst xmlns:a="http://schemas.openxmlformats.org/drawingml/2006/main">
              <a:ext uri="{FF2B5EF4-FFF2-40B4-BE49-F238E27FC236}">
                <a16:creationId xmlns:a16="http://schemas.microsoft.com/office/drawing/2014/main" id="{FD4E26B7-69D3-46C9-8D01-AF6960D9CF95}"/>
              </a:ext>
            </a:extLst>
          </p:cNvPr>
          <p:cNvSpPr>
            <a:spLocks xmlns:a="http://schemas.openxmlformats.org/drawingml/2006/main" noGrp="1"/>
          </p:cNvSpPr>
          <p:nvPr/>
        </p:nvSpPr>
        <p:spPr>
          <a:xfrm xmlns:a="http://schemas.openxmlformats.org/drawingml/2006/main">
            <a:off x="9982200" y="3076575"/>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778"/>
          </a:bodyPr>
          <a:lstStyle xmlns:a="http://schemas.openxmlformats.org/drawingml/2006/main"/>
          <a:p xmlns:a="http://schemas.openxmlformats.org/drawingml/2006/main">
            <a:pPr algn="l">
              <a:defRPr sz="1065" b="0" i="0">
                <a:solidFill>
                  <a:srgbClr val="111111"/>
                </a:solidFill>
                <a:latin typeface="Microsoft YaHei"/>
                <a:ea typeface="Microsoft YaHei"/>
                <a:cs typeface="Microsoft YaHei"/>
              </a:defRPr>
            </a:pPr>
            <a:r>
              <a:rPr sz="1065" b="0" i="0">
                <a:solidFill>
                  <a:srgbClr val="111111"/>
                </a:solidFill>
                <a:latin typeface="Microsoft YaHei"/>
                <a:ea typeface="Microsoft YaHei"/>
                <a:cs typeface="Microsoft YaHei"/>
              </a:rPr>
              <a:t>目标：提高同一分子跨实验条件的表示稳定性</a:t>
            </a:r>
          </a:p>
        </p:txBody>
      </p:sp>
      <p:sp>
        <p:nvSpPr>
          <p:cNvPr id="28" name="">
            <a:extLst xmlns:a="http://schemas.openxmlformats.org/drawingml/2006/main">
              <a:ext uri="{FF2B5EF4-FFF2-40B4-BE49-F238E27FC236}">
                <a16:creationId xmlns:a16="http://schemas.microsoft.com/office/drawing/2014/main" id="{44916833-4AEE-48EB-9651-5B4C5C8D8768}"/>
              </a:ext>
            </a:extLst>
          </p:cNvPr>
          <p:cNvSpPr>
            <a:spLocks xmlns:a="http://schemas.openxmlformats.org/drawingml/2006/main" noGrp="1"/>
          </p:cNvSpPr>
          <p:nvPr/>
        </p:nvSpPr>
        <p:spPr>
          <a:xfrm xmlns:a="http://schemas.openxmlformats.org/drawingml/2006/main">
            <a:off x="6619875" y="36957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谱图增强 → 共享孪生网络 → cosine similarity</a:t>
            </a:r>
          </a:p>
        </p:txBody>
      </p:sp>
      <p:sp>
        <p:nvSpPr>
          <p:cNvPr id="29" name="">
            <a:extLst xmlns:a="http://schemas.openxmlformats.org/drawingml/2006/main">
              <a:ext uri="{FF2B5EF4-FFF2-40B4-BE49-F238E27FC236}">
                <a16:creationId xmlns:a16="http://schemas.microsoft.com/office/drawing/2014/main" id="{7ABB51A7-C2F0-4534-B71F-37F181AEB7C5}"/>
              </a:ext>
            </a:extLst>
          </p:cNvPr>
          <p:cNvSpPr>
            <a:spLocks xmlns:a="http://schemas.openxmlformats.org/drawingml/2006/main" noGrp="1"/>
          </p:cNvSpPr>
          <p:nvPr/>
        </p:nvSpPr>
        <p:spPr>
          <a:xfrm xmlns:a="http://schemas.openxmlformats.org/drawingml/2006/main">
            <a:off x="6619875" y="3981450"/>
            <a:ext cx="485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296"/>
          </a:bodyPr>
          <a:lstStyle xmlns:a="http://schemas.openxmlformats.org/drawingml/2006/main"/>
          <a:p xmlns:a="http://schemas.openxmlformats.org/drawingml/2006/main">
            <a:pPr algn="ctr">
              <a:defRPr sz="938" b="0" i="0">
                <a:solidFill>
                  <a:srgbClr val="5B5B5B"/>
                </a:solidFill>
                <a:latin typeface="Microsoft YaHei"/>
                <a:ea typeface="Microsoft YaHei"/>
                <a:cs typeface="Microsoft YaHei"/>
              </a:defRPr>
            </a:pPr>
            <a:r>
              <a:rPr sz="938" b="0" i="0">
                <a:solidFill>
                  <a:srgbClr val="5B5B5B"/>
                </a:solidFill>
                <a:latin typeface="Microsoft YaHei"/>
                <a:ea typeface="Microsoft YaHei"/>
                <a:cs typeface="Microsoft YaHei"/>
              </a:rPr>
              <a:t>图：MS2DeepScore 训练流程的核心区域</a:t>
            </a:r>
          </a:p>
        </p:txBody>
      </p:sp>
      <p:sp>
        <p:nvSpPr>
          <p:cNvPr id="30" name="">
            <a:extLst xmlns:a="http://schemas.openxmlformats.org/drawingml/2006/main">
              <a:ext uri="{FF2B5EF4-FFF2-40B4-BE49-F238E27FC236}">
                <a16:creationId xmlns:a16="http://schemas.microsoft.com/office/drawing/2014/main" id="{95278043-0182-4648-B64D-C2A203C735AE}"/>
              </a:ext>
            </a:extLst>
          </p:cNvPr>
          <p:cNvSpPr>
            <a:spLocks xmlns:a="http://schemas.openxmlformats.org/drawingml/2006/main" noGrp="1"/>
          </p:cNvSpPr>
          <p:nvPr/>
        </p:nvSpPr>
        <p:spPr>
          <a:xfrm xmlns:a="http://schemas.openxmlformats.org/drawingml/2006/main">
            <a:off x="904875" y="50958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跨模态启发：CONCORD 也通过遮蔽视图与对比学习保持细胞状态结构；这里只作鲁棒性思想参照，不作为质谱峰动作的直接来源。</a:t>
            </a:r>
          </a:p>
        </p:txBody>
      </p:sp>
      <p:sp>
        <p:nvSpPr>
          <p:cNvPr id="31" name="">
            <a:extLst xmlns:a="http://schemas.openxmlformats.org/drawingml/2006/main">
              <a:ext uri="{FF2B5EF4-FFF2-40B4-BE49-F238E27FC236}">
                <a16:creationId xmlns:a16="http://schemas.microsoft.com/office/drawing/2014/main" id="{6ACAC7A6-B20B-4719-A484-D68FD193CADA}"/>
              </a:ext>
            </a:extLst>
          </p:cNvPr>
          <p:cNvSpPr>
            <a:spLocks xmlns:a="http://schemas.openxmlformats.org/drawingml/2006/main" noGrp="1"/>
          </p:cNvSpPr>
          <p:nvPr/>
        </p:nvSpPr>
        <p:spPr>
          <a:xfrm xmlns:a="http://schemas.openxmlformats.org/drawingml/2006/main">
            <a:off x="904875" y="5343525"/>
            <a:ext cx="10382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693"/>
          </a:bodyPr>
          <a:lstStyle xmlns:a="http://schemas.openxmlformats.org/drawingml/2006/main"/>
          <a:p xmlns:a="http://schemas.openxmlformats.org/drawingml/2006/main">
            <a:pPr algn="ctr">
              <a:defRPr sz="788" b="0" i="1">
                <a:solidFill>
                  <a:srgbClr val="5B5B5B"/>
                </a:solidFill>
                <a:latin typeface="Microsoft YaHei"/>
                <a:ea typeface="Microsoft YaHei"/>
                <a:cs typeface="Microsoft YaHei"/>
              </a:defRPr>
            </a:pPr>
            <a:r>
              <a:rPr sz="788" b="0" i="1">
                <a:solidFill>
                  <a:srgbClr val="5B5B5B"/>
                </a:solidFill>
                <a:latin typeface="Microsoft YaHei"/>
                <a:ea typeface="Microsoft YaHei"/>
                <a:cs typeface="Microsoft YaHei"/>
              </a:rPr>
              <a:t>Bushuiev et al., Nature Biotechnology, 2025；Huber et al., Journal of Cheminformatics, 2021；Zhu et al., Nature Biotechnology, 2026</a:t>
            </a:r>
          </a:p>
        </p:txBody>
      </p:sp>
      <p:sp>
        <p:nvSpPr>
          <p:cNvPr id="32" name="">
            <a:extLst xmlns:a="http://schemas.openxmlformats.org/drawingml/2006/main">
              <a:ext uri="{FF2B5EF4-FFF2-40B4-BE49-F238E27FC236}">
                <a16:creationId xmlns:a16="http://schemas.microsoft.com/office/drawing/2014/main" id="{6CCBE985-D1DF-4641-BD3C-8A7F76013C01}"/>
              </a:ext>
            </a:extLst>
          </p:cNvPr>
          <p:cNvSpPr>
            <a:spLocks xmlns:a="http://schemas.openxmlformats.org/drawingml/2006/main" noGrp="1"/>
          </p:cNvSpPr>
          <p:nvPr/>
        </p:nvSpPr>
        <p:spPr>
          <a:xfrm xmlns:a="http://schemas.openxmlformats.org/drawingml/2006/main">
            <a:off x="1095375" y="5572125"/>
            <a:ext cx="10001250" cy="5238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3" name="">
            <a:extLst xmlns:a="http://schemas.openxmlformats.org/drawingml/2006/main">
              <a:ext uri="{FF2B5EF4-FFF2-40B4-BE49-F238E27FC236}">
                <a16:creationId xmlns:a16="http://schemas.microsoft.com/office/drawing/2014/main" id="{4DBFA2FB-B5FE-4C6D-BFE5-5DDEF96F4BEC}"/>
              </a:ext>
            </a:extLst>
          </p:cNvPr>
          <p:cNvSpPr>
            <a:spLocks xmlns:a="http://schemas.openxmlformats.org/drawingml/2006/main" noGrp="1"/>
          </p:cNvSpPr>
          <p:nvPr/>
        </p:nvSpPr>
        <p:spPr>
          <a:xfrm xmlns:a="http://schemas.openxmlformats.org/drawingml/2006/main">
            <a:off x="1333500" y="5686425"/>
            <a:ext cx="952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0"/>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进一步的问题：通用随机增强不知道哪一个峰与当前候选排序错误有关，能否从真实错误中找到具有方向性的峰动作？</a:t>
            </a:r>
          </a:p>
        </p:txBody>
      </p:sp>
    </p:spTree>
    <p:extLst>
      <p:ext uri="{BB962C8B-B14F-4D97-AF65-F5344CB8AC3E}">
        <p14:creationId xmlns:p14="http://schemas.microsoft.com/office/powerpoint/2010/main" val="4763242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33B56B0-D865-4D2F-BB1F-7B481B7F945B}"/>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F26AE7-17B0-4030-A798-3AF4F354F963}"/>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BFAB48-7308-4B71-A6DE-0BF533DE609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7CAF4E-4D71-43BB-82BE-32B1A141CCD0}"/>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24F605-CDAF-402D-99A4-1A48CD85B75C}"/>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冻结 DreaMS 的峰级干预：定向动作优于匹配随机对照</a:t>
            </a:r>
          </a:p>
        </p:txBody>
      </p:sp>
      <p:sp>
        <p:nvSpPr>
          <p:cNvPr id="6" name="">
            <a:extLst xmlns:a="http://schemas.openxmlformats.org/drawingml/2006/main">
              <a:ext uri="{FF2B5EF4-FFF2-40B4-BE49-F238E27FC236}">
                <a16:creationId xmlns:a16="http://schemas.microsoft.com/office/drawing/2014/main" id="{8AD4F153-19A9-4682-B92D-6FA7CA382636}"/>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A096B6F-2E05-4F88-84D0-76E0D8F4B38E}"/>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00231F-92A5-47DB-BBC4-E8DA59E2DB3C}"/>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96CE72-17DC-432E-83F2-0E81675EDDD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E367223B-CBE0-4FF9-BEB5-694ECA7FDDB4}"/>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b1f86051a0b488f"/>
          <a:stretch xmlns:a="http://schemas.openxmlformats.org/drawingml/2006/main"/>
        </p:blipFill>
        <p:spPr>
          <a:xfrm xmlns:a="http://schemas.openxmlformats.org/drawingml/2006/main">
            <a:off x="238125" y="952500"/>
            <a:ext cx="7715250" cy="4629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25AEC8D-51CD-4A64-B3BA-317130EA91E1}"/>
              </a:ext>
            </a:extLst>
          </p:cNvPr>
          <p:cNvSpPr>
            <a:spLocks xmlns:a="http://schemas.openxmlformats.org/drawingml/2006/main" noGrp="1"/>
          </p:cNvSpPr>
          <p:nvPr/>
        </p:nvSpPr>
        <p:spPr>
          <a:xfrm xmlns:a="http://schemas.openxmlformats.org/drawingml/2006/main">
            <a:off x="8143875" y="1000125"/>
            <a:ext cx="3429000" cy="17621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13" name="">
            <a:extLst xmlns:a="http://schemas.openxmlformats.org/drawingml/2006/main">
              <a:ext uri="{FF2B5EF4-FFF2-40B4-BE49-F238E27FC236}">
                <a16:creationId xmlns:a16="http://schemas.microsoft.com/office/drawing/2014/main" id="{818D8844-04D3-4796-ADF3-ADD4360E0050}"/>
              </a:ext>
            </a:extLst>
          </p:cNvPr>
          <p:cNvSpPr>
            <a:spLocks xmlns:a="http://schemas.openxmlformats.org/drawingml/2006/main" noGrp="1"/>
          </p:cNvSpPr>
          <p:nvPr/>
        </p:nvSpPr>
        <p:spPr>
          <a:xfrm xmlns:a="http://schemas.openxmlformats.org/drawingml/2006/main">
            <a:off x="8267700" y="1104900"/>
            <a:ext cx="3181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394"/>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探索性事后 oracle：</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一次删去所有混淆峰</a:t>
            </a:r>
          </a:p>
        </p:txBody>
      </p:sp>
      <p:sp>
        <p:nvSpPr>
          <p:cNvPr id="14" name="">
            <a:extLst xmlns:a="http://schemas.openxmlformats.org/drawingml/2006/main">
              <a:ext uri="{FF2B5EF4-FFF2-40B4-BE49-F238E27FC236}">
                <a16:creationId xmlns:a16="http://schemas.microsoft.com/office/drawing/2014/main" id="{4057FBC9-C374-4E20-99D9-CF8009962242}"/>
              </a:ext>
            </a:extLst>
          </p:cNvPr>
          <p:cNvSpPr>
            <a:spLocks xmlns:a="http://schemas.openxmlformats.org/drawingml/2006/main" noGrp="1"/>
          </p:cNvSpPr>
          <p:nvPr/>
        </p:nvSpPr>
        <p:spPr>
          <a:xfrm xmlns:a="http://schemas.openxmlformats.org/drawingml/2006/main">
            <a:off x="8334375" y="15811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6"/>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原 Top-1 错误中的纠正率</a:t>
            </a:r>
          </a:p>
        </p:txBody>
      </p:sp>
      <p:sp>
        <p:nvSpPr>
          <p:cNvPr id="15" name="">
            <a:extLst xmlns:a="http://schemas.openxmlformats.org/drawingml/2006/main">
              <a:ext uri="{FF2B5EF4-FFF2-40B4-BE49-F238E27FC236}">
                <a16:creationId xmlns:a16="http://schemas.microsoft.com/office/drawing/2014/main" id="{24DAF2D2-CB5E-4025-97B6-ABFE0F06F747}"/>
              </a:ext>
            </a:extLst>
          </p:cNvPr>
          <p:cNvSpPr>
            <a:spLocks xmlns:a="http://schemas.openxmlformats.org/drawingml/2006/main" noGrp="1"/>
          </p:cNvSpPr>
          <p:nvPr/>
        </p:nvSpPr>
        <p:spPr>
          <a:xfrm xmlns:a="http://schemas.openxmlformats.org/drawingml/2006/main">
            <a:off x="8429625" y="1828800"/>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5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定向删除</a:t>
            </a:r>
          </a:p>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28.1%</a:t>
            </a:r>
          </a:p>
        </p:txBody>
      </p:sp>
      <p:sp>
        <p:nvSpPr>
          <p:cNvPr id="16" name="">
            <a:extLst xmlns:a="http://schemas.openxmlformats.org/drawingml/2006/main">
              <a:ext uri="{FF2B5EF4-FFF2-40B4-BE49-F238E27FC236}">
                <a16:creationId xmlns:a16="http://schemas.microsoft.com/office/drawing/2014/main" id="{97115889-2480-4C87-BC20-B2E7C743D526}"/>
              </a:ext>
            </a:extLst>
          </p:cNvPr>
          <p:cNvSpPr>
            <a:spLocks xmlns:a="http://schemas.openxmlformats.org/drawingml/2006/main" noGrp="1"/>
          </p:cNvSpPr>
          <p:nvPr/>
        </p:nvSpPr>
        <p:spPr>
          <a:xfrm xmlns:a="http://schemas.openxmlformats.org/drawingml/2006/main">
            <a:off x="9906000" y="1828800"/>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177"/>
          </a:bodyPr>
          <a:lstStyle xmlns:a="http://schemas.openxmlformats.org/drawingml/2006/main"/>
          <a:p xmlns:a="http://schemas.openxmlformats.org/drawingml/2006/main">
            <a:pPr algn="ctr">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匹配随机删除</a:t>
            </a:r>
          </a:p>
          <a:p xmlns:a="http://schemas.openxmlformats.org/drawingml/2006/main">
            <a:pPr algn="ctr">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7.6%</a:t>
            </a:r>
          </a:p>
        </p:txBody>
      </p:sp>
      <p:sp>
        <p:nvSpPr>
          <p:cNvPr id="17" name="">
            <a:extLst xmlns:a="http://schemas.openxmlformats.org/drawingml/2006/main">
              <a:ext uri="{FF2B5EF4-FFF2-40B4-BE49-F238E27FC236}">
                <a16:creationId xmlns:a16="http://schemas.microsoft.com/office/drawing/2014/main" id="{7E2CB95C-EA74-48C2-9B6C-9029ED23D719}"/>
              </a:ext>
            </a:extLst>
          </p:cNvPr>
          <p:cNvSpPr>
            <a:spLocks xmlns:a="http://schemas.openxmlformats.org/drawingml/2006/main" noGrp="1"/>
          </p:cNvSpPr>
          <p:nvPr/>
        </p:nvSpPr>
        <p:spPr>
          <a:xfrm xmlns:a="http://schemas.openxmlformats.org/drawingml/2006/main">
            <a:off x="8143875" y="3000375"/>
            <a:ext cx="34290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48919E5B-95D3-4646-A3CE-CC3195DA3ADC}"/>
              </a:ext>
            </a:extLst>
          </p:cNvPr>
          <p:cNvSpPr>
            <a:spLocks xmlns:a="http://schemas.openxmlformats.org/drawingml/2006/main" noGrp="1"/>
          </p:cNvSpPr>
          <p:nvPr/>
        </p:nvSpPr>
        <p:spPr>
          <a:xfrm xmlns:a="http://schemas.openxmlformats.org/drawingml/2006/main">
            <a:off x="8267700" y="3143250"/>
            <a:ext cx="318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一次性测试集：预先冻结 8 类峰特征</a:t>
            </a:r>
          </a:p>
        </p:txBody>
      </p:sp>
      <p:sp>
        <p:nvSpPr>
          <p:cNvPr id="19" name="">
            <a:extLst xmlns:a="http://schemas.openxmlformats.org/drawingml/2006/main">
              <a:ext uri="{FF2B5EF4-FFF2-40B4-BE49-F238E27FC236}">
                <a16:creationId xmlns:a16="http://schemas.microsoft.com/office/drawing/2014/main" id="{B2FC642A-E892-4F42-A78B-97C5D59CDA1D}"/>
              </a:ext>
            </a:extLst>
          </p:cNvPr>
          <p:cNvSpPr>
            <a:spLocks xmlns:a="http://schemas.openxmlformats.org/drawingml/2006/main" noGrp="1"/>
          </p:cNvSpPr>
          <p:nvPr/>
        </p:nvSpPr>
        <p:spPr>
          <a:xfrm xmlns:a="http://schemas.openxmlformats.org/drawingml/2006/main">
            <a:off x="8334375" y="3419475"/>
            <a:ext cx="3048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2633"/>
          </a:bodyPr>
          <a:lstStyle xmlns:a="http://schemas.openxmlformats.org/drawingml/2006/main"/>
          <a:p xmlns:a="http://schemas.openxmlformats.org/drawingml/2006/main">
            <a:pPr algn="ctr">
              <a:defRPr sz="938" b="0" i="0">
                <a:solidFill>
                  <a:srgbClr val="5B5B5B"/>
                </a:solidFill>
                <a:latin typeface="Microsoft YaHei"/>
                <a:ea typeface="Microsoft YaHei"/>
                <a:cs typeface="Microsoft YaHei"/>
              </a:defRPr>
            </a:pPr>
            <a:r>
              <a:rPr sz="938" b="0" i="0">
                <a:solidFill>
                  <a:srgbClr val="5B5B5B"/>
                </a:solidFill>
                <a:latin typeface="Microsoft YaHei"/>
                <a:ea typeface="Microsoft YaHei"/>
                <a:cs typeface="Microsoft YaHei"/>
              </a:rPr>
              <a:t>551 条错误 query｜310 个分子｜156 个分子式</a:t>
            </a:r>
          </a:p>
        </p:txBody>
      </p:sp>
      <p:sp>
        <p:nvSpPr>
          <p:cNvPr id="20" name="">
            <a:extLst xmlns:a="http://schemas.openxmlformats.org/drawingml/2006/main">
              <a:ext uri="{FF2B5EF4-FFF2-40B4-BE49-F238E27FC236}">
                <a16:creationId xmlns:a16="http://schemas.microsoft.com/office/drawing/2014/main" id="{DED77E5E-67FC-4435-AD33-D51D2CED8F8A}"/>
              </a:ext>
            </a:extLst>
          </p:cNvPr>
          <p:cNvSpPr>
            <a:spLocks xmlns:a="http://schemas.openxmlformats.org/drawingml/2006/main" noGrp="1"/>
          </p:cNvSpPr>
          <p:nvPr/>
        </p:nvSpPr>
        <p:spPr>
          <a:xfrm xmlns:a="http://schemas.openxmlformats.org/drawingml/2006/main">
            <a:off x="8239125" y="3667125"/>
            <a:ext cx="1752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010"/>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原 Top-1 错误纠正率</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定向动作  10.74%</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匹配随机   4.52%</a:t>
            </a:r>
          </a:p>
        </p:txBody>
      </p:sp>
      <p:sp>
        <p:nvSpPr>
          <p:cNvPr id="21" name="">
            <a:extLst xmlns:a="http://schemas.openxmlformats.org/drawingml/2006/main">
              <a:ext uri="{FF2B5EF4-FFF2-40B4-BE49-F238E27FC236}">
                <a16:creationId xmlns:a16="http://schemas.microsoft.com/office/drawing/2014/main" id="{443AB850-2D91-4D0C-8082-21EB5E4434CB}"/>
              </a:ext>
            </a:extLst>
          </p:cNvPr>
          <p:cNvSpPr>
            <a:spLocks xmlns:a="http://schemas.openxmlformats.org/drawingml/2006/main" noGrp="1"/>
          </p:cNvSpPr>
          <p:nvPr/>
        </p:nvSpPr>
        <p:spPr>
          <a:xfrm xmlns:a="http://schemas.openxmlformats.org/drawingml/2006/main">
            <a:off x="9963150" y="366712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38"/>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margin 净改善</a:t>
            </a:r>
          </a:p>
        </p:txBody>
      </p:sp>
      <p:sp>
        <p:nvSpPr>
          <p:cNvPr id="22" name="">
            <a:extLst xmlns:a="http://schemas.openxmlformats.org/drawingml/2006/main">
              <a:ext uri="{FF2B5EF4-FFF2-40B4-BE49-F238E27FC236}">
                <a16:creationId xmlns:a16="http://schemas.microsoft.com/office/drawing/2014/main" id="{B6FEC714-BB9D-4BD8-BCD0-D17BCD7508E3}"/>
              </a:ext>
            </a:extLst>
          </p:cNvPr>
          <p:cNvSpPr>
            <a:spLocks xmlns:a="http://schemas.openxmlformats.org/drawingml/2006/main" noGrp="1"/>
          </p:cNvSpPr>
          <p:nvPr/>
        </p:nvSpPr>
        <p:spPr>
          <a:xfrm xmlns:a="http://schemas.openxmlformats.org/drawingml/2006/main">
            <a:off x="9963150" y="39052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ctr">
              <a:defRPr sz="1650" b="1" i="0">
                <a:solidFill>
                  <a:srgbClr val="111111"/>
                </a:solidFill>
                <a:latin typeface="Microsoft YaHei"/>
                <a:ea typeface="Microsoft YaHei"/>
                <a:cs typeface="Microsoft YaHei"/>
              </a:defRPr>
            </a:pPr>
            <a:r>
              <a:rPr sz="1650" b="1" i="0">
                <a:solidFill>
                  <a:srgbClr val="111111"/>
                </a:solidFill>
                <a:latin typeface="Microsoft YaHei"/>
                <a:ea typeface="Microsoft YaHei"/>
                <a:cs typeface="Microsoft YaHei"/>
              </a:rPr>
              <a:t>0.0305</a:t>
            </a:r>
          </a:p>
        </p:txBody>
      </p:sp>
      <p:sp>
        <p:nvSpPr>
          <p:cNvPr id="23" name="">
            <a:extLst xmlns:a="http://schemas.openxmlformats.org/drawingml/2006/main">
              <a:ext uri="{FF2B5EF4-FFF2-40B4-BE49-F238E27FC236}">
                <a16:creationId xmlns:a16="http://schemas.microsoft.com/office/drawing/2014/main" id="{D2A38440-0C4D-4F96-A1DB-EB0A242886FA}"/>
              </a:ext>
            </a:extLst>
          </p:cNvPr>
          <p:cNvSpPr>
            <a:spLocks xmlns:a="http://schemas.openxmlformats.org/drawingml/2006/main" noGrp="1"/>
          </p:cNvSpPr>
          <p:nvPr/>
        </p:nvSpPr>
        <p:spPr>
          <a:xfrm xmlns:a="http://schemas.openxmlformats.org/drawingml/2006/main">
            <a:off x="9877425" y="42195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1" i="0">
                <a:solidFill>
                  <a:srgbClr val="111111"/>
                </a:solidFill>
                <a:latin typeface="Microsoft YaHei"/>
                <a:ea typeface="Microsoft YaHei"/>
                <a:cs typeface="Microsoft YaHei"/>
              </a:defRPr>
            </a:pPr>
            <a:r>
              <a:rPr sz="1013" b="1" i="0">
                <a:solidFill>
                  <a:srgbClr val="111111"/>
                </a:solidFill>
                <a:latin typeface="Microsoft YaHei"/>
                <a:ea typeface="Microsoft YaHei"/>
                <a:cs typeface="Microsoft YaHei"/>
              </a:rPr>
              <a:t>95% CI  [0.0229, 0.0386]</a:t>
            </a:r>
          </a:p>
        </p:txBody>
      </p:sp>
      <p:sp>
        <p:nvSpPr>
          <p:cNvPr id="24" name="">
            <a:extLst xmlns:a="http://schemas.openxmlformats.org/drawingml/2006/main">
              <a:ext uri="{FF2B5EF4-FFF2-40B4-BE49-F238E27FC236}">
                <a16:creationId xmlns:a16="http://schemas.microsoft.com/office/drawing/2014/main" id="{F1EC5FB8-4F53-4C8B-B15C-B4985CEC182A}"/>
              </a:ext>
            </a:extLst>
          </p:cNvPr>
          <p:cNvSpPr>
            <a:spLocks xmlns:a="http://schemas.openxmlformats.org/drawingml/2006/main" noGrp="1"/>
          </p:cNvSpPr>
          <p:nvPr/>
        </p:nvSpPr>
        <p:spPr>
          <a:xfrm xmlns:a="http://schemas.openxmlformats.org/drawingml/2006/main">
            <a:off x="8286750" y="458152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随机对照匹配删除峰数、强度和近似 m/z。</a:t>
            </a:r>
          </a:p>
        </p:txBody>
      </p:sp>
      <p:sp>
        <p:nvSpPr>
          <p:cNvPr id="25" name="">
            <a:extLst xmlns:a="http://schemas.openxmlformats.org/drawingml/2006/main">
              <a:ext uri="{FF2B5EF4-FFF2-40B4-BE49-F238E27FC236}">
                <a16:creationId xmlns:a16="http://schemas.microsoft.com/office/drawing/2014/main" id="{C30AA659-EB48-47E4-B728-BF4082F9C52A}"/>
              </a:ext>
            </a:extLst>
          </p:cNvPr>
          <p:cNvSpPr>
            <a:spLocks xmlns:a="http://schemas.openxmlformats.org/drawingml/2006/main" noGrp="1"/>
          </p:cNvSpPr>
          <p:nvPr/>
        </p:nvSpPr>
        <p:spPr>
          <a:xfrm xmlns:a="http://schemas.openxmlformats.org/drawingml/2006/main">
            <a:off x="8143875" y="5048250"/>
            <a:ext cx="342900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6" name="">
            <a:extLst xmlns:a="http://schemas.openxmlformats.org/drawingml/2006/main">
              <a:ext uri="{FF2B5EF4-FFF2-40B4-BE49-F238E27FC236}">
                <a16:creationId xmlns:a16="http://schemas.microsoft.com/office/drawing/2014/main" id="{0468ED61-A697-4920-811D-68CA2EC0F1B8}"/>
              </a:ext>
            </a:extLst>
          </p:cNvPr>
          <p:cNvSpPr>
            <a:spLocks xmlns:a="http://schemas.openxmlformats.org/drawingml/2006/main" noGrp="1"/>
          </p:cNvSpPr>
          <p:nvPr/>
        </p:nvSpPr>
        <p:spPr>
          <a:xfrm xmlns:a="http://schemas.openxmlformats.org/drawingml/2006/main">
            <a:off x="8286750" y="5124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271"/>
          </a:bodyPr>
          <a:lstStyle xmlns:a="http://schemas.openxmlformats.org/drawingml/2006/main"/>
          <a:p xmlns:a="http://schemas.openxmlformats.org/drawingml/2006/main">
            <a:pPr algn="ctr">
              <a:defRPr sz="1013" b="1" i="0">
                <a:solidFill>
                  <a:srgbClr val="7A1F86"/>
                </a:solidFill>
                <a:latin typeface="Microsoft YaHei"/>
                <a:ea typeface="Microsoft YaHei"/>
                <a:cs typeface="Microsoft YaHei"/>
              </a:defRPr>
            </a:pPr>
            <a:r>
              <a:rPr sz="1013" b="1" i="0">
                <a:solidFill>
                  <a:srgbClr val="7A1F86"/>
                </a:solidFill>
                <a:latin typeface="Microsoft YaHei"/>
                <a:ea typeface="Microsoft YaHei"/>
                <a:cs typeface="Microsoft YaHei"/>
              </a:rPr>
              <a:t>margin = 正确候选分数 − 最强错误候选分数；95% CI 全部高于 0，说明分子式重采样后平均改善仍稳定为正。</a:t>
            </a:r>
          </a:p>
        </p:txBody>
      </p:sp>
      <p:sp>
        <p:nvSpPr>
          <p:cNvPr id="27" name="">
            <a:extLst xmlns:a="http://schemas.openxmlformats.org/drawingml/2006/main">
              <a:ext uri="{FF2B5EF4-FFF2-40B4-BE49-F238E27FC236}">
                <a16:creationId xmlns:a16="http://schemas.microsoft.com/office/drawing/2014/main" id="{E10BE0B0-1ECB-4EBF-9278-CD3699D1F039}"/>
              </a:ext>
            </a:extLst>
          </p:cNvPr>
          <p:cNvSpPr>
            <a:spLocks xmlns:a="http://schemas.openxmlformats.org/drawingml/2006/main" noGrp="1"/>
          </p:cNvSpPr>
          <p:nvPr/>
        </p:nvSpPr>
        <p:spPr>
          <a:xfrm xmlns:a="http://schemas.openxmlformats.org/drawingml/2006/main">
            <a:off x="1095375" y="5619750"/>
            <a:ext cx="1000125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8" name="">
            <a:extLst xmlns:a="http://schemas.openxmlformats.org/drawingml/2006/main">
              <a:ext uri="{FF2B5EF4-FFF2-40B4-BE49-F238E27FC236}">
                <a16:creationId xmlns:a16="http://schemas.microsoft.com/office/drawing/2014/main" id="{A9DCD3C4-6019-499C-8741-5DFE41B7BB6D}"/>
              </a:ext>
            </a:extLst>
          </p:cNvPr>
          <p:cNvSpPr>
            <a:spLocks xmlns:a="http://schemas.openxmlformats.org/drawingml/2006/main" noGrp="1"/>
          </p:cNvSpPr>
          <p:nvPr/>
        </p:nvSpPr>
        <p:spPr>
          <a:xfrm xmlns:a="http://schemas.openxmlformats.org/drawingml/2006/main">
            <a:off x="1333500" y="57340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这一页是冻结模型上的反事实动作审计：用于发现训练信号，不等同于新模型的部署性能。</a:t>
            </a:r>
          </a:p>
        </p:txBody>
      </p:sp>
    </p:spTree>
    <p:extLst>
      <p:ext uri="{BB962C8B-B14F-4D97-AF65-F5344CB8AC3E}">
        <p14:creationId xmlns:p14="http://schemas.microsoft.com/office/powerpoint/2010/main" val="1049430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9AC4C691-3433-4C5A-8DE3-695FE99317E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42CE76-61C9-42B6-B6D4-212E3FC28333}"/>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6946C0-704A-4BF9-AF24-18A32DA1DDA9}"/>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C930FC-383B-4FFE-BF56-39CC3EF2DA1E}"/>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051195-2D23-46F1-ADE3-0BDC0A550191}"/>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从动作审计构造两套可比较的训练臂</a:t>
            </a:r>
          </a:p>
        </p:txBody>
      </p:sp>
      <p:sp>
        <p:nvSpPr>
          <p:cNvPr id="6" name="">
            <a:extLst xmlns:a="http://schemas.openxmlformats.org/drawingml/2006/main">
              <a:ext uri="{FF2B5EF4-FFF2-40B4-BE49-F238E27FC236}">
                <a16:creationId xmlns:a16="http://schemas.microsoft.com/office/drawing/2014/main" id="{E0CA13F6-6692-41CB-B841-E9F971B6B4D1}"/>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849D81-8046-4C97-A8AC-E65878147736}"/>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4CCFA6-9B12-4427-9749-CBBDEE732C38}"/>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94771B-C5C5-4E2E-AA2E-4A121455360E}"/>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BE7F3A62-9542-4786-B792-142605AD0851}"/>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CC1264C8-2473-4D08-A51F-FEAEB5658BDA}"/>
              </a:ext>
            </a:extLst>
          </p:cNvPr>
          <p:cNvSpPr>
            <a:spLocks xmlns:a="http://schemas.openxmlformats.org/drawingml/2006/main" noGrp="1"/>
          </p:cNvSpPr>
          <p:nvPr/>
        </p:nvSpPr>
        <p:spPr>
          <a:xfrm xmlns:a="http://schemas.openxmlformats.org/drawingml/2006/main">
            <a:off x="333375" y="1000125"/>
            <a:ext cx="26670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54273352-D751-4D82-B90F-677F22D02DAE}"/>
              </a:ext>
            </a:extLst>
          </p:cNvPr>
          <p:cNvSpPr>
            <a:spLocks xmlns:a="http://schemas.openxmlformats.org/drawingml/2006/main" noGrp="1"/>
          </p:cNvSpPr>
          <p:nvPr/>
        </p:nvSpPr>
        <p:spPr>
          <a:xfrm xmlns:a="http://schemas.openxmlformats.org/drawingml/2006/main">
            <a:off x="476250"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1｜候选边界</a:t>
            </a:r>
          </a:p>
        </p:txBody>
      </p:sp>
      <p:sp>
        <p:nvSpPr>
          <p:cNvPr id="13" name="">
            <a:extLst xmlns:a="http://schemas.openxmlformats.org/drawingml/2006/main">
              <a:ext uri="{FF2B5EF4-FFF2-40B4-BE49-F238E27FC236}">
                <a16:creationId xmlns:a16="http://schemas.microsoft.com/office/drawing/2014/main" id="{CCA6F97A-9110-4CCC-8B03-E80B76D1F9D4}"/>
              </a:ext>
            </a:extLst>
          </p:cNvPr>
          <p:cNvSpPr>
            <a:spLocks xmlns:a="http://schemas.openxmlformats.org/drawingml/2006/main" noGrp="1"/>
          </p:cNvSpPr>
          <p:nvPr/>
        </p:nvSpPr>
        <p:spPr>
          <a:xfrm xmlns:a="http://schemas.openxmlformats.org/drawingml/2006/main">
            <a:off x="571500"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B007C09E-EF67-4A17-A0D8-5794665A83B1}"/>
              </a:ext>
            </a:extLst>
          </p:cNvPr>
          <p:cNvSpPr>
            <a:spLocks xmlns:a="http://schemas.openxmlformats.org/drawingml/2006/main" noGrp="1"/>
          </p:cNvSpPr>
          <p:nvPr/>
        </p:nvSpPr>
        <p:spPr>
          <a:xfrm xmlns:a="http://schemas.openxmlformats.org/drawingml/2006/main">
            <a:off x="742950"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4163776-F696-4F5E-B87A-2680C8CB7197}"/>
              </a:ext>
            </a:extLst>
          </p:cNvPr>
          <p:cNvSpPr>
            <a:spLocks xmlns:a="http://schemas.openxmlformats.org/drawingml/2006/main" noGrp="1"/>
          </p:cNvSpPr>
          <p:nvPr/>
        </p:nvSpPr>
        <p:spPr>
          <a:xfrm xmlns:a="http://schemas.openxmlformats.org/drawingml/2006/main">
            <a:off x="742950"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4A712D0-5BE4-47A1-B258-B1106B7E7B32}"/>
              </a:ext>
            </a:extLst>
          </p:cNvPr>
          <p:cNvSpPr>
            <a:spLocks xmlns:a="http://schemas.openxmlformats.org/drawingml/2006/main" noGrp="1"/>
          </p:cNvSpPr>
          <p:nvPr/>
        </p:nvSpPr>
        <p:spPr>
          <a:xfrm xmlns:a="http://schemas.openxmlformats.org/drawingml/2006/main">
            <a:off x="896874"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84426B-3A23-4DFA-95ED-16E04BDFFBA7}"/>
              </a:ext>
            </a:extLst>
          </p:cNvPr>
          <p:cNvSpPr>
            <a:spLocks xmlns:a="http://schemas.openxmlformats.org/drawingml/2006/main" noGrp="1"/>
          </p:cNvSpPr>
          <p:nvPr/>
        </p:nvSpPr>
        <p:spPr>
          <a:xfrm xmlns:a="http://schemas.openxmlformats.org/drawingml/2006/main">
            <a:off x="1108520"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123A000-84A9-4061-8074-C4ECE7EFCA22}"/>
              </a:ext>
            </a:extLst>
          </p:cNvPr>
          <p:cNvSpPr>
            <a:spLocks xmlns:a="http://schemas.openxmlformats.org/drawingml/2006/main" noGrp="1"/>
          </p:cNvSpPr>
          <p:nvPr/>
        </p:nvSpPr>
        <p:spPr>
          <a:xfrm xmlns:a="http://schemas.openxmlformats.org/drawingml/2006/main">
            <a:off x="1339406"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6BF178-75D5-46FA-A778-CD402DFD9F76}"/>
              </a:ext>
            </a:extLst>
          </p:cNvPr>
          <p:cNvSpPr>
            <a:spLocks xmlns:a="http://schemas.openxmlformats.org/drawingml/2006/main" noGrp="1"/>
          </p:cNvSpPr>
          <p:nvPr/>
        </p:nvSpPr>
        <p:spPr>
          <a:xfrm xmlns:a="http://schemas.openxmlformats.org/drawingml/2006/main">
            <a:off x="1570292"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C945535-900A-4CE2-981F-9AEA1DC06B02}"/>
              </a:ext>
            </a:extLst>
          </p:cNvPr>
          <p:cNvSpPr>
            <a:spLocks xmlns:a="http://schemas.openxmlformats.org/drawingml/2006/main" noGrp="1"/>
          </p:cNvSpPr>
          <p:nvPr/>
        </p:nvSpPr>
        <p:spPr>
          <a:xfrm xmlns:a="http://schemas.openxmlformats.org/drawingml/2006/main">
            <a:off x="1801178"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A92F67-8FEB-411B-8575-E76986CF6C1E}"/>
              </a:ext>
            </a:extLst>
          </p:cNvPr>
          <p:cNvSpPr>
            <a:spLocks xmlns:a="http://schemas.openxmlformats.org/drawingml/2006/main" noGrp="1"/>
          </p:cNvSpPr>
          <p:nvPr/>
        </p:nvSpPr>
        <p:spPr>
          <a:xfrm xmlns:a="http://schemas.openxmlformats.org/drawingml/2006/main">
            <a:off x="2032064"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6DB148F-249A-4FD0-A99C-60E775FFC91F}"/>
              </a:ext>
            </a:extLst>
          </p:cNvPr>
          <p:cNvSpPr>
            <a:spLocks xmlns:a="http://schemas.openxmlformats.org/drawingml/2006/main" noGrp="1"/>
          </p:cNvSpPr>
          <p:nvPr/>
        </p:nvSpPr>
        <p:spPr>
          <a:xfrm xmlns:a="http://schemas.openxmlformats.org/drawingml/2006/main">
            <a:off x="2262950"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54A05CA-D614-4F9F-80D8-C3C5EC5DF7B8}"/>
              </a:ext>
            </a:extLst>
          </p:cNvPr>
          <p:cNvSpPr>
            <a:spLocks xmlns:a="http://schemas.openxmlformats.org/drawingml/2006/main" noGrp="1"/>
          </p:cNvSpPr>
          <p:nvPr/>
        </p:nvSpPr>
        <p:spPr>
          <a:xfrm xmlns:a="http://schemas.openxmlformats.org/drawingml/2006/main">
            <a:off x="2493836"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7E6C417-0B77-4968-BFCB-987D2FB2032B}"/>
              </a:ext>
            </a:extLst>
          </p:cNvPr>
          <p:cNvSpPr>
            <a:spLocks xmlns:a="http://schemas.openxmlformats.org/drawingml/2006/main" noGrp="1"/>
          </p:cNvSpPr>
          <p:nvPr/>
        </p:nvSpPr>
        <p:spPr>
          <a:xfrm xmlns:a="http://schemas.openxmlformats.org/drawingml/2006/main">
            <a:off x="561975"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query、真实参考谱和最强错误参考谱共同定义 margin：真实候选最高分 − 最强错误候选分。</a:t>
            </a:r>
          </a:p>
        </p:txBody>
      </p:sp>
      <p:sp>
        <p:nvSpPr>
          <p:cNvPr id="25" name="">
            <a:extLst xmlns:a="http://schemas.openxmlformats.org/drawingml/2006/main">
              <a:ext uri="{FF2B5EF4-FFF2-40B4-BE49-F238E27FC236}">
                <a16:creationId xmlns:a16="http://schemas.microsoft.com/office/drawing/2014/main" id="{2E005739-2A10-498E-8B9E-946D1B9F101C}"/>
              </a:ext>
            </a:extLst>
          </p:cNvPr>
          <p:cNvSpPr>
            <a:spLocks xmlns:a="http://schemas.openxmlformats.org/drawingml/2006/main" noGrp="1"/>
          </p:cNvSpPr>
          <p:nvPr/>
        </p:nvSpPr>
        <p:spPr>
          <a:xfrm xmlns:a="http://schemas.openxmlformats.org/drawingml/2006/main">
            <a:off x="3028950"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AE09B2-B6D9-437B-BC6A-EFC4D4035325}"/>
              </a:ext>
            </a:extLst>
          </p:cNvPr>
          <p:cNvSpPr>
            <a:spLocks xmlns:a="http://schemas.openxmlformats.org/drawingml/2006/main" noGrp="1"/>
          </p:cNvSpPr>
          <p:nvPr/>
        </p:nvSpPr>
        <p:spPr>
          <a:xfrm xmlns:a="http://schemas.openxmlformats.org/drawingml/2006/main">
            <a:off x="3238500" y="1000125"/>
            <a:ext cx="2667000" cy="32385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7" name="">
            <a:extLst xmlns:a="http://schemas.openxmlformats.org/drawingml/2006/main">
              <a:ext uri="{FF2B5EF4-FFF2-40B4-BE49-F238E27FC236}">
                <a16:creationId xmlns:a16="http://schemas.microsoft.com/office/drawing/2014/main" id="{CE2DD6E4-807D-42C1-BD40-B035D1798688}"/>
              </a:ext>
            </a:extLst>
          </p:cNvPr>
          <p:cNvSpPr>
            <a:spLocks xmlns:a="http://schemas.openxmlformats.org/drawingml/2006/main" noGrp="1"/>
          </p:cNvSpPr>
          <p:nvPr/>
        </p:nvSpPr>
        <p:spPr>
          <a:xfrm xmlns:a="http://schemas.openxmlformats.org/drawingml/2006/main">
            <a:off x="3381375"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2｜定向峰动作</a:t>
            </a:r>
          </a:p>
        </p:txBody>
      </p:sp>
      <p:sp>
        <p:nvSpPr>
          <p:cNvPr id="28" name="">
            <a:extLst xmlns:a="http://schemas.openxmlformats.org/drawingml/2006/main">
              <a:ext uri="{FF2B5EF4-FFF2-40B4-BE49-F238E27FC236}">
                <a16:creationId xmlns:a16="http://schemas.microsoft.com/office/drawing/2014/main" id="{E2BB33C1-1DE6-4264-A256-92C92C981756}"/>
              </a:ext>
            </a:extLst>
          </p:cNvPr>
          <p:cNvSpPr>
            <a:spLocks xmlns:a="http://schemas.openxmlformats.org/drawingml/2006/main" noGrp="1"/>
          </p:cNvSpPr>
          <p:nvPr/>
        </p:nvSpPr>
        <p:spPr>
          <a:xfrm xmlns:a="http://schemas.openxmlformats.org/drawingml/2006/main">
            <a:off x="3476625"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DA05FACF-CBF7-4482-94B8-76BC6B41B363}"/>
              </a:ext>
            </a:extLst>
          </p:cNvPr>
          <p:cNvSpPr>
            <a:spLocks xmlns:a="http://schemas.openxmlformats.org/drawingml/2006/main" noGrp="1"/>
          </p:cNvSpPr>
          <p:nvPr/>
        </p:nvSpPr>
        <p:spPr>
          <a:xfrm xmlns:a="http://schemas.openxmlformats.org/drawingml/2006/main">
            <a:off x="3648075"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DF84B94-0909-4FF1-9686-E0755A99C4B2}"/>
              </a:ext>
            </a:extLst>
          </p:cNvPr>
          <p:cNvSpPr>
            <a:spLocks xmlns:a="http://schemas.openxmlformats.org/drawingml/2006/main" noGrp="1"/>
          </p:cNvSpPr>
          <p:nvPr/>
        </p:nvSpPr>
        <p:spPr>
          <a:xfrm xmlns:a="http://schemas.openxmlformats.org/drawingml/2006/main">
            <a:off x="3648075"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6B0124A-B57E-4975-ADEA-6D1DC3156B58}"/>
              </a:ext>
            </a:extLst>
          </p:cNvPr>
          <p:cNvSpPr>
            <a:spLocks xmlns:a="http://schemas.openxmlformats.org/drawingml/2006/main" noGrp="1"/>
          </p:cNvSpPr>
          <p:nvPr/>
        </p:nvSpPr>
        <p:spPr>
          <a:xfrm xmlns:a="http://schemas.openxmlformats.org/drawingml/2006/main">
            <a:off x="3801999"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9E0A038-D94D-4D20-86EA-4547B2815247}"/>
              </a:ext>
            </a:extLst>
          </p:cNvPr>
          <p:cNvSpPr>
            <a:spLocks xmlns:a="http://schemas.openxmlformats.org/drawingml/2006/main" noGrp="1"/>
          </p:cNvSpPr>
          <p:nvPr/>
        </p:nvSpPr>
        <p:spPr>
          <a:xfrm xmlns:a="http://schemas.openxmlformats.org/drawingml/2006/main">
            <a:off x="4013645"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069218F-8ED0-4C40-9BC9-4AB05C57D7AC}"/>
              </a:ext>
            </a:extLst>
          </p:cNvPr>
          <p:cNvSpPr>
            <a:spLocks xmlns:a="http://schemas.openxmlformats.org/drawingml/2006/main" noGrp="1"/>
          </p:cNvSpPr>
          <p:nvPr/>
        </p:nvSpPr>
        <p:spPr>
          <a:xfrm xmlns:a="http://schemas.openxmlformats.org/drawingml/2006/main">
            <a:off x="4244531"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D82371F-B784-4A04-909D-8377A9AECA49}"/>
              </a:ext>
            </a:extLst>
          </p:cNvPr>
          <p:cNvSpPr>
            <a:spLocks xmlns:a="http://schemas.openxmlformats.org/drawingml/2006/main" noGrp="1"/>
          </p:cNvSpPr>
          <p:nvPr/>
        </p:nvSpPr>
        <p:spPr>
          <a:xfrm xmlns:a="http://schemas.openxmlformats.org/drawingml/2006/main">
            <a:off x="4475417" y="1865567"/>
            <a:ext cx="21908" cy="601408"/>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E814E81-076C-4905-AB0A-498CE333DEB5}"/>
              </a:ext>
            </a:extLst>
          </p:cNvPr>
          <p:cNvSpPr>
            <a:spLocks xmlns:a="http://schemas.openxmlformats.org/drawingml/2006/main" noGrp="1"/>
          </p:cNvSpPr>
          <p:nvPr/>
        </p:nvSpPr>
        <p:spPr>
          <a:xfrm xmlns:a="http://schemas.openxmlformats.org/drawingml/2006/main">
            <a:off x="4706303"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541B41C-993F-46FF-A259-9ECDB735A96A}"/>
              </a:ext>
            </a:extLst>
          </p:cNvPr>
          <p:cNvSpPr>
            <a:spLocks xmlns:a="http://schemas.openxmlformats.org/drawingml/2006/main" noGrp="1"/>
          </p:cNvSpPr>
          <p:nvPr/>
        </p:nvSpPr>
        <p:spPr>
          <a:xfrm xmlns:a="http://schemas.openxmlformats.org/drawingml/2006/main">
            <a:off x="4937189" y="1733550"/>
            <a:ext cx="21908" cy="7334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3EF1C62-7580-43A9-9DDF-8401518C13B8}"/>
              </a:ext>
            </a:extLst>
          </p:cNvPr>
          <p:cNvSpPr>
            <a:spLocks xmlns:a="http://schemas.openxmlformats.org/drawingml/2006/main" noGrp="1"/>
          </p:cNvSpPr>
          <p:nvPr/>
        </p:nvSpPr>
        <p:spPr>
          <a:xfrm xmlns:a="http://schemas.openxmlformats.org/drawingml/2006/main">
            <a:off x="5168075"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B6DAF0D-AAF2-432F-A91A-A842E9C810BC}"/>
              </a:ext>
            </a:extLst>
          </p:cNvPr>
          <p:cNvSpPr>
            <a:spLocks xmlns:a="http://schemas.openxmlformats.org/drawingml/2006/main" noGrp="1"/>
          </p:cNvSpPr>
          <p:nvPr/>
        </p:nvSpPr>
        <p:spPr>
          <a:xfrm xmlns:a="http://schemas.openxmlformats.org/drawingml/2006/main">
            <a:off x="5398960"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98347B0-672B-4F2D-9D33-88B63D58FC3D}"/>
              </a:ext>
            </a:extLst>
          </p:cNvPr>
          <p:cNvSpPr>
            <a:spLocks xmlns:a="http://schemas.openxmlformats.org/drawingml/2006/main" noGrp="1"/>
          </p:cNvSpPr>
          <p:nvPr/>
        </p:nvSpPr>
        <p:spPr>
          <a:xfrm xmlns:a="http://schemas.openxmlformats.org/drawingml/2006/main">
            <a:off x="3924300" y="2667000"/>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32"/>
          </a:bodyPr>
          <a:lstStyle xmlns:a="http://schemas.openxmlformats.org/drawingml/2006/main"/>
          <a:p xmlns:a="http://schemas.openxmlformats.org/drawingml/2006/main">
            <a:pPr algn="ct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定向衰减峰</a:t>
            </a:r>
          </a:p>
        </p:txBody>
      </p:sp>
      <p:sp>
        <p:nvSpPr>
          <p:cNvPr id="40" name="">
            <a:extLst xmlns:a="http://schemas.openxmlformats.org/drawingml/2006/main">
              <a:ext uri="{FF2B5EF4-FFF2-40B4-BE49-F238E27FC236}">
                <a16:creationId xmlns:a16="http://schemas.microsoft.com/office/drawing/2014/main" id="{2BD6A840-4A09-48E8-9A76-043A961B2ACE}"/>
              </a:ext>
            </a:extLst>
          </p:cNvPr>
          <p:cNvSpPr>
            <a:spLocks xmlns:a="http://schemas.openxmlformats.org/drawingml/2006/main" noGrp="1"/>
          </p:cNvSpPr>
          <p:nvPr/>
        </p:nvSpPr>
        <p:spPr>
          <a:xfrm xmlns:a="http://schemas.openxmlformats.org/drawingml/2006/main">
            <a:off x="3467100"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训练期利用已知真值逐峰试探，保留能改善 margin 的衰减位置；推理期不使用真值。</a:t>
            </a:r>
          </a:p>
        </p:txBody>
      </p:sp>
      <p:sp>
        <p:nvSpPr>
          <p:cNvPr id="41" name="">
            <a:extLst xmlns:a="http://schemas.openxmlformats.org/drawingml/2006/main">
              <a:ext uri="{FF2B5EF4-FFF2-40B4-BE49-F238E27FC236}">
                <a16:creationId xmlns:a16="http://schemas.microsoft.com/office/drawing/2014/main" id="{A6015833-11B6-42C4-B31E-47E2C8FDC54F}"/>
              </a:ext>
            </a:extLst>
          </p:cNvPr>
          <p:cNvSpPr>
            <a:spLocks xmlns:a="http://schemas.openxmlformats.org/drawingml/2006/main" noGrp="1"/>
          </p:cNvSpPr>
          <p:nvPr/>
        </p:nvSpPr>
        <p:spPr>
          <a:xfrm xmlns:a="http://schemas.openxmlformats.org/drawingml/2006/main">
            <a:off x="5934075"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7D242D9-ABE1-49B1-9350-64D040D3B2EE}"/>
              </a:ext>
            </a:extLst>
          </p:cNvPr>
          <p:cNvSpPr>
            <a:spLocks xmlns:a="http://schemas.openxmlformats.org/drawingml/2006/main" noGrp="1"/>
          </p:cNvSpPr>
          <p:nvPr/>
        </p:nvSpPr>
        <p:spPr>
          <a:xfrm xmlns:a="http://schemas.openxmlformats.org/drawingml/2006/main">
            <a:off x="6143625" y="1000125"/>
            <a:ext cx="26670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3" name="">
            <a:extLst xmlns:a="http://schemas.openxmlformats.org/drawingml/2006/main">
              <a:ext uri="{FF2B5EF4-FFF2-40B4-BE49-F238E27FC236}">
                <a16:creationId xmlns:a16="http://schemas.microsoft.com/office/drawing/2014/main" id="{FFA25C5B-F106-4D74-8082-B18E240B3F7A}"/>
              </a:ext>
            </a:extLst>
          </p:cNvPr>
          <p:cNvSpPr>
            <a:spLocks xmlns:a="http://schemas.openxmlformats.org/drawingml/2006/main" noGrp="1"/>
          </p:cNvSpPr>
          <p:nvPr/>
        </p:nvSpPr>
        <p:spPr>
          <a:xfrm xmlns:a="http://schemas.openxmlformats.org/drawingml/2006/main">
            <a:off x="6286500"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3｜匹配随机对照</a:t>
            </a:r>
          </a:p>
        </p:txBody>
      </p:sp>
      <p:sp>
        <p:nvSpPr>
          <p:cNvPr id="44" name="">
            <a:extLst xmlns:a="http://schemas.openxmlformats.org/drawingml/2006/main">
              <a:ext uri="{FF2B5EF4-FFF2-40B4-BE49-F238E27FC236}">
                <a16:creationId xmlns:a16="http://schemas.microsoft.com/office/drawing/2014/main" id="{68CEB7CE-B530-4484-AED1-9EBA2B579C78}"/>
              </a:ext>
            </a:extLst>
          </p:cNvPr>
          <p:cNvSpPr>
            <a:spLocks xmlns:a="http://schemas.openxmlformats.org/drawingml/2006/main" noGrp="1"/>
          </p:cNvSpPr>
          <p:nvPr/>
        </p:nvSpPr>
        <p:spPr>
          <a:xfrm xmlns:a="http://schemas.openxmlformats.org/drawingml/2006/main">
            <a:off x="6381750"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5" name="">
            <a:extLst xmlns:a="http://schemas.openxmlformats.org/drawingml/2006/main">
              <a:ext uri="{FF2B5EF4-FFF2-40B4-BE49-F238E27FC236}">
                <a16:creationId xmlns:a16="http://schemas.microsoft.com/office/drawing/2014/main" id="{BC8BA745-2EC6-4FFA-8315-1373271DCED5}"/>
              </a:ext>
            </a:extLst>
          </p:cNvPr>
          <p:cNvSpPr>
            <a:spLocks xmlns:a="http://schemas.openxmlformats.org/drawingml/2006/main" noGrp="1"/>
          </p:cNvSpPr>
          <p:nvPr/>
        </p:nvSpPr>
        <p:spPr>
          <a:xfrm xmlns:a="http://schemas.openxmlformats.org/drawingml/2006/main">
            <a:off x="6553200"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932B207-8304-4969-9AC1-F0D59DDDC38C}"/>
              </a:ext>
            </a:extLst>
          </p:cNvPr>
          <p:cNvSpPr>
            <a:spLocks xmlns:a="http://schemas.openxmlformats.org/drawingml/2006/main" noGrp="1"/>
          </p:cNvSpPr>
          <p:nvPr/>
        </p:nvSpPr>
        <p:spPr>
          <a:xfrm xmlns:a="http://schemas.openxmlformats.org/drawingml/2006/main">
            <a:off x="6553200"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8810080-54A7-4CC3-BCA2-35E646AC7CB0}"/>
              </a:ext>
            </a:extLst>
          </p:cNvPr>
          <p:cNvSpPr>
            <a:spLocks xmlns:a="http://schemas.openxmlformats.org/drawingml/2006/main" noGrp="1"/>
          </p:cNvSpPr>
          <p:nvPr/>
        </p:nvSpPr>
        <p:spPr>
          <a:xfrm xmlns:a="http://schemas.openxmlformats.org/drawingml/2006/main">
            <a:off x="6707124"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063FAA1-46E0-4D4F-83DD-D68524BFA063}"/>
              </a:ext>
            </a:extLst>
          </p:cNvPr>
          <p:cNvSpPr>
            <a:spLocks xmlns:a="http://schemas.openxmlformats.org/drawingml/2006/main" noGrp="1"/>
          </p:cNvSpPr>
          <p:nvPr/>
        </p:nvSpPr>
        <p:spPr>
          <a:xfrm xmlns:a="http://schemas.openxmlformats.org/drawingml/2006/main">
            <a:off x="6918770" y="2070925"/>
            <a:ext cx="21908" cy="396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BB603A9-445A-40C4-BA4F-F7D0B8809ED5}"/>
              </a:ext>
            </a:extLst>
          </p:cNvPr>
          <p:cNvSpPr>
            <a:spLocks xmlns:a="http://schemas.openxmlformats.org/drawingml/2006/main" noGrp="1"/>
          </p:cNvSpPr>
          <p:nvPr/>
        </p:nvSpPr>
        <p:spPr>
          <a:xfrm xmlns:a="http://schemas.openxmlformats.org/drawingml/2006/main">
            <a:off x="7149656"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0293C1B-042C-42CD-B5DC-AB0069A11A76}"/>
              </a:ext>
            </a:extLst>
          </p:cNvPr>
          <p:cNvSpPr>
            <a:spLocks xmlns:a="http://schemas.openxmlformats.org/drawingml/2006/main" noGrp="1"/>
          </p:cNvSpPr>
          <p:nvPr/>
        </p:nvSpPr>
        <p:spPr>
          <a:xfrm xmlns:a="http://schemas.openxmlformats.org/drawingml/2006/main">
            <a:off x="7380542"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80659B8-810C-4674-AE40-E128C7984441}"/>
              </a:ext>
            </a:extLst>
          </p:cNvPr>
          <p:cNvSpPr>
            <a:spLocks xmlns:a="http://schemas.openxmlformats.org/drawingml/2006/main" noGrp="1"/>
          </p:cNvSpPr>
          <p:nvPr/>
        </p:nvSpPr>
        <p:spPr>
          <a:xfrm xmlns:a="http://schemas.openxmlformats.org/drawingml/2006/main">
            <a:off x="7611428"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9425B1B-900D-4CC3-ACB2-96B366F6FEA6}"/>
              </a:ext>
            </a:extLst>
          </p:cNvPr>
          <p:cNvSpPr>
            <a:spLocks xmlns:a="http://schemas.openxmlformats.org/drawingml/2006/main" noGrp="1"/>
          </p:cNvSpPr>
          <p:nvPr/>
        </p:nvSpPr>
        <p:spPr>
          <a:xfrm xmlns:a="http://schemas.openxmlformats.org/drawingml/2006/main">
            <a:off x="7842314"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F09A509-DAF3-4E6B-983E-245E398EA6A4}"/>
              </a:ext>
            </a:extLst>
          </p:cNvPr>
          <p:cNvSpPr>
            <a:spLocks xmlns:a="http://schemas.openxmlformats.org/drawingml/2006/main" noGrp="1"/>
          </p:cNvSpPr>
          <p:nvPr/>
        </p:nvSpPr>
        <p:spPr>
          <a:xfrm xmlns:a="http://schemas.openxmlformats.org/drawingml/2006/main">
            <a:off x="8073200" y="2129600"/>
            <a:ext cx="21908" cy="337376"/>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4800EA9-0943-4E87-B41F-5E75193C53D0}"/>
              </a:ext>
            </a:extLst>
          </p:cNvPr>
          <p:cNvSpPr>
            <a:spLocks xmlns:a="http://schemas.openxmlformats.org/drawingml/2006/main" noGrp="1"/>
          </p:cNvSpPr>
          <p:nvPr/>
        </p:nvSpPr>
        <p:spPr>
          <a:xfrm xmlns:a="http://schemas.openxmlformats.org/drawingml/2006/main">
            <a:off x="8304085"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6BD42B6-90F3-40FC-BEC9-AFF0F77764D7}"/>
              </a:ext>
            </a:extLst>
          </p:cNvPr>
          <p:cNvSpPr>
            <a:spLocks xmlns:a="http://schemas.openxmlformats.org/drawingml/2006/main" noGrp="1"/>
          </p:cNvSpPr>
          <p:nvPr/>
        </p:nvSpPr>
        <p:spPr>
          <a:xfrm xmlns:a="http://schemas.openxmlformats.org/drawingml/2006/main">
            <a:off x="6829425" y="2667000"/>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32"/>
          </a:bodyPr>
          <a:lstStyle xmlns:a="http://schemas.openxmlformats.org/drawingml/2006/main"/>
          <a:p xmlns:a="http://schemas.openxmlformats.org/drawingml/2006/main">
            <a:pPr algn="ct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匹配随机峰</a:t>
            </a:r>
          </a:p>
        </p:txBody>
      </p:sp>
      <p:sp>
        <p:nvSpPr>
          <p:cNvPr id="56" name="">
            <a:extLst xmlns:a="http://schemas.openxmlformats.org/drawingml/2006/main">
              <a:ext uri="{FF2B5EF4-FFF2-40B4-BE49-F238E27FC236}">
                <a16:creationId xmlns:a16="http://schemas.microsoft.com/office/drawing/2014/main" id="{10A42525-097E-4BE8-8DA0-E981C8EBE939}"/>
              </a:ext>
            </a:extLst>
          </p:cNvPr>
          <p:cNvSpPr>
            <a:spLocks xmlns:a="http://schemas.openxmlformats.org/drawingml/2006/main" noGrp="1"/>
          </p:cNvSpPr>
          <p:nvPr/>
        </p:nvSpPr>
        <p:spPr>
          <a:xfrm xmlns:a="http://schemas.openxmlformats.org/drawingml/2006/main">
            <a:off x="6372225"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删除峰数、强度和 m/z 区间相匹配，只改变“删的是哪一个峰”，作为独立训练对照臂。</a:t>
            </a:r>
          </a:p>
        </p:txBody>
      </p:sp>
      <p:sp>
        <p:nvSpPr>
          <p:cNvPr id="57" name="">
            <a:extLst xmlns:a="http://schemas.openxmlformats.org/drawingml/2006/main">
              <a:ext uri="{FF2B5EF4-FFF2-40B4-BE49-F238E27FC236}">
                <a16:creationId xmlns:a16="http://schemas.microsoft.com/office/drawing/2014/main" id="{6FD376CE-7DF2-440D-A95D-388DA507B293}"/>
              </a:ext>
            </a:extLst>
          </p:cNvPr>
          <p:cNvSpPr>
            <a:spLocks xmlns:a="http://schemas.openxmlformats.org/drawingml/2006/main" noGrp="1"/>
          </p:cNvSpPr>
          <p:nvPr/>
        </p:nvSpPr>
        <p:spPr>
          <a:xfrm xmlns:a="http://schemas.openxmlformats.org/drawingml/2006/main">
            <a:off x="8839200"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AC7CED33-B4C7-4A23-A7A1-F2FB1151B14D}"/>
              </a:ext>
            </a:extLst>
          </p:cNvPr>
          <p:cNvSpPr>
            <a:spLocks xmlns:a="http://schemas.openxmlformats.org/drawingml/2006/main" noGrp="1"/>
          </p:cNvSpPr>
          <p:nvPr/>
        </p:nvSpPr>
        <p:spPr>
          <a:xfrm xmlns:a="http://schemas.openxmlformats.org/drawingml/2006/main">
            <a:off x="9048750" y="1000125"/>
            <a:ext cx="2667000" cy="32385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9" name="">
            <a:extLst xmlns:a="http://schemas.openxmlformats.org/drawingml/2006/main">
              <a:ext uri="{FF2B5EF4-FFF2-40B4-BE49-F238E27FC236}">
                <a16:creationId xmlns:a16="http://schemas.microsoft.com/office/drawing/2014/main" id="{EF37D570-FF1C-4601-AF76-FC734DB74008}"/>
              </a:ext>
            </a:extLst>
          </p:cNvPr>
          <p:cNvSpPr>
            <a:spLocks xmlns:a="http://schemas.openxmlformats.org/drawingml/2006/main" noGrp="1"/>
          </p:cNvSpPr>
          <p:nvPr/>
        </p:nvSpPr>
        <p:spPr>
          <a:xfrm xmlns:a="http://schemas.openxmlformats.org/drawingml/2006/main">
            <a:off x="9191625"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4｜干净谱保护</a:t>
            </a:r>
          </a:p>
        </p:txBody>
      </p:sp>
      <p:sp>
        <p:nvSpPr>
          <p:cNvPr id="60" name="">
            <a:extLst xmlns:a="http://schemas.openxmlformats.org/drawingml/2006/main">
              <a:ext uri="{FF2B5EF4-FFF2-40B4-BE49-F238E27FC236}">
                <a16:creationId xmlns:a16="http://schemas.microsoft.com/office/drawing/2014/main" id="{FAC86B45-F75E-40DB-8918-DA33895B06C0}"/>
              </a:ext>
            </a:extLst>
          </p:cNvPr>
          <p:cNvSpPr>
            <a:spLocks xmlns:a="http://schemas.openxmlformats.org/drawingml/2006/main" noGrp="1"/>
          </p:cNvSpPr>
          <p:nvPr/>
        </p:nvSpPr>
        <p:spPr>
          <a:xfrm xmlns:a="http://schemas.openxmlformats.org/drawingml/2006/main">
            <a:off x="9286875"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00867688-62FB-4509-8BCE-7CE12EFA7D9D}"/>
              </a:ext>
            </a:extLst>
          </p:cNvPr>
          <p:cNvSpPr>
            <a:spLocks xmlns:a="http://schemas.openxmlformats.org/drawingml/2006/main" noGrp="1"/>
          </p:cNvSpPr>
          <p:nvPr/>
        </p:nvSpPr>
        <p:spPr>
          <a:xfrm xmlns:a="http://schemas.openxmlformats.org/drawingml/2006/main">
            <a:off x="9458325"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8C80910-B6A7-41C4-982C-DAEF74AE2E7E}"/>
              </a:ext>
            </a:extLst>
          </p:cNvPr>
          <p:cNvSpPr>
            <a:spLocks xmlns:a="http://schemas.openxmlformats.org/drawingml/2006/main" noGrp="1"/>
          </p:cNvSpPr>
          <p:nvPr/>
        </p:nvSpPr>
        <p:spPr>
          <a:xfrm xmlns:a="http://schemas.openxmlformats.org/drawingml/2006/main">
            <a:off x="9458325"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B8299E7-B1D0-4C98-9C82-5AFB5FB7E5C1}"/>
              </a:ext>
            </a:extLst>
          </p:cNvPr>
          <p:cNvSpPr>
            <a:spLocks xmlns:a="http://schemas.openxmlformats.org/drawingml/2006/main" noGrp="1"/>
          </p:cNvSpPr>
          <p:nvPr/>
        </p:nvSpPr>
        <p:spPr>
          <a:xfrm xmlns:a="http://schemas.openxmlformats.org/drawingml/2006/main">
            <a:off x="9612249"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A06A89F-1E8A-41A3-9215-B976E7CFB27C}"/>
              </a:ext>
            </a:extLst>
          </p:cNvPr>
          <p:cNvSpPr>
            <a:spLocks xmlns:a="http://schemas.openxmlformats.org/drawingml/2006/main" noGrp="1"/>
          </p:cNvSpPr>
          <p:nvPr/>
        </p:nvSpPr>
        <p:spPr>
          <a:xfrm xmlns:a="http://schemas.openxmlformats.org/drawingml/2006/main">
            <a:off x="9823895"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7335AF53-4696-465F-A75E-DBF8697944D1}"/>
              </a:ext>
            </a:extLst>
          </p:cNvPr>
          <p:cNvSpPr>
            <a:spLocks xmlns:a="http://schemas.openxmlformats.org/drawingml/2006/main" noGrp="1"/>
          </p:cNvSpPr>
          <p:nvPr/>
        </p:nvSpPr>
        <p:spPr>
          <a:xfrm xmlns:a="http://schemas.openxmlformats.org/drawingml/2006/main">
            <a:off x="10054780"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64FEFF4-E7CD-4E7D-8E6A-5A9217F01B7B}"/>
              </a:ext>
            </a:extLst>
          </p:cNvPr>
          <p:cNvSpPr>
            <a:spLocks xmlns:a="http://schemas.openxmlformats.org/drawingml/2006/main" noGrp="1"/>
          </p:cNvSpPr>
          <p:nvPr/>
        </p:nvSpPr>
        <p:spPr>
          <a:xfrm xmlns:a="http://schemas.openxmlformats.org/drawingml/2006/main">
            <a:off x="10285666"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AE38FB46-69EA-40A1-A522-69572EA02E97}"/>
              </a:ext>
            </a:extLst>
          </p:cNvPr>
          <p:cNvSpPr>
            <a:spLocks xmlns:a="http://schemas.openxmlformats.org/drawingml/2006/main" noGrp="1"/>
          </p:cNvSpPr>
          <p:nvPr/>
        </p:nvSpPr>
        <p:spPr>
          <a:xfrm xmlns:a="http://schemas.openxmlformats.org/drawingml/2006/main">
            <a:off x="10516553"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E7B0EEE-9705-40AC-940D-2CD8FEE8BAE8}"/>
              </a:ext>
            </a:extLst>
          </p:cNvPr>
          <p:cNvSpPr>
            <a:spLocks xmlns:a="http://schemas.openxmlformats.org/drawingml/2006/main" noGrp="1"/>
          </p:cNvSpPr>
          <p:nvPr/>
        </p:nvSpPr>
        <p:spPr>
          <a:xfrm xmlns:a="http://schemas.openxmlformats.org/drawingml/2006/main">
            <a:off x="10747439"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9C4B2D74-595E-40FE-B87E-4F37DDC16A87}"/>
              </a:ext>
            </a:extLst>
          </p:cNvPr>
          <p:cNvSpPr>
            <a:spLocks xmlns:a="http://schemas.openxmlformats.org/drawingml/2006/main" noGrp="1"/>
          </p:cNvSpPr>
          <p:nvPr/>
        </p:nvSpPr>
        <p:spPr>
          <a:xfrm xmlns:a="http://schemas.openxmlformats.org/drawingml/2006/main">
            <a:off x="10978325"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ABEFE966-52F9-49F0-A8CA-C40E7528D057}"/>
              </a:ext>
            </a:extLst>
          </p:cNvPr>
          <p:cNvSpPr>
            <a:spLocks xmlns:a="http://schemas.openxmlformats.org/drawingml/2006/main" noGrp="1"/>
          </p:cNvSpPr>
          <p:nvPr/>
        </p:nvSpPr>
        <p:spPr>
          <a:xfrm xmlns:a="http://schemas.openxmlformats.org/drawingml/2006/main">
            <a:off x="11209211"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1D9C37E0-3851-41D0-860A-73EDE6E94926}"/>
              </a:ext>
            </a:extLst>
          </p:cNvPr>
          <p:cNvSpPr>
            <a:spLocks xmlns:a="http://schemas.openxmlformats.org/drawingml/2006/main" noGrp="1"/>
          </p:cNvSpPr>
          <p:nvPr/>
        </p:nvSpPr>
        <p:spPr>
          <a:xfrm xmlns:a="http://schemas.openxmlformats.org/drawingml/2006/main">
            <a:off x="9277350"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原始谱图始终保留，防止模型只适应人工扰动而损伤正常查询。</a:t>
            </a:r>
          </a:p>
        </p:txBody>
      </p:sp>
      <p:sp>
        <p:nvSpPr>
          <p:cNvPr id="72" name="">
            <a:extLst xmlns:a="http://schemas.openxmlformats.org/drawingml/2006/main">
              <a:ext uri="{FF2B5EF4-FFF2-40B4-BE49-F238E27FC236}">
                <a16:creationId xmlns:a16="http://schemas.microsoft.com/office/drawing/2014/main" id="{5E1D712A-9B27-400C-AAAD-0AAF8062BB9D}"/>
              </a:ext>
            </a:extLst>
          </p:cNvPr>
          <p:cNvSpPr>
            <a:spLocks xmlns:a="http://schemas.openxmlformats.org/drawingml/2006/main" noGrp="1"/>
          </p:cNvSpPr>
          <p:nvPr/>
        </p:nvSpPr>
        <p:spPr>
          <a:xfrm xmlns:a="http://schemas.openxmlformats.org/drawingml/2006/main">
            <a:off x="762000" y="4572000"/>
            <a:ext cx="106680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73" name="">
            <a:extLst xmlns:a="http://schemas.openxmlformats.org/drawingml/2006/main">
              <a:ext uri="{FF2B5EF4-FFF2-40B4-BE49-F238E27FC236}">
                <a16:creationId xmlns:a16="http://schemas.microsoft.com/office/drawing/2014/main" id="{A2AE2EBD-201D-444B-B8A8-9D3701B150A3}"/>
              </a:ext>
            </a:extLst>
          </p:cNvPr>
          <p:cNvSpPr>
            <a:spLocks xmlns:a="http://schemas.openxmlformats.org/drawingml/2006/main" noGrp="1"/>
          </p:cNvSpPr>
          <p:nvPr/>
        </p:nvSpPr>
        <p:spPr>
          <a:xfrm xmlns:a="http://schemas.openxmlformats.org/drawingml/2006/main">
            <a:off x="952500" y="47148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定向训练臂</a:t>
            </a:r>
          </a:p>
        </p:txBody>
      </p:sp>
      <p:sp>
        <p:nvSpPr>
          <p:cNvPr id="74" name="">
            <a:extLst xmlns:a="http://schemas.openxmlformats.org/drawingml/2006/main">
              <a:ext uri="{FF2B5EF4-FFF2-40B4-BE49-F238E27FC236}">
                <a16:creationId xmlns:a16="http://schemas.microsoft.com/office/drawing/2014/main" id="{1D032ADF-F406-4D49-86B2-156D0D5876F8}"/>
              </a:ext>
            </a:extLst>
          </p:cNvPr>
          <p:cNvSpPr>
            <a:spLocks xmlns:a="http://schemas.openxmlformats.org/drawingml/2006/main" noGrp="1"/>
          </p:cNvSpPr>
          <p:nvPr/>
        </p:nvSpPr>
        <p:spPr>
          <a:xfrm xmlns:a="http://schemas.openxmlformats.org/drawingml/2006/main">
            <a:off x="2762250" y="471487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干净 query  +  定向扰动 query  +  真实候选参考谱  +  最强错误候选参考谱</a:t>
            </a:r>
          </a:p>
        </p:txBody>
      </p:sp>
      <p:sp>
        <p:nvSpPr>
          <p:cNvPr id="75" name="">
            <a:extLst xmlns:a="http://schemas.openxmlformats.org/drawingml/2006/main">
              <a:ext uri="{FF2B5EF4-FFF2-40B4-BE49-F238E27FC236}">
                <a16:creationId xmlns:a16="http://schemas.microsoft.com/office/drawing/2014/main" id="{B03F6EC7-A869-4F34-8246-E6ACF71E8A83}"/>
              </a:ext>
            </a:extLst>
          </p:cNvPr>
          <p:cNvSpPr>
            <a:spLocks xmlns:a="http://schemas.openxmlformats.org/drawingml/2006/main" noGrp="1"/>
          </p:cNvSpPr>
          <p:nvPr/>
        </p:nvSpPr>
        <p:spPr>
          <a:xfrm xmlns:a="http://schemas.openxmlformats.org/drawingml/2006/main">
            <a:off x="1476375" y="509587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ctr">
              <a:defRPr sz="1238" b="0" i="0">
                <a:solidFill>
                  <a:srgbClr val="5B5B5B"/>
                </a:solidFill>
                <a:latin typeface="Microsoft YaHei"/>
                <a:ea typeface="Microsoft YaHei"/>
                <a:cs typeface="Microsoft YaHei"/>
              </a:defRPr>
            </a:pPr>
            <a:r>
              <a:rPr sz="1238" b="0" i="0">
                <a:solidFill>
                  <a:srgbClr val="5B5B5B"/>
                </a:solidFill>
                <a:latin typeface="Microsoft YaHei"/>
                <a:ea typeface="Microsoft YaHei"/>
                <a:cs typeface="Microsoft YaHei"/>
              </a:rPr>
              <a:t>匹配随机不是同一训练单元的额外输入，而是同 query、同正负参考、同 batch 顺序和同训练预算的独立对照臂。</a:t>
            </a:r>
          </a:p>
        </p:txBody>
      </p:sp>
      <p:sp>
        <p:nvSpPr>
          <p:cNvPr id="76" name="">
            <a:extLst xmlns:a="http://schemas.openxmlformats.org/drawingml/2006/main">
              <a:ext uri="{FF2B5EF4-FFF2-40B4-BE49-F238E27FC236}">
                <a16:creationId xmlns:a16="http://schemas.microsoft.com/office/drawing/2014/main" id="{F905AB43-85C6-4121-BA50-93D91EA4A27D}"/>
              </a:ext>
            </a:extLst>
          </p:cNvPr>
          <p:cNvSpPr>
            <a:spLocks xmlns:a="http://schemas.openxmlformats.org/drawingml/2006/main" noGrp="1"/>
          </p:cNvSpPr>
          <p:nvPr/>
        </p:nvSpPr>
        <p:spPr>
          <a:xfrm xmlns:a="http://schemas.openxmlformats.org/drawingml/2006/main">
            <a:off x="1333500" y="5667375"/>
            <a:ext cx="9525000" cy="4286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77" name="">
            <a:extLst xmlns:a="http://schemas.openxmlformats.org/drawingml/2006/main">
              <a:ext uri="{FF2B5EF4-FFF2-40B4-BE49-F238E27FC236}">
                <a16:creationId xmlns:a16="http://schemas.microsoft.com/office/drawing/2014/main" id="{1BCAD46D-7289-4F38-A59A-02910DA005E9}"/>
              </a:ext>
            </a:extLst>
          </p:cNvPr>
          <p:cNvSpPr>
            <a:spLocks xmlns:a="http://schemas.openxmlformats.org/drawingml/2006/main" noGrp="1"/>
          </p:cNvSpPr>
          <p:nvPr/>
        </p:nvSpPr>
        <p:spPr>
          <a:xfrm xmlns:a="http://schemas.openxmlformats.org/drawingml/2006/main">
            <a:off x="1571625" y="5762625"/>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动作发现与模型训练严格分开：先验证峰动作具有方向，再检验这种方向能否迁移到 clean-spectrum encoder。</a:t>
            </a:r>
          </a:p>
        </p:txBody>
      </p:sp>
    </p:spTree>
    <p:extLst>
      <p:ext uri="{BB962C8B-B14F-4D97-AF65-F5344CB8AC3E}">
        <p14:creationId xmlns:p14="http://schemas.microsoft.com/office/powerpoint/2010/main" val="4682088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
            <a:extLst xmlns:a="http://schemas.openxmlformats.org/drawingml/2006/main">
              <a:ext uri="{FF2B5EF4-FFF2-40B4-BE49-F238E27FC236}">
                <a16:creationId xmlns:a16="http://schemas.microsoft.com/office/drawing/2014/main" id="{96B78231-2549-4CF0-A51C-ED17566065CA}"/>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5462AF-E8CB-4FB6-956A-5006E02A32ED}"/>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C87CBD-3338-435A-8DFF-ED96A3D3FA9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E64F12-422C-4E95-BA3A-27B5259497B5}"/>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4BB49C-231A-421A-B04D-B2741428F841}"/>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将峰级扰动构造成共享 DreaMS encoder 的微调信号</a:t>
            </a:r>
          </a:p>
        </p:txBody>
      </p:sp>
      <p:sp>
        <p:nvSpPr>
          <p:cNvPr id="6" name="">
            <a:extLst xmlns:a="http://schemas.openxmlformats.org/drawingml/2006/main">
              <a:ext uri="{FF2B5EF4-FFF2-40B4-BE49-F238E27FC236}">
                <a16:creationId xmlns:a16="http://schemas.microsoft.com/office/drawing/2014/main" id="{F0BF0BAC-5FCA-47ED-9490-479B2E0F9BEF}"/>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6896D2-51D4-49EF-8D34-82135CA7C482}"/>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BA7844-5D6A-459F-B5EC-50F6049A7601}"/>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1B13E1-AC13-42BA-96C7-3E130290D322}"/>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8D05622D-27AC-4941-AD5F-28CA0DBF9F3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74FEDB00-4461-4787-A526-DC5B60BD3B83}"/>
              </a:ext>
            </a:extLst>
          </p:cNvPr>
          <p:cNvSpPr>
            <a:spLocks xmlns:a="http://schemas.openxmlformats.org/drawingml/2006/main" noGrp="1"/>
          </p:cNvSpPr>
          <p:nvPr/>
        </p:nvSpPr>
        <p:spPr>
          <a:xfrm xmlns:a="http://schemas.openxmlformats.org/drawingml/2006/main">
            <a:off x="333375" y="1000125"/>
            <a:ext cx="2667000" cy="20955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12" name="">
            <a:extLst xmlns:a="http://schemas.openxmlformats.org/drawingml/2006/main">
              <a:ext uri="{FF2B5EF4-FFF2-40B4-BE49-F238E27FC236}">
                <a16:creationId xmlns:a16="http://schemas.microsoft.com/office/drawing/2014/main" id="{B13FD0C6-6B8D-47AA-91D8-31E9F1A599E4}"/>
              </a:ext>
            </a:extLst>
          </p:cNvPr>
          <p:cNvSpPr>
            <a:spLocks xmlns:a="http://schemas.openxmlformats.org/drawingml/2006/main" noGrp="1"/>
          </p:cNvSpPr>
          <p:nvPr/>
        </p:nvSpPr>
        <p:spPr>
          <a:xfrm xmlns:a="http://schemas.openxmlformats.org/drawingml/2006/main">
            <a:off x="476250"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1</a:t>
            </a:r>
          </a:p>
        </p:txBody>
      </p:sp>
      <p:sp>
        <p:nvSpPr>
          <p:cNvPr id="13" name="">
            <a:extLst xmlns:a="http://schemas.openxmlformats.org/drawingml/2006/main">
              <a:ext uri="{FF2B5EF4-FFF2-40B4-BE49-F238E27FC236}">
                <a16:creationId xmlns:a16="http://schemas.microsoft.com/office/drawing/2014/main" id="{33BEEC64-23B2-4260-9E34-EF0DD29C905B}"/>
              </a:ext>
            </a:extLst>
          </p:cNvPr>
          <p:cNvSpPr>
            <a:spLocks xmlns:a="http://schemas.openxmlformats.org/drawingml/2006/main" noGrp="1"/>
          </p:cNvSpPr>
          <p:nvPr/>
        </p:nvSpPr>
        <p:spPr>
          <a:xfrm xmlns:a="http://schemas.openxmlformats.org/drawingml/2006/main">
            <a:off x="904875"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输入两种视图</a:t>
            </a:r>
          </a:p>
        </p:txBody>
      </p:sp>
      <p:sp>
        <p:nvSpPr>
          <p:cNvPr id="14" name="">
            <a:extLst xmlns:a="http://schemas.openxmlformats.org/drawingml/2006/main">
              <a:ext uri="{FF2B5EF4-FFF2-40B4-BE49-F238E27FC236}">
                <a16:creationId xmlns:a16="http://schemas.microsoft.com/office/drawing/2014/main" id="{833A0380-D2AE-48E6-ACD3-5F9083D53695}"/>
              </a:ext>
            </a:extLst>
          </p:cNvPr>
          <p:cNvSpPr>
            <a:spLocks xmlns:a="http://schemas.openxmlformats.org/drawingml/2006/main" noGrp="1"/>
          </p:cNvSpPr>
          <p:nvPr/>
        </p:nvSpPr>
        <p:spPr>
          <a:xfrm xmlns:a="http://schemas.openxmlformats.org/drawingml/2006/main">
            <a:off x="600075" y="1619250"/>
            <a:ext cx="9715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B19C3512-A98C-417E-BED7-831727FAF899}"/>
              </a:ext>
            </a:extLst>
          </p:cNvPr>
          <p:cNvSpPr>
            <a:spLocks xmlns:a="http://schemas.openxmlformats.org/drawingml/2006/main" noGrp="1"/>
          </p:cNvSpPr>
          <p:nvPr/>
        </p:nvSpPr>
        <p:spPr>
          <a:xfrm xmlns:a="http://schemas.openxmlformats.org/drawingml/2006/main">
            <a:off x="771525" y="2133600"/>
            <a:ext cx="7048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296653-A90B-4535-8B5E-CA5DCC4693FF}"/>
              </a:ext>
            </a:extLst>
          </p:cNvPr>
          <p:cNvSpPr>
            <a:spLocks xmlns:a="http://schemas.openxmlformats.org/drawingml/2006/main" noGrp="1"/>
          </p:cNvSpPr>
          <p:nvPr/>
        </p:nvSpPr>
        <p:spPr>
          <a:xfrm xmlns:a="http://schemas.openxmlformats.org/drawingml/2006/main">
            <a:off x="771525" y="1695450"/>
            <a:ext cx="1428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ECCDCC5-0741-4E06-AB45-F48DE4DC9C87}"/>
              </a:ext>
            </a:extLst>
          </p:cNvPr>
          <p:cNvSpPr>
            <a:spLocks xmlns:a="http://schemas.openxmlformats.org/drawingml/2006/main" noGrp="1"/>
          </p:cNvSpPr>
          <p:nvPr/>
        </p:nvSpPr>
        <p:spPr>
          <a:xfrm xmlns:a="http://schemas.openxmlformats.org/drawingml/2006/main">
            <a:off x="827913" y="2061591"/>
            <a:ext cx="21908" cy="7200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AF07C62-9453-41D1-A9B6-20B67868CB7F}"/>
              </a:ext>
            </a:extLst>
          </p:cNvPr>
          <p:cNvSpPr>
            <a:spLocks xmlns:a="http://schemas.openxmlformats.org/drawingml/2006/main" noGrp="1"/>
          </p:cNvSpPr>
          <p:nvPr/>
        </p:nvSpPr>
        <p:spPr>
          <a:xfrm xmlns:a="http://schemas.openxmlformats.org/drawingml/2006/main">
            <a:off x="905447" y="1917573"/>
            <a:ext cx="21908" cy="21602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757A179-3445-4AF7-BAE9-7F865C660AD7}"/>
              </a:ext>
            </a:extLst>
          </p:cNvPr>
          <p:cNvSpPr>
            <a:spLocks xmlns:a="http://schemas.openxmlformats.org/drawingml/2006/main" noGrp="1"/>
          </p:cNvSpPr>
          <p:nvPr/>
        </p:nvSpPr>
        <p:spPr>
          <a:xfrm xmlns:a="http://schemas.openxmlformats.org/drawingml/2006/main">
            <a:off x="990029" y="2021586"/>
            <a:ext cx="21908" cy="1120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CC0CDF7-5C2C-434F-88AB-A36DFBFEC100}"/>
              </a:ext>
            </a:extLst>
          </p:cNvPr>
          <p:cNvSpPr>
            <a:spLocks xmlns:a="http://schemas.openxmlformats.org/drawingml/2006/main" noGrp="1"/>
          </p:cNvSpPr>
          <p:nvPr/>
        </p:nvSpPr>
        <p:spPr>
          <a:xfrm xmlns:a="http://schemas.openxmlformats.org/drawingml/2006/main">
            <a:off x="1074611" y="1805559"/>
            <a:ext cx="21908" cy="32804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BEFE4FF-9D18-43C1-A538-B271C2186707}"/>
              </a:ext>
            </a:extLst>
          </p:cNvPr>
          <p:cNvSpPr>
            <a:spLocks xmlns:a="http://schemas.openxmlformats.org/drawingml/2006/main" noGrp="1"/>
          </p:cNvSpPr>
          <p:nvPr/>
        </p:nvSpPr>
        <p:spPr>
          <a:xfrm xmlns:a="http://schemas.openxmlformats.org/drawingml/2006/main">
            <a:off x="1159193" y="1993583"/>
            <a:ext cx="21908" cy="14001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895FF4-7CC2-4395-BE88-F6F7981FA854}"/>
              </a:ext>
            </a:extLst>
          </p:cNvPr>
          <p:cNvSpPr>
            <a:spLocks xmlns:a="http://schemas.openxmlformats.org/drawingml/2006/main" noGrp="1"/>
          </p:cNvSpPr>
          <p:nvPr/>
        </p:nvSpPr>
        <p:spPr>
          <a:xfrm xmlns:a="http://schemas.openxmlformats.org/drawingml/2006/main">
            <a:off x="1243775" y="1733550"/>
            <a:ext cx="2190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28A735E-A7CE-408F-93A9-F7966D9FC38E}"/>
              </a:ext>
            </a:extLst>
          </p:cNvPr>
          <p:cNvSpPr>
            <a:spLocks xmlns:a="http://schemas.openxmlformats.org/drawingml/2006/main" noGrp="1"/>
          </p:cNvSpPr>
          <p:nvPr/>
        </p:nvSpPr>
        <p:spPr>
          <a:xfrm xmlns:a="http://schemas.openxmlformats.org/drawingml/2006/main">
            <a:off x="1328357" y="1949577"/>
            <a:ext cx="21908" cy="18402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61C182B-D7A4-471B-B652-4303C25C093E}"/>
              </a:ext>
            </a:extLst>
          </p:cNvPr>
          <p:cNvSpPr>
            <a:spLocks xmlns:a="http://schemas.openxmlformats.org/drawingml/2006/main" noGrp="1"/>
          </p:cNvSpPr>
          <p:nvPr/>
        </p:nvSpPr>
        <p:spPr>
          <a:xfrm xmlns:a="http://schemas.openxmlformats.org/drawingml/2006/main">
            <a:off x="1412939" y="2053590"/>
            <a:ext cx="21908" cy="8001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17FF2CD-4C0A-44FC-8A12-029ECE20A7D1}"/>
              </a:ext>
            </a:extLst>
          </p:cNvPr>
          <p:cNvSpPr>
            <a:spLocks xmlns:a="http://schemas.openxmlformats.org/drawingml/2006/main" noGrp="1"/>
          </p:cNvSpPr>
          <p:nvPr/>
        </p:nvSpPr>
        <p:spPr>
          <a:xfrm xmlns:a="http://schemas.openxmlformats.org/drawingml/2006/main">
            <a:off x="1762125" y="1619250"/>
            <a:ext cx="9715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174500A4-D121-4CB0-AE0B-A2AF6360E8AC}"/>
              </a:ext>
            </a:extLst>
          </p:cNvPr>
          <p:cNvSpPr>
            <a:spLocks xmlns:a="http://schemas.openxmlformats.org/drawingml/2006/main" noGrp="1"/>
          </p:cNvSpPr>
          <p:nvPr/>
        </p:nvSpPr>
        <p:spPr>
          <a:xfrm xmlns:a="http://schemas.openxmlformats.org/drawingml/2006/main">
            <a:off x="1933575" y="2133600"/>
            <a:ext cx="7048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6F4C96-53A7-4651-B74D-F6AC7BFA3765}"/>
              </a:ext>
            </a:extLst>
          </p:cNvPr>
          <p:cNvSpPr>
            <a:spLocks xmlns:a="http://schemas.openxmlformats.org/drawingml/2006/main" noGrp="1"/>
          </p:cNvSpPr>
          <p:nvPr/>
        </p:nvSpPr>
        <p:spPr>
          <a:xfrm xmlns:a="http://schemas.openxmlformats.org/drawingml/2006/main">
            <a:off x="1933575" y="1695450"/>
            <a:ext cx="1428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8D257BF-641A-444E-9383-D7E130E8F11D}"/>
              </a:ext>
            </a:extLst>
          </p:cNvPr>
          <p:cNvSpPr>
            <a:spLocks xmlns:a="http://schemas.openxmlformats.org/drawingml/2006/main" noGrp="1"/>
          </p:cNvSpPr>
          <p:nvPr/>
        </p:nvSpPr>
        <p:spPr>
          <a:xfrm xmlns:a="http://schemas.openxmlformats.org/drawingml/2006/main">
            <a:off x="1989963" y="2061591"/>
            <a:ext cx="21908" cy="7200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BE00155-32BD-4C0B-913A-F9E98F92197B}"/>
              </a:ext>
            </a:extLst>
          </p:cNvPr>
          <p:cNvSpPr>
            <a:spLocks xmlns:a="http://schemas.openxmlformats.org/drawingml/2006/main" noGrp="1"/>
          </p:cNvSpPr>
          <p:nvPr/>
        </p:nvSpPr>
        <p:spPr>
          <a:xfrm xmlns:a="http://schemas.openxmlformats.org/drawingml/2006/main">
            <a:off x="2067497" y="1917573"/>
            <a:ext cx="21908" cy="21602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5B5405B-9D03-4A97-B48B-DA7C495D21E6}"/>
              </a:ext>
            </a:extLst>
          </p:cNvPr>
          <p:cNvSpPr>
            <a:spLocks xmlns:a="http://schemas.openxmlformats.org/drawingml/2006/main" noGrp="1"/>
          </p:cNvSpPr>
          <p:nvPr/>
        </p:nvSpPr>
        <p:spPr>
          <a:xfrm xmlns:a="http://schemas.openxmlformats.org/drawingml/2006/main">
            <a:off x="2152079" y="2021586"/>
            <a:ext cx="21908" cy="1120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62DF04B-1C68-4AD9-9E80-EF7D6409639A}"/>
              </a:ext>
            </a:extLst>
          </p:cNvPr>
          <p:cNvSpPr>
            <a:spLocks xmlns:a="http://schemas.openxmlformats.org/drawingml/2006/main" noGrp="1"/>
          </p:cNvSpPr>
          <p:nvPr/>
        </p:nvSpPr>
        <p:spPr>
          <a:xfrm xmlns:a="http://schemas.openxmlformats.org/drawingml/2006/main">
            <a:off x="2236661" y="1805559"/>
            <a:ext cx="21908" cy="328041"/>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B432B59-140C-47C8-90A5-45CBD750B2C9}"/>
              </a:ext>
            </a:extLst>
          </p:cNvPr>
          <p:cNvSpPr>
            <a:spLocks xmlns:a="http://schemas.openxmlformats.org/drawingml/2006/main" noGrp="1"/>
          </p:cNvSpPr>
          <p:nvPr/>
        </p:nvSpPr>
        <p:spPr>
          <a:xfrm xmlns:a="http://schemas.openxmlformats.org/drawingml/2006/main">
            <a:off x="2321243" y="1993583"/>
            <a:ext cx="21908" cy="14001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15AA4BF-A10B-47F3-BF46-09C1419F729E}"/>
              </a:ext>
            </a:extLst>
          </p:cNvPr>
          <p:cNvSpPr>
            <a:spLocks xmlns:a="http://schemas.openxmlformats.org/drawingml/2006/main" noGrp="1"/>
          </p:cNvSpPr>
          <p:nvPr/>
        </p:nvSpPr>
        <p:spPr>
          <a:xfrm xmlns:a="http://schemas.openxmlformats.org/drawingml/2006/main">
            <a:off x="2405825" y="1733550"/>
            <a:ext cx="21908" cy="400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C552E82-4620-417D-A581-A603030D24EA}"/>
              </a:ext>
            </a:extLst>
          </p:cNvPr>
          <p:cNvSpPr>
            <a:spLocks xmlns:a="http://schemas.openxmlformats.org/drawingml/2006/main" noGrp="1"/>
          </p:cNvSpPr>
          <p:nvPr/>
        </p:nvSpPr>
        <p:spPr>
          <a:xfrm xmlns:a="http://schemas.openxmlformats.org/drawingml/2006/main">
            <a:off x="2490407" y="1949577"/>
            <a:ext cx="21908" cy="18402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263CE11-F43F-4E76-BEF8-5D24CF27AF6A}"/>
              </a:ext>
            </a:extLst>
          </p:cNvPr>
          <p:cNvSpPr>
            <a:spLocks xmlns:a="http://schemas.openxmlformats.org/drawingml/2006/main" noGrp="1"/>
          </p:cNvSpPr>
          <p:nvPr/>
        </p:nvSpPr>
        <p:spPr>
          <a:xfrm xmlns:a="http://schemas.openxmlformats.org/drawingml/2006/main">
            <a:off x="2574989" y="2053590"/>
            <a:ext cx="21908" cy="8001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A338AA4-C83A-4B62-9B62-6516373932D6}"/>
              </a:ext>
            </a:extLst>
          </p:cNvPr>
          <p:cNvSpPr>
            <a:spLocks xmlns:a="http://schemas.openxmlformats.org/drawingml/2006/main" noGrp="1"/>
          </p:cNvSpPr>
          <p:nvPr/>
        </p:nvSpPr>
        <p:spPr>
          <a:xfrm xmlns:a="http://schemas.openxmlformats.org/drawingml/2006/main">
            <a:off x="571500"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干净谱与定向扰动谱</a:t>
            </a:r>
          </a:p>
        </p:txBody>
      </p:sp>
      <p:sp>
        <p:nvSpPr>
          <p:cNvPr id="37" name="">
            <a:extLst xmlns:a="http://schemas.openxmlformats.org/drawingml/2006/main">
              <a:ext uri="{FF2B5EF4-FFF2-40B4-BE49-F238E27FC236}">
                <a16:creationId xmlns:a16="http://schemas.microsoft.com/office/drawing/2014/main" id="{F5D48491-F92E-45F6-BEA6-B51ED0A1FBFB}"/>
              </a:ext>
            </a:extLst>
          </p:cNvPr>
          <p:cNvSpPr>
            <a:spLocks xmlns:a="http://schemas.openxmlformats.org/drawingml/2006/main" noGrp="1"/>
          </p:cNvSpPr>
          <p:nvPr/>
        </p:nvSpPr>
        <p:spPr>
          <a:xfrm xmlns:a="http://schemas.openxmlformats.org/drawingml/2006/main">
            <a:off x="3028950"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E0D0AC9-1CF8-4445-AAD5-4E00D4FB6DB8}"/>
              </a:ext>
            </a:extLst>
          </p:cNvPr>
          <p:cNvSpPr>
            <a:spLocks xmlns:a="http://schemas.openxmlformats.org/drawingml/2006/main" noGrp="1"/>
          </p:cNvSpPr>
          <p:nvPr/>
        </p:nvSpPr>
        <p:spPr>
          <a:xfrm xmlns:a="http://schemas.openxmlformats.org/drawingml/2006/main">
            <a:off x="3238500" y="1000125"/>
            <a:ext cx="2667000" cy="209550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39" name="">
            <a:extLst xmlns:a="http://schemas.openxmlformats.org/drawingml/2006/main">
              <a:ext uri="{FF2B5EF4-FFF2-40B4-BE49-F238E27FC236}">
                <a16:creationId xmlns:a16="http://schemas.microsoft.com/office/drawing/2014/main" id="{FBBE8CC8-3A88-4A00-A3CE-8AFE8667F396}"/>
              </a:ext>
            </a:extLst>
          </p:cNvPr>
          <p:cNvSpPr>
            <a:spLocks xmlns:a="http://schemas.openxmlformats.org/drawingml/2006/main" noGrp="1"/>
          </p:cNvSpPr>
          <p:nvPr/>
        </p:nvSpPr>
        <p:spPr>
          <a:xfrm xmlns:a="http://schemas.openxmlformats.org/drawingml/2006/main">
            <a:off x="3381375"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2</a:t>
            </a:r>
          </a:p>
        </p:txBody>
      </p:sp>
      <p:sp>
        <p:nvSpPr>
          <p:cNvPr id="40" name="">
            <a:extLst xmlns:a="http://schemas.openxmlformats.org/drawingml/2006/main">
              <a:ext uri="{FF2B5EF4-FFF2-40B4-BE49-F238E27FC236}">
                <a16:creationId xmlns:a16="http://schemas.microsoft.com/office/drawing/2014/main" id="{32B9F27A-3D2E-4D84-B69A-ACA88A3B3F00}"/>
              </a:ext>
            </a:extLst>
          </p:cNvPr>
          <p:cNvSpPr>
            <a:spLocks xmlns:a="http://schemas.openxmlformats.org/drawingml/2006/main" noGrp="1"/>
          </p:cNvSpPr>
          <p:nvPr/>
        </p:nvSpPr>
        <p:spPr>
          <a:xfrm xmlns:a="http://schemas.openxmlformats.org/drawingml/2006/main">
            <a:off x="3810000"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共享编码</a:t>
            </a:r>
          </a:p>
        </p:txBody>
      </p:sp>
      <p:sp>
        <p:nvSpPr>
          <p:cNvPr id="41" name="">
            <a:extLst xmlns:a="http://schemas.openxmlformats.org/drawingml/2006/main">
              <a:ext uri="{FF2B5EF4-FFF2-40B4-BE49-F238E27FC236}">
                <a16:creationId xmlns:a16="http://schemas.microsoft.com/office/drawing/2014/main" id="{4B2AEC30-01C6-4704-BE11-F1F7B6ED57DF}"/>
              </a:ext>
            </a:extLst>
          </p:cNvPr>
          <p:cNvSpPr>
            <a:spLocks xmlns:a="http://schemas.openxmlformats.org/drawingml/2006/main" noGrp="1"/>
          </p:cNvSpPr>
          <p:nvPr/>
        </p:nvSpPr>
        <p:spPr>
          <a:xfrm xmlns:a="http://schemas.openxmlformats.org/drawingml/2006/main">
            <a:off x="3762375" y="1619250"/>
            <a:ext cx="1619250" cy="6858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42" name="">
            <a:extLst xmlns:a="http://schemas.openxmlformats.org/drawingml/2006/main">
              <a:ext uri="{FF2B5EF4-FFF2-40B4-BE49-F238E27FC236}">
                <a16:creationId xmlns:a16="http://schemas.microsoft.com/office/drawing/2014/main" id="{A7839CDB-8FD9-4F2E-93C8-95C39AB02C6A}"/>
              </a:ext>
            </a:extLst>
          </p:cNvPr>
          <p:cNvSpPr>
            <a:spLocks xmlns:a="http://schemas.openxmlformats.org/drawingml/2006/main" noGrp="1"/>
          </p:cNvSpPr>
          <p:nvPr/>
        </p:nvSpPr>
        <p:spPr>
          <a:xfrm xmlns:a="http://schemas.openxmlformats.org/drawingml/2006/main">
            <a:off x="3952875" y="1733550"/>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63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DreaMS</a:t>
            </a:r>
          </a:p>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encoder</a:t>
            </a:r>
          </a:p>
        </p:txBody>
      </p:sp>
      <p:sp>
        <p:nvSpPr>
          <p:cNvPr id="43" name="">
            <a:extLst xmlns:a="http://schemas.openxmlformats.org/drawingml/2006/main">
              <a:ext uri="{FF2B5EF4-FFF2-40B4-BE49-F238E27FC236}">
                <a16:creationId xmlns:a16="http://schemas.microsoft.com/office/drawing/2014/main" id="{5CA456AB-AA96-48A0-A05C-8544475E6455}"/>
              </a:ext>
            </a:extLst>
          </p:cNvPr>
          <p:cNvSpPr>
            <a:spLocks xmlns:a="http://schemas.openxmlformats.org/drawingml/2006/main" noGrp="1"/>
          </p:cNvSpPr>
          <p:nvPr/>
        </p:nvSpPr>
        <p:spPr>
          <a:xfrm xmlns:a="http://schemas.openxmlformats.org/drawingml/2006/main">
            <a:off x="3476625"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两种视图进入同一个 DreaMS</a:t>
            </a:r>
          </a:p>
        </p:txBody>
      </p:sp>
      <p:sp>
        <p:nvSpPr>
          <p:cNvPr id="44" name="">
            <a:extLst xmlns:a="http://schemas.openxmlformats.org/drawingml/2006/main">
              <a:ext uri="{FF2B5EF4-FFF2-40B4-BE49-F238E27FC236}">
                <a16:creationId xmlns:a16="http://schemas.microsoft.com/office/drawing/2014/main" id="{4A20438F-58D2-4F54-9CEC-CD69C8914B85}"/>
              </a:ext>
            </a:extLst>
          </p:cNvPr>
          <p:cNvSpPr>
            <a:spLocks xmlns:a="http://schemas.openxmlformats.org/drawingml/2006/main" noGrp="1"/>
          </p:cNvSpPr>
          <p:nvPr/>
        </p:nvSpPr>
        <p:spPr>
          <a:xfrm xmlns:a="http://schemas.openxmlformats.org/drawingml/2006/main">
            <a:off x="5934075"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F0D8548-CD59-41FD-80D6-FA16DFCBE8EA}"/>
              </a:ext>
            </a:extLst>
          </p:cNvPr>
          <p:cNvSpPr>
            <a:spLocks xmlns:a="http://schemas.openxmlformats.org/drawingml/2006/main" noGrp="1"/>
          </p:cNvSpPr>
          <p:nvPr/>
        </p:nvSpPr>
        <p:spPr>
          <a:xfrm xmlns:a="http://schemas.openxmlformats.org/drawingml/2006/main">
            <a:off x="6143625" y="1000125"/>
            <a:ext cx="2667000" cy="20955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46" name="">
            <a:extLst xmlns:a="http://schemas.openxmlformats.org/drawingml/2006/main">
              <a:ext uri="{FF2B5EF4-FFF2-40B4-BE49-F238E27FC236}">
                <a16:creationId xmlns:a16="http://schemas.microsoft.com/office/drawing/2014/main" id="{EDDC1F41-75DF-4B9E-AC81-09DE2BCA6C76}"/>
              </a:ext>
            </a:extLst>
          </p:cNvPr>
          <p:cNvSpPr>
            <a:spLocks xmlns:a="http://schemas.openxmlformats.org/drawingml/2006/main" noGrp="1"/>
          </p:cNvSpPr>
          <p:nvPr/>
        </p:nvSpPr>
        <p:spPr>
          <a:xfrm xmlns:a="http://schemas.openxmlformats.org/drawingml/2006/main">
            <a:off x="6286500"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3</a:t>
            </a:r>
          </a:p>
        </p:txBody>
      </p:sp>
      <p:sp>
        <p:nvSpPr>
          <p:cNvPr id="47" name="">
            <a:extLst xmlns:a="http://schemas.openxmlformats.org/drawingml/2006/main">
              <a:ext uri="{FF2B5EF4-FFF2-40B4-BE49-F238E27FC236}">
                <a16:creationId xmlns:a16="http://schemas.microsoft.com/office/drawing/2014/main" id="{228B4C2B-010E-4FD6-B178-A3782CAC0C34}"/>
              </a:ext>
            </a:extLst>
          </p:cNvPr>
          <p:cNvSpPr>
            <a:spLocks xmlns:a="http://schemas.openxmlformats.org/drawingml/2006/main" noGrp="1"/>
          </p:cNvSpPr>
          <p:nvPr/>
        </p:nvSpPr>
        <p:spPr>
          <a:xfrm xmlns:a="http://schemas.openxmlformats.org/drawingml/2006/main">
            <a:off x="6715125"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更新模型末端</a:t>
            </a:r>
          </a:p>
        </p:txBody>
      </p:sp>
      <p:sp>
        <p:nvSpPr>
          <p:cNvPr id="48" name="">
            <a:extLst xmlns:a="http://schemas.openxmlformats.org/drawingml/2006/main">
              <a:ext uri="{FF2B5EF4-FFF2-40B4-BE49-F238E27FC236}">
                <a16:creationId xmlns:a16="http://schemas.microsoft.com/office/drawing/2014/main" id="{B5690C2D-2770-4F22-B1CA-AE47097C9467}"/>
              </a:ext>
            </a:extLst>
          </p:cNvPr>
          <p:cNvSpPr>
            <a:spLocks xmlns:a="http://schemas.openxmlformats.org/drawingml/2006/main" noGrp="1"/>
          </p:cNvSpPr>
          <p:nvPr/>
        </p:nvSpPr>
        <p:spPr>
          <a:xfrm xmlns:a="http://schemas.openxmlformats.org/drawingml/2006/main">
            <a:off x="6572250" y="166687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25"/>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Transformer block 7</a:t>
            </a:r>
          </a:p>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 projection head</a:t>
            </a:r>
          </a:p>
        </p:txBody>
      </p:sp>
      <p:sp>
        <p:nvSpPr>
          <p:cNvPr id="49" name="">
            <a:extLst xmlns:a="http://schemas.openxmlformats.org/drawingml/2006/main">
              <a:ext uri="{FF2B5EF4-FFF2-40B4-BE49-F238E27FC236}">
                <a16:creationId xmlns:a16="http://schemas.microsoft.com/office/drawing/2014/main" id="{CE4B3C4E-671C-4EAE-859F-E378DB1AE263}"/>
              </a:ext>
            </a:extLst>
          </p:cNvPr>
          <p:cNvSpPr>
            <a:spLocks xmlns:a="http://schemas.openxmlformats.org/drawingml/2006/main" noGrp="1"/>
          </p:cNvSpPr>
          <p:nvPr/>
        </p:nvSpPr>
        <p:spPr>
          <a:xfrm xmlns:a="http://schemas.openxmlformats.org/drawingml/2006/main">
            <a:off x="6381750"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冻结主体，仅更新最后一个 Transformer block 与投影层</a:t>
            </a:r>
          </a:p>
        </p:txBody>
      </p:sp>
      <p:sp>
        <p:nvSpPr>
          <p:cNvPr id="50" name="">
            <a:extLst xmlns:a="http://schemas.openxmlformats.org/drawingml/2006/main">
              <a:ext uri="{FF2B5EF4-FFF2-40B4-BE49-F238E27FC236}">
                <a16:creationId xmlns:a16="http://schemas.microsoft.com/office/drawing/2014/main" id="{06F99774-2544-44BD-9817-2D66B853B569}"/>
              </a:ext>
            </a:extLst>
          </p:cNvPr>
          <p:cNvSpPr>
            <a:spLocks xmlns:a="http://schemas.openxmlformats.org/drawingml/2006/main" noGrp="1"/>
          </p:cNvSpPr>
          <p:nvPr/>
        </p:nvSpPr>
        <p:spPr>
          <a:xfrm xmlns:a="http://schemas.openxmlformats.org/drawingml/2006/main">
            <a:off x="8839200"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3C70D42-A219-4DB4-86AD-E73D56A927C7}"/>
              </a:ext>
            </a:extLst>
          </p:cNvPr>
          <p:cNvSpPr>
            <a:spLocks xmlns:a="http://schemas.openxmlformats.org/drawingml/2006/main" noGrp="1"/>
          </p:cNvSpPr>
          <p:nvPr/>
        </p:nvSpPr>
        <p:spPr>
          <a:xfrm xmlns:a="http://schemas.openxmlformats.org/drawingml/2006/main">
            <a:off x="9048750" y="1000125"/>
            <a:ext cx="2667000" cy="209550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52" name="">
            <a:extLst xmlns:a="http://schemas.openxmlformats.org/drawingml/2006/main">
              <a:ext uri="{FF2B5EF4-FFF2-40B4-BE49-F238E27FC236}">
                <a16:creationId xmlns:a16="http://schemas.microsoft.com/office/drawing/2014/main" id="{04A2C3DF-B63F-45A8-BDD8-1E182B8B42C0}"/>
              </a:ext>
            </a:extLst>
          </p:cNvPr>
          <p:cNvSpPr>
            <a:spLocks xmlns:a="http://schemas.openxmlformats.org/drawingml/2006/main" noGrp="1"/>
          </p:cNvSpPr>
          <p:nvPr/>
        </p:nvSpPr>
        <p:spPr>
          <a:xfrm xmlns:a="http://schemas.openxmlformats.org/drawingml/2006/main">
            <a:off x="9191625"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4</a:t>
            </a:r>
          </a:p>
        </p:txBody>
      </p:sp>
      <p:sp>
        <p:nvSpPr>
          <p:cNvPr id="53" name="">
            <a:extLst xmlns:a="http://schemas.openxmlformats.org/drawingml/2006/main">
              <a:ext uri="{FF2B5EF4-FFF2-40B4-BE49-F238E27FC236}">
                <a16:creationId xmlns:a16="http://schemas.microsoft.com/office/drawing/2014/main" id="{D440B470-46EE-43A2-B969-55EDF01476BF}"/>
              </a:ext>
            </a:extLst>
          </p:cNvPr>
          <p:cNvSpPr>
            <a:spLocks xmlns:a="http://schemas.openxmlformats.org/drawingml/2006/main" noGrp="1"/>
          </p:cNvSpPr>
          <p:nvPr/>
        </p:nvSpPr>
        <p:spPr>
          <a:xfrm xmlns:a="http://schemas.openxmlformats.org/drawingml/2006/main">
            <a:off x="9620250"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仅用干净谱推理</a:t>
            </a:r>
          </a:p>
        </p:txBody>
      </p:sp>
      <p:sp>
        <p:nvSpPr>
          <p:cNvPr id="54" name="">
            <a:extLst xmlns:a="http://schemas.openxmlformats.org/drawingml/2006/main">
              <a:ext uri="{FF2B5EF4-FFF2-40B4-BE49-F238E27FC236}">
                <a16:creationId xmlns:a16="http://schemas.microsoft.com/office/drawing/2014/main" id="{98C398E4-DE20-4F5B-97DC-818CD4C17ADC}"/>
              </a:ext>
            </a:extLst>
          </p:cNvPr>
          <p:cNvSpPr>
            <a:spLocks xmlns:a="http://schemas.openxmlformats.org/drawingml/2006/main" noGrp="1"/>
          </p:cNvSpPr>
          <p:nvPr/>
        </p:nvSpPr>
        <p:spPr>
          <a:xfrm xmlns:a="http://schemas.openxmlformats.org/drawingml/2006/main">
            <a:off x="9715500" y="1619250"/>
            <a:ext cx="1333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C1BB801B-75AA-4333-8224-5B071EE7084B}"/>
              </a:ext>
            </a:extLst>
          </p:cNvPr>
          <p:cNvSpPr>
            <a:spLocks xmlns:a="http://schemas.openxmlformats.org/drawingml/2006/main" noGrp="1"/>
          </p:cNvSpPr>
          <p:nvPr/>
        </p:nvSpPr>
        <p:spPr>
          <a:xfrm xmlns:a="http://schemas.openxmlformats.org/drawingml/2006/main">
            <a:off x="9886950" y="2152650"/>
            <a:ext cx="106680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C3EA7790-2792-4CAC-A4E6-C7CCE9E784D4}"/>
              </a:ext>
            </a:extLst>
          </p:cNvPr>
          <p:cNvSpPr>
            <a:spLocks xmlns:a="http://schemas.openxmlformats.org/drawingml/2006/main" noGrp="1"/>
          </p:cNvSpPr>
          <p:nvPr/>
        </p:nvSpPr>
        <p:spPr>
          <a:xfrm xmlns:a="http://schemas.openxmlformats.org/drawingml/2006/main">
            <a:off x="9886950" y="1695450"/>
            <a:ext cx="14288" cy="4191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5B1E711-D336-498C-A5B1-D78819937A80}"/>
              </a:ext>
            </a:extLst>
          </p:cNvPr>
          <p:cNvSpPr>
            <a:spLocks xmlns:a="http://schemas.openxmlformats.org/drawingml/2006/main" noGrp="1"/>
          </p:cNvSpPr>
          <p:nvPr/>
        </p:nvSpPr>
        <p:spPr>
          <a:xfrm xmlns:a="http://schemas.openxmlformats.org/drawingml/2006/main">
            <a:off x="9972294" y="2077212"/>
            <a:ext cx="21908" cy="7543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F571254D-AE21-4F2B-BBE5-CF716D48C59A}"/>
              </a:ext>
            </a:extLst>
          </p:cNvPr>
          <p:cNvSpPr>
            <a:spLocks xmlns:a="http://schemas.openxmlformats.org/drawingml/2006/main" noGrp="1"/>
          </p:cNvSpPr>
          <p:nvPr/>
        </p:nvSpPr>
        <p:spPr>
          <a:xfrm xmlns:a="http://schemas.openxmlformats.org/drawingml/2006/main">
            <a:off x="10089642" y="1926336"/>
            <a:ext cx="21908" cy="2263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64C2C3B-C848-4465-B797-CCDB2999469B}"/>
              </a:ext>
            </a:extLst>
          </p:cNvPr>
          <p:cNvSpPr>
            <a:spLocks xmlns:a="http://schemas.openxmlformats.org/drawingml/2006/main" noGrp="1"/>
          </p:cNvSpPr>
          <p:nvPr/>
        </p:nvSpPr>
        <p:spPr>
          <a:xfrm xmlns:a="http://schemas.openxmlformats.org/drawingml/2006/main">
            <a:off x="10217658" y="2035302"/>
            <a:ext cx="21908" cy="11734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2C4F505-39CB-460A-B060-CFC19D817116}"/>
              </a:ext>
            </a:extLst>
          </p:cNvPr>
          <p:cNvSpPr>
            <a:spLocks xmlns:a="http://schemas.openxmlformats.org/drawingml/2006/main" noGrp="1"/>
          </p:cNvSpPr>
          <p:nvPr/>
        </p:nvSpPr>
        <p:spPr>
          <a:xfrm xmlns:a="http://schemas.openxmlformats.org/drawingml/2006/main">
            <a:off x="10345674" y="1808988"/>
            <a:ext cx="21908" cy="34366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0ED2D67-8607-409B-BB73-40D854CD2590}"/>
              </a:ext>
            </a:extLst>
          </p:cNvPr>
          <p:cNvSpPr>
            <a:spLocks xmlns:a="http://schemas.openxmlformats.org/drawingml/2006/main" noGrp="1"/>
          </p:cNvSpPr>
          <p:nvPr/>
        </p:nvSpPr>
        <p:spPr>
          <a:xfrm xmlns:a="http://schemas.openxmlformats.org/drawingml/2006/main">
            <a:off x="10473690" y="2005965"/>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C34B7F4-5E28-418E-8622-7328F25ABB8B}"/>
              </a:ext>
            </a:extLst>
          </p:cNvPr>
          <p:cNvSpPr>
            <a:spLocks xmlns:a="http://schemas.openxmlformats.org/drawingml/2006/main" noGrp="1"/>
          </p:cNvSpPr>
          <p:nvPr/>
        </p:nvSpPr>
        <p:spPr>
          <a:xfrm xmlns:a="http://schemas.openxmlformats.org/drawingml/2006/main">
            <a:off x="10601706" y="1733550"/>
            <a:ext cx="21908" cy="4191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CAE0B74E-4874-4D0E-8DE7-52F3EFBE8A51}"/>
              </a:ext>
            </a:extLst>
          </p:cNvPr>
          <p:cNvSpPr>
            <a:spLocks xmlns:a="http://schemas.openxmlformats.org/drawingml/2006/main" noGrp="1"/>
          </p:cNvSpPr>
          <p:nvPr/>
        </p:nvSpPr>
        <p:spPr>
          <a:xfrm xmlns:a="http://schemas.openxmlformats.org/drawingml/2006/main">
            <a:off x="10729722" y="1959864"/>
            <a:ext cx="21908" cy="19278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F4E4E93-042B-4AA0-87D6-B09103AF1A64}"/>
              </a:ext>
            </a:extLst>
          </p:cNvPr>
          <p:cNvSpPr>
            <a:spLocks xmlns:a="http://schemas.openxmlformats.org/drawingml/2006/main" noGrp="1"/>
          </p:cNvSpPr>
          <p:nvPr/>
        </p:nvSpPr>
        <p:spPr>
          <a:xfrm xmlns:a="http://schemas.openxmlformats.org/drawingml/2006/main">
            <a:off x="10857738" y="2068830"/>
            <a:ext cx="21908" cy="8382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924A370-A440-4D06-B62C-8BD583F31488}"/>
              </a:ext>
            </a:extLst>
          </p:cNvPr>
          <p:cNvSpPr>
            <a:spLocks xmlns:a="http://schemas.openxmlformats.org/drawingml/2006/main" noGrp="1"/>
          </p:cNvSpPr>
          <p:nvPr/>
        </p:nvSpPr>
        <p:spPr>
          <a:xfrm xmlns:a="http://schemas.openxmlformats.org/drawingml/2006/main">
            <a:off x="9286875"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部署时只输入普通干净谱</a:t>
            </a:r>
          </a:p>
        </p:txBody>
      </p:sp>
      <p:sp>
        <p:nvSpPr>
          <p:cNvPr id="66" name="">
            <a:extLst xmlns:a="http://schemas.openxmlformats.org/drawingml/2006/main">
              <a:ext uri="{FF2B5EF4-FFF2-40B4-BE49-F238E27FC236}">
                <a16:creationId xmlns:a16="http://schemas.microsoft.com/office/drawing/2014/main" id="{8E84448B-3C9A-4308-9DA3-D6BD931CCFBF}"/>
              </a:ext>
            </a:extLst>
          </p:cNvPr>
          <p:cNvSpPr>
            <a:spLocks xmlns:a="http://schemas.openxmlformats.org/drawingml/2006/main" noGrp="1"/>
          </p:cNvSpPr>
          <p:nvPr/>
        </p:nvSpPr>
        <p:spPr>
          <a:xfrm xmlns:a="http://schemas.openxmlformats.org/drawingml/2006/main">
            <a:off x="523875" y="3476625"/>
            <a:ext cx="5381625"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7" name="">
            <a:extLst xmlns:a="http://schemas.openxmlformats.org/drawingml/2006/main">
              <a:ext uri="{FF2B5EF4-FFF2-40B4-BE49-F238E27FC236}">
                <a16:creationId xmlns:a16="http://schemas.microsoft.com/office/drawing/2014/main" id="{D0A18D23-DA1C-478B-B0B5-7BEFE87E9C0C}"/>
              </a:ext>
            </a:extLst>
          </p:cNvPr>
          <p:cNvSpPr>
            <a:spLocks xmlns:a="http://schemas.openxmlformats.org/drawingml/2006/main" noGrp="1"/>
          </p:cNvSpPr>
          <p:nvPr/>
        </p:nvSpPr>
        <p:spPr>
          <a:xfrm xmlns:a="http://schemas.openxmlformats.org/drawingml/2006/main">
            <a:off x="762000" y="3667125"/>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三类训练目标</a:t>
            </a:r>
          </a:p>
        </p:txBody>
      </p:sp>
      <p:sp>
        <p:nvSpPr>
          <p:cNvPr id="68" name="">
            <a:extLst xmlns:a="http://schemas.openxmlformats.org/drawingml/2006/main">
              <a:ext uri="{FF2B5EF4-FFF2-40B4-BE49-F238E27FC236}">
                <a16:creationId xmlns:a16="http://schemas.microsoft.com/office/drawing/2014/main" id="{666EED5B-C99F-4ED7-BD7B-D8A0199E246C}"/>
              </a:ext>
            </a:extLst>
          </p:cNvPr>
          <p:cNvSpPr>
            <a:spLocks xmlns:a="http://schemas.openxmlformats.org/drawingml/2006/main" noGrp="1"/>
          </p:cNvSpPr>
          <p:nvPr/>
        </p:nvSpPr>
        <p:spPr>
          <a:xfrm xmlns:a="http://schemas.openxmlformats.org/drawingml/2006/main">
            <a:off x="762000" y="40957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排序目标</a:t>
            </a:r>
          </a:p>
        </p:txBody>
      </p:sp>
      <p:sp>
        <p:nvSpPr>
          <p:cNvPr id="69" name="">
            <a:extLst xmlns:a="http://schemas.openxmlformats.org/drawingml/2006/main">
              <a:ext uri="{FF2B5EF4-FFF2-40B4-BE49-F238E27FC236}">
                <a16:creationId xmlns:a16="http://schemas.microsoft.com/office/drawing/2014/main" id="{97122241-C50A-43D3-A548-35D9F0423EE1}"/>
              </a:ext>
            </a:extLst>
          </p:cNvPr>
          <p:cNvSpPr>
            <a:spLocks xmlns:a="http://schemas.openxmlformats.org/drawingml/2006/main" noGrp="1"/>
          </p:cNvSpPr>
          <p:nvPr/>
        </p:nvSpPr>
        <p:spPr>
          <a:xfrm xmlns:a="http://schemas.openxmlformats.org/drawingml/2006/main">
            <a:off x="1857375" y="40957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真实候选的置信分数高于最强错误候选</a:t>
            </a:r>
          </a:p>
        </p:txBody>
      </p:sp>
      <p:sp>
        <p:nvSpPr>
          <p:cNvPr id="70" name="">
            <a:extLst xmlns:a="http://schemas.openxmlformats.org/drawingml/2006/main">
              <a:ext uri="{FF2B5EF4-FFF2-40B4-BE49-F238E27FC236}">
                <a16:creationId xmlns:a16="http://schemas.microsoft.com/office/drawing/2014/main" id="{7E180D98-A221-4BF0-9486-162A55AABD0A}"/>
              </a:ext>
            </a:extLst>
          </p:cNvPr>
          <p:cNvSpPr>
            <a:spLocks xmlns:a="http://schemas.openxmlformats.org/drawingml/2006/main" noGrp="1"/>
          </p:cNvSpPr>
          <p:nvPr/>
        </p:nvSpPr>
        <p:spPr>
          <a:xfrm xmlns:a="http://schemas.openxmlformats.org/drawingml/2006/main">
            <a:off x="762000" y="449580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一致性目标</a:t>
            </a:r>
          </a:p>
        </p:txBody>
      </p:sp>
      <p:sp>
        <p:nvSpPr>
          <p:cNvPr id="71" name="">
            <a:extLst xmlns:a="http://schemas.openxmlformats.org/drawingml/2006/main">
              <a:ext uri="{FF2B5EF4-FFF2-40B4-BE49-F238E27FC236}">
                <a16:creationId xmlns:a16="http://schemas.microsoft.com/office/drawing/2014/main" id="{B172191F-1216-42CE-BD4C-2E2565E188DC}"/>
              </a:ext>
            </a:extLst>
          </p:cNvPr>
          <p:cNvSpPr>
            <a:spLocks xmlns:a="http://schemas.openxmlformats.org/drawingml/2006/main" noGrp="1"/>
          </p:cNvSpPr>
          <p:nvPr/>
        </p:nvSpPr>
        <p:spPr>
          <a:xfrm xmlns:a="http://schemas.openxmlformats.org/drawingml/2006/main">
            <a:off x="1857375" y="449580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干净谱与扰动谱的 embedding 不发生无关漂移</a:t>
            </a:r>
          </a:p>
        </p:txBody>
      </p:sp>
      <p:sp>
        <p:nvSpPr>
          <p:cNvPr id="72" name="">
            <a:extLst xmlns:a="http://schemas.openxmlformats.org/drawingml/2006/main">
              <a:ext uri="{FF2B5EF4-FFF2-40B4-BE49-F238E27FC236}">
                <a16:creationId xmlns:a16="http://schemas.microsoft.com/office/drawing/2014/main" id="{016CE755-95C6-414C-AEC5-2CCF586F48C8}"/>
              </a:ext>
            </a:extLst>
          </p:cNvPr>
          <p:cNvSpPr>
            <a:spLocks xmlns:a="http://schemas.openxmlformats.org/drawingml/2006/main" noGrp="1"/>
          </p:cNvSpPr>
          <p:nvPr/>
        </p:nvSpPr>
        <p:spPr>
          <a:xfrm xmlns:a="http://schemas.openxmlformats.org/drawingml/2006/main">
            <a:off x="762000" y="48958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安全目标</a:t>
            </a:r>
          </a:p>
        </p:txBody>
      </p:sp>
      <p:sp>
        <p:nvSpPr>
          <p:cNvPr id="73" name="">
            <a:extLst xmlns:a="http://schemas.openxmlformats.org/drawingml/2006/main">
              <a:ext uri="{FF2B5EF4-FFF2-40B4-BE49-F238E27FC236}">
                <a16:creationId xmlns:a16="http://schemas.microsoft.com/office/drawing/2014/main" id="{FF7AE301-298E-4C9B-8706-652AB5C37F1C}"/>
              </a:ext>
            </a:extLst>
          </p:cNvPr>
          <p:cNvSpPr>
            <a:spLocks xmlns:a="http://schemas.openxmlformats.org/drawingml/2006/main" noGrp="1"/>
          </p:cNvSpPr>
          <p:nvPr/>
        </p:nvSpPr>
        <p:spPr>
          <a:xfrm xmlns:a="http://schemas.openxmlformats.org/drawingml/2006/main">
            <a:off x="1857375" y="48958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保护原本已经正确的候选边界，限制新增错误</a:t>
            </a:r>
          </a:p>
        </p:txBody>
      </p:sp>
      <p:sp>
        <p:nvSpPr>
          <p:cNvPr id="74" name="">
            <a:extLst xmlns:a="http://schemas.openxmlformats.org/drawingml/2006/main">
              <a:ext uri="{FF2B5EF4-FFF2-40B4-BE49-F238E27FC236}">
                <a16:creationId xmlns:a16="http://schemas.microsoft.com/office/drawing/2014/main" id="{5096882B-176C-4BBB-A4C3-1C9D22FF1125}"/>
              </a:ext>
            </a:extLst>
          </p:cNvPr>
          <p:cNvSpPr>
            <a:spLocks xmlns:a="http://schemas.openxmlformats.org/drawingml/2006/main" noGrp="1"/>
          </p:cNvSpPr>
          <p:nvPr/>
        </p:nvSpPr>
        <p:spPr>
          <a:xfrm xmlns:a="http://schemas.openxmlformats.org/drawingml/2006/main">
            <a:off x="6286500" y="3476625"/>
            <a:ext cx="5381625" cy="18573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75" name="">
            <a:extLst xmlns:a="http://schemas.openxmlformats.org/drawingml/2006/main">
              <a:ext uri="{FF2B5EF4-FFF2-40B4-BE49-F238E27FC236}">
                <a16:creationId xmlns:a16="http://schemas.microsoft.com/office/drawing/2014/main" id="{A6938797-C288-4DEB-87C0-0F60CB6D10BD}"/>
              </a:ext>
            </a:extLst>
          </p:cNvPr>
          <p:cNvSpPr>
            <a:spLocks xmlns:a="http://schemas.openxmlformats.org/drawingml/2006/main" noGrp="1"/>
          </p:cNvSpPr>
          <p:nvPr/>
        </p:nvSpPr>
        <p:spPr>
          <a:xfrm xmlns:a="http://schemas.openxmlformats.org/drawingml/2006/main">
            <a:off x="6524625" y="3667125"/>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定向训练臂：输入与产物</a:t>
            </a:r>
          </a:p>
        </p:txBody>
      </p:sp>
      <p:sp>
        <p:nvSpPr>
          <p:cNvPr id="76" name="">
            <a:extLst xmlns:a="http://schemas.openxmlformats.org/drawingml/2006/main">
              <a:ext uri="{FF2B5EF4-FFF2-40B4-BE49-F238E27FC236}">
                <a16:creationId xmlns:a16="http://schemas.microsoft.com/office/drawing/2014/main" id="{0F60CB7C-380A-4CB0-9FBD-9E8B4DE650FB}"/>
              </a:ext>
            </a:extLst>
          </p:cNvPr>
          <p:cNvSpPr>
            <a:spLocks xmlns:a="http://schemas.openxmlformats.org/drawingml/2006/main" noGrp="1"/>
          </p:cNvSpPr>
          <p:nvPr/>
        </p:nvSpPr>
        <p:spPr>
          <a:xfrm xmlns:a="http://schemas.openxmlformats.org/drawingml/2006/main">
            <a:off x="6572250" y="40957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训练输入</a:t>
            </a:r>
          </a:p>
        </p:txBody>
      </p:sp>
      <p:sp>
        <p:nvSpPr>
          <p:cNvPr id="77" name="">
            <a:extLst xmlns:a="http://schemas.openxmlformats.org/drawingml/2006/main">
              <a:ext uri="{FF2B5EF4-FFF2-40B4-BE49-F238E27FC236}">
                <a16:creationId xmlns:a16="http://schemas.microsoft.com/office/drawing/2014/main" id="{D0719342-E52A-43E2-AAB2-9F2AC1640137}"/>
              </a:ext>
            </a:extLst>
          </p:cNvPr>
          <p:cNvSpPr>
            <a:spLocks xmlns:a="http://schemas.openxmlformats.org/drawingml/2006/main" noGrp="1"/>
          </p:cNvSpPr>
          <p:nvPr/>
        </p:nvSpPr>
        <p:spPr>
          <a:xfrm xmlns:a="http://schemas.openxmlformats.org/drawingml/2006/main">
            <a:off x="7667625" y="40957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62"/>
          </a:bodyPr>
          <a:lstStyle xmlns:a="http://schemas.openxmlformats.org/drawingml/2006/main"/>
          <a:p xmlns:a="http://schemas.openxmlformats.org/drawingml/2006/main">
            <a:pPr algn="l">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干净谱/定向扰动谱、真实候选、最强错误候选</a:t>
            </a:r>
          </a:p>
        </p:txBody>
      </p:sp>
      <p:sp>
        <p:nvSpPr>
          <p:cNvPr id="78" name="">
            <a:extLst xmlns:a="http://schemas.openxmlformats.org/drawingml/2006/main">
              <a:ext uri="{FF2B5EF4-FFF2-40B4-BE49-F238E27FC236}">
                <a16:creationId xmlns:a16="http://schemas.microsoft.com/office/drawing/2014/main" id="{9B0C1435-3181-49E9-9D4F-ABFFBE3BDBDB}"/>
              </a:ext>
            </a:extLst>
          </p:cNvPr>
          <p:cNvSpPr>
            <a:spLocks xmlns:a="http://schemas.openxmlformats.org/drawingml/2006/main" noGrp="1"/>
          </p:cNvSpPr>
          <p:nvPr/>
        </p:nvSpPr>
        <p:spPr>
          <a:xfrm xmlns:a="http://schemas.openxmlformats.org/drawingml/2006/main">
            <a:off x="6572250" y="45148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训练产物</a:t>
            </a:r>
          </a:p>
        </p:txBody>
      </p:sp>
      <p:sp>
        <p:nvSpPr>
          <p:cNvPr id="79" name="">
            <a:extLst xmlns:a="http://schemas.openxmlformats.org/drawingml/2006/main">
              <a:ext uri="{FF2B5EF4-FFF2-40B4-BE49-F238E27FC236}">
                <a16:creationId xmlns:a16="http://schemas.microsoft.com/office/drawing/2014/main" id="{6917A815-7D8C-44DD-80B1-CA781EE95053}"/>
              </a:ext>
            </a:extLst>
          </p:cNvPr>
          <p:cNvSpPr>
            <a:spLocks xmlns:a="http://schemas.openxmlformats.org/drawingml/2006/main" noGrp="1"/>
          </p:cNvSpPr>
          <p:nvPr/>
        </p:nvSpPr>
        <p:spPr>
          <a:xfrm xmlns:a="http://schemas.openxmlformats.org/drawingml/2006/main">
            <a:off x="7667625" y="45148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更新后的共享 query/reference encoder</a:t>
            </a:r>
          </a:p>
        </p:txBody>
      </p:sp>
      <p:sp>
        <p:nvSpPr>
          <p:cNvPr id="80" name="">
            <a:extLst xmlns:a="http://schemas.openxmlformats.org/drawingml/2006/main">
              <a:ext uri="{FF2B5EF4-FFF2-40B4-BE49-F238E27FC236}">
                <a16:creationId xmlns:a16="http://schemas.microsoft.com/office/drawing/2014/main" id="{73065997-7141-4E78-AA5F-247B59F4B844}"/>
              </a:ext>
            </a:extLst>
          </p:cNvPr>
          <p:cNvSpPr>
            <a:spLocks xmlns:a="http://schemas.openxmlformats.org/drawingml/2006/main" noGrp="1"/>
          </p:cNvSpPr>
          <p:nvPr/>
        </p:nvSpPr>
        <p:spPr>
          <a:xfrm xmlns:a="http://schemas.openxmlformats.org/drawingml/2006/main">
            <a:off x="6572250" y="49339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推理阶段</a:t>
            </a:r>
          </a:p>
        </p:txBody>
      </p:sp>
      <p:sp>
        <p:nvSpPr>
          <p:cNvPr id="81" name="">
            <a:extLst xmlns:a="http://schemas.openxmlformats.org/drawingml/2006/main">
              <a:ext uri="{FF2B5EF4-FFF2-40B4-BE49-F238E27FC236}">
                <a16:creationId xmlns:a16="http://schemas.microsoft.com/office/drawing/2014/main" id="{712F4122-0E7C-402D-823D-ABF75BC6D93D}"/>
              </a:ext>
            </a:extLst>
          </p:cNvPr>
          <p:cNvSpPr>
            <a:spLocks xmlns:a="http://schemas.openxmlformats.org/drawingml/2006/main" noGrp="1"/>
          </p:cNvSpPr>
          <p:nvPr/>
        </p:nvSpPr>
        <p:spPr>
          <a:xfrm xmlns:a="http://schemas.openxmlformats.org/drawingml/2006/main">
            <a:off x="7667625" y="48863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只需普通干净谱；不需要真值，也不制造扰动</a:t>
            </a:r>
          </a:p>
        </p:txBody>
      </p:sp>
      <p:sp>
        <p:nvSpPr>
          <p:cNvPr id="82" name="">
            <a:extLst xmlns:a="http://schemas.openxmlformats.org/drawingml/2006/main">
              <a:ext uri="{FF2B5EF4-FFF2-40B4-BE49-F238E27FC236}">
                <a16:creationId xmlns:a16="http://schemas.microsoft.com/office/drawing/2014/main" id="{73A47E26-71C9-43F7-8DEC-D875E64F7217}"/>
              </a:ext>
            </a:extLst>
          </p:cNvPr>
          <p:cNvSpPr>
            <a:spLocks xmlns:a="http://schemas.openxmlformats.org/drawingml/2006/main" noGrp="1"/>
          </p:cNvSpPr>
          <p:nvPr/>
        </p:nvSpPr>
        <p:spPr>
          <a:xfrm xmlns:a="http://schemas.openxmlformats.org/drawingml/2006/main">
            <a:off x="1428750" y="5667375"/>
            <a:ext cx="9334500" cy="4286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83" name="">
            <a:extLst xmlns:a="http://schemas.openxmlformats.org/drawingml/2006/main">
              <a:ext uri="{FF2B5EF4-FFF2-40B4-BE49-F238E27FC236}">
                <a16:creationId xmlns:a16="http://schemas.microsoft.com/office/drawing/2014/main" id="{D9B632FC-DFEA-49B7-861E-2888119CBC4F}"/>
              </a:ext>
            </a:extLst>
          </p:cNvPr>
          <p:cNvSpPr>
            <a:spLocks xmlns:a="http://schemas.openxmlformats.org/drawingml/2006/main" noGrp="1"/>
          </p:cNvSpPr>
          <p:nvPr/>
        </p:nvSpPr>
        <p:spPr>
          <a:xfrm xmlns:a="http://schemas.openxmlformats.org/drawingml/2006/main">
            <a:off x="1666875" y="57626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我们尝试通过末端微调重新分配峰级证据，同时尽量保留预训练得到的通用表示。</a:t>
            </a:r>
          </a:p>
        </p:txBody>
      </p:sp>
    </p:spTree>
    <p:extLst>
      <p:ext uri="{BB962C8B-B14F-4D97-AF65-F5344CB8AC3E}">
        <p14:creationId xmlns:p14="http://schemas.microsoft.com/office/powerpoint/2010/main" val="1653297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BA87FE51-2303-43FE-918E-64CE233E7797}"/>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A5A65D-56E5-4F56-ABCC-2A0CBDD8BF0D}"/>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6E6B04-B30F-4F36-9A26-8086DBF2C41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64998E-92F6-467C-8780-D97906A5D152}"/>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79C0FE-3D40-41ED-83A3-A2E3D7276C15}"/>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08"/>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历史开发协议结果：3.85 pp 事后动作上限；共享 encoder 平均 +0.635 pp</a:t>
            </a:r>
          </a:p>
        </p:txBody>
      </p:sp>
      <p:sp>
        <p:nvSpPr>
          <p:cNvPr id="6" name="">
            <a:extLst xmlns:a="http://schemas.openxmlformats.org/drawingml/2006/main">
              <a:ext uri="{FF2B5EF4-FFF2-40B4-BE49-F238E27FC236}">
                <a16:creationId xmlns:a16="http://schemas.microsoft.com/office/drawing/2014/main" id="{895493E9-F705-4D06-A2C3-66E143E58671}"/>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A38BC5-1204-4294-8F41-CCE1D731F79E}"/>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AE705CB-4A78-4540-8B4F-0AFCBB37059C}"/>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F4ED87-5A23-4643-BEEA-56A586EC3965}"/>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1A867700-7D37-4872-9D1E-CC5156A3D0C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59" name="Chart"/>
          <p:cNvGraphicFramePr/>
          <p:nvPr/>
        </p:nvGraphicFramePr>
        <p:xfrm>
          <a:off xmlns:a="http://schemas.openxmlformats.org/drawingml/2006/main" x="381000" y="1000125"/>
          <a:ext xmlns:a="http://schemas.openxmlformats.org/drawingml/2006/main" cx="4953000" cy="2857500"/>
        </p:xfrm>
        <a:graphic xmlns:a="http://schemas.openxmlformats.org/drawingml/2006/main">
          <a:graphicData uri="http://schemas.openxmlformats.org/drawingml/2006/chart">
            <c:chart xmlns:r="http://schemas.openxmlformats.org/officeDocument/2006/relationships" xmlns:c="http://schemas.openxmlformats.org/drawingml/2006/chart" r:id="R0ca466de06404685"/>
          </a:graphicData>
        </a:graphic>
      </p:graphicFrame>
      <p:sp>
        <p:nvSpPr>
          <p:cNvPr id="12" name="">
            <a:extLst xmlns:a="http://schemas.openxmlformats.org/drawingml/2006/main">
              <a:ext uri="{FF2B5EF4-FFF2-40B4-BE49-F238E27FC236}">
                <a16:creationId xmlns:a16="http://schemas.microsoft.com/office/drawing/2014/main" id="{BB458B74-40EB-4737-8FE3-9919D217CD11}"/>
              </a:ext>
            </a:extLst>
          </p:cNvPr>
          <p:cNvSpPr>
            <a:spLocks xmlns:a="http://schemas.openxmlformats.org/drawingml/2006/main" noGrp="1"/>
          </p:cNvSpPr>
          <p:nvPr/>
        </p:nvSpPr>
        <p:spPr>
          <a:xfrm xmlns:a="http://schemas.openxmlformats.org/drawingml/2006/main">
            <a:off x="1000125" y="26670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92.44%</a:t>
            </a:r>
          </a:p>
        </p:txBody>
      </p:sp>
      <p:sp>
        <p:nvSpPr>
          <p:cNvPr id="13" name="">
            <a:extLst xmlns:a="http://schemas.openxmlformats.org/drawingml/2006/main">
              <a:ext uri="{FF2B5EF4-FFF2-40B4-BE49-F238E27FC236}">
                <a16:creationId xmlns:a16="http://schemas.microsoft.com/office/drawing/2014/main" id="{B5E55889-6EDA-49C9-921B-3C49D905B05E}"/>
              </a:ext>
            </a:extLst>
          </p:cNvPr>
          <p:cNvSpPr>
            <a:spLocks xmlns:a="http://schemas.openxmlformats.org/drawingml/2006/main" noGrp="1"/>
          </p:cNvSpPr>
          <p:nvPr/>
        </p:nvSpPr>
        <p:spPr>
          <a:xfrm xmlns:a="http://schemas.openxmlformats.org/drawingml/2006/main">
            <a:off x="2095500" y="17430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93.05%</a:t>
            </a:r>
          </a:p>
        </p:txBody>
      </p:sp>
      <p:sp>
        <p:nvSpPr>
          <p:cNvPr id="14" name="">
            <a:extLst xmlns:a="http://schemas.openxmlformats.org/drawingml/2006/main">
              <a:ext uri="{FF2B5EF4-FFF2-40B4-BE49-F238E27FC236}">
                <a16:creationId xmlns:a16="http://schemas.microsoft.com/office/drawing/2014/main" id="{791DD454-CBE2-4B99-A184-5EDCFBE314B2}"/>
              </a:ext>
            </a:extLst>
          </p:cNvPr>
          <p:cNvSpPr>
            <a:spLocks xmlns:a="http://schemas.openxmlformats.org/drawingml/2006/main" noGrp="1"/>
          </p:cNvSpPr>
          <p:nvPr/>
        </p:nvSpPr>
        <p:spPr>
          <a:xfrm xmlns:a="http://schemas.openxmlformats.org/drawingml/2006/main">
            <a:off x="3190875" y="16668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93.10%</a:t>
            </a:r>
          </a:p>
        </p:txBody>
      </p:sp>
      <p:sp>
        <p:nvSpPr>
          <p:cNvPr id="15" name="">
            <a:extLst xmlns:a="http://schemas.openxmlformats.org/drawingml/2006/main">
              <a:ext uri="{FF2B5EF4-FFF2-40B4-BE49-F238E27FC236}">
                <a16:creationId xmlns:a16="http://schemas.microsoft.com/office/drawing/2014/main" id="{182F7037-2CF9-4EB5-A8D1-70A3A1E70817}"/>
              </a:ext>
            </a:extLst>
          </p:cNvPr>
          <p:cNvSpPr>
            <a:spLocks xmlns:a="http://schemas.openxmlformats.org/drawingml/2006/main" noGrp="1"/>
          </p:cNvSpPr>
          <p:nvPr/>
        </p:nvSpPr>
        <p:spPr>
          <a:xfrm xmlns:a="http://schemas.openxmlformats.org/drawingml/2006/main">
            <a:off x="4286250" y="17145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93.07%</a:t>
            </a:r>
          </a:p>
        </p:txBody>
      </p:sp>
      <p:sp>
        <p:nvSpPr>
          <p:cNvPr id="16" name="">
            <a:extLst xmlns:a="http://schemas.openxmlformats.org/drawingml/2006/main">
              <a:ext uri="{FF2B5EF4-FFF2-40B4-BE49-F238E27FC236}">
                <a16:creationId xmlns:a16="http://schemas.microsoft.com/office/drawing/2014/main" id="{4F000B6F-E708-4898-B473-46A03A952386}"/>
              </a:ext>
            </a:extLst>
          </p:cNvPr>
          <p:cNvSpPr>
            <a:spLocks xmlns:a="http://schemas.openxmlformats.org/drawingml/2006/main" noGrp="1"/>
          </p:cNvSpPr>
          <p:nvPr/>
        </p:nvSpPr>
        <p:spPr>
          <a:xfrm xmlns:a="http://schemas.openxmlformats.org/drawingml/2006/main">
            <a:off x="619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7" name="">
            <a:extLst xmlns:a="http://schemas.openxmlformats.org/drawingml/2006/main">
              <a:ext uri="{FF2B5EF4-FFF2-40B4-BE49-F238E27FC236}">
                <a16:creationId xmlns:a16="http://schemas.microsoft.com/office/drawing/2014/main" id="{540E2C96-B85D-4D26-B7F7-B45A441EFBEA}"/>
              </a:ext>
            </a:extLst>
          </p:cNvPr>
          <p:cNvSpPr>
            <a:spLocks xmlns:a="http://schemas.openxmlformats.org/drawingml/2006/main" noGrp="1"/>
          </p:cNvSpPr>
          <p:nvPr/>
        </p:nvSpPr>
        <p:spPr>
          <a:xfrm xmlns:a="http://schemas.openxmlformats.org/drawingml/2006/main">
            <a:off x="714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三 seed 平均增益</a:t>
            </a:r>
          </a:p>
        </p:txBody>
      </p:sp>
      <p:sp>
        <p:nvSpPr>
          <p:cNvPr id="18" name="">
            <a:extLst xmlns:a="http://schemas.openxmlformats.org/drawingml/2006/main">
              <a:ext uri="{FF2B5EF4-FFF2-40B4-BE49-F238E27FC236}">
                <a16:creationId xmlns:a16="http://schemas.microsoft.com/office/drawing/2014/main" id="{17D7E9AE-F848-4F91-82E1-4522C7BA4100}"/>
              </a:ext>
            </a:extLst>
          </p:cNvPr>
          <p:cNvSpPr>
            <a:spLocks xmlns:a="http://schemas.openxmlformats.org/drawingml/2006/main" noGrp="1"/>
          </p:cNvSpPr>
          <p:nvPr/>
        </p:nvSpPr>
        <p:spPr>
          <a:xfrm xmlns:a="http://schemas.openxmlformats.org/drawingml/2006/main">
            <a:off x="695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+0.635 pp</a:t>
            </a:r>
          </a:p>
        </p:txBody>
      </p:sp>
      <p:sp>
        <p:nvSpPr>
          <p:cNvPr id="19" name="">
            <a:extLst xmlns:a="http://schemas.openxmlformats.org/drawingml/2006/main">
              <a:ext uri="{FF2B5EF4-FFF2-40B4-BE49-F238E27FC236}">
                <a16:creationId xmlns:a16="http://schemas.microsoft.com/office/drawing/2014/main" id="{1606DF36-9399-40E4-97A9-D09F3EA27C21}"/>
              </a:ext>
            </a:extLst>
          </p:cNvPr>
          <p:cNvSpPr>
            <a:spLocks xmlns:a="http://schemas.openxmlformats.org/drawingml/2006/main" noGrp="1"/>
          </p:cNvSpPr>
          <p:nvPr/>
        </p:nvSpPr>
        <p:spPr>
          <a:xfrm xmlns:a="http://schemas.openxmlformats.org/drawingml/2006/main">
            <a:off x="2143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8624F943-13FB-47A3-BAB5-7CEB3838EC04}"/>
              </a:ext>
            </a:extLst>
          </p:cNvPr>
          <p:cNvSpPr>
            <a:spLocks xmlns:a="http://schemas.openxmlformats.org/drawingml/2006/main" noGrp="1"/>
          </p:cNvSpPr>
          <p:nvPr/>
        </p:nvSpPr>
        <p:spPr>
          <a:xfrm xmlns:a="http://schemas.openxmlformats.org/drawingml/2006/main">
            <a:off x="2238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近结构子集（near）</a:t>
            </a:r>
          </a:p>
        </p:txBody>
      </p:sp>
      <p:sp>
        <p:nvSpPr>
          <p:cNvPr id="21" name="">
            <a:extLst xmlns:a="http://schemas.openxmlformats.org/drawingml/2006/main">
              <a:ext uri="{FF2B5EF4-FFF2-40B4-BE49-F238E27FC236}">
                <a16:creationId xmlns:a16="http://schemas.microsoft.com/office/drawing/2014/main" id="{98C3FA16-B37B-42EB-96A5-D09316E899B8}"/>
              </a:ext>
            </a:extLst>
          </p:cNvPr>
          <p:cNvSpPr>
            <a:spLocks xmlns:a="http://schemas.openxmlformats.org/drawingml/2006/main" noGrp="1"/>
          </p:cNvSpPr>
          <p:nvPr/>
        </p:nvSpPr>
        <p:spPr>
          <a:xfrm xmlns:a="http://schemas.openxmlformats.org/drawingml/2006/main">
            <a:off x="2219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+0.522 pp</a:t>
            </a:r>
          </a:p>
        </p:txBody>
      </p:sp>
      <p:sp>
        <p:nvSpPr>
          <p:cNvPr id="22" name="">
            <a:extLst xmlns:a="http://schemas.openxmlformats.org/drawingml/2006/main">
              <a:ext uri="{FF2B5EF4-FFF2-40B4-BE49-F238E27FC236}">
                <a16:creationId xmlns:a16="http://schemas.microsoft.com/office/drawing/2014/main" id="{37D647B9-3CCA-46E8-AABD-0ACFA1ACEE91}"/>
              </a:ext>
            </a:extLst>
          </p:cNvPr>
          <p:cNvSpPr>
            <a:spLocks xmlns:a="http://schemas.openxmlformats.org/drawingml/2006/main" noGrp="1"/>
          </p:cNvSpPr>
          <p:nvPr/>
        </p:nvSpPr>
        <p:spPr>
          <a:xfrm xmlns:a="http://schemas.openxmlformats.org/drawingml/2006/main">
            <a:off x="3667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3" name="">
            <a:extLst xmlns:a="http://schemas.openxmlformats.org/drawingml/2006/main">
              <a:ext uri="{FF2B5EF4-FFF2-40B4-BE49-F238E27FC236}">
                <a16:creationId xmlns:a16="http://schemas.microsoft.com/office/drawing/2014/main" id="{CCD698C3-13D5-4FC8-BC58-97D2BECDBE0A}"/>
              </a:ext>
            </a:extLst>
          </p:cNvPr>
          <p:cNvSpPr>
            <a:spLocks xmlns:a="http://schemas.openxmlformats.org/drawingml/2006/main" noGrp="1"/>
          </p:cNvSpPr>
          <p:nvPr/>
        </p:nvSpPr>
        <p:spPr>
          <a:xfrm xmlns:a="http://schemas.openxmlformats.org/drawingml/2006/main">
            <a:off x="3762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干净谱向量保持度</a:t>
            </a:r>
          </a:p>
        </p:txBody>
      </p:sp>
      <p:sp>
        <p:nvSpPr>
          <p:cNvPr id="24" name="">
            <a:extLst xmlns:a="http://schemas.openxmlformats.org/drawingml/2006/main">
              <a:ext uri="{FF2B5EF4-FFF2-40B4-BE49-F238E27FC236}">
                <a16:creationId xmlns:a16="http://schemas.microsoft.com/office/drawing/2014/main" id="{157F7968-8367-434A-8108-D9CA31DE3202}"/>
              </a:ext>
            </a:extLst>
          </p:cNvPr>
          <p:cNvSpPr>
            <a:spLocks xmlns:a="http://schemas.openxmlformats.org/drawingml/2006/main" noGrp="1"/>
          </p:cNvSpPr>
          <p:nvPr/>
        </p:nvSpPr>
        <p:spPr>
          <a:xfrm xmlns:a="http://schemas.openxmlformats.org/drawingml/2006/main">
            <a:off x="3743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&gt;0.995</a:t>
            </a:r>
          </a:p>
        </p:txBody>
      </p:sp>
      <p:sp>
        <p:nvSpPr>
          <p:cNvPr id="25" name="">
            <a:extLst xmlns:a="http://schemas.openxmlformats.org/drawingml/2006/main">
              <a:ext uri="{FF2B5EF4-FFF2-40B4-BE49-F238E27FC236}">
                <a16:creationId xmlns:a16="http://schemas.microsoft.com/office/drawing/2014/main" id="{DB50CC19-37E4-4BA7-BBE4-15D08338D210}"/>
              </a:ext>
            </a:extLst>
          </p:cNvPr>
          <p:cNvSpPr>
            <a:spLocks xmlns:a="http://schemas.openxmlformats.org/drawingml/2006/main" noGrp="1"/>
          </p:cNvSpPr>
          <p:nvPr/>
        </p:nvSpPr>
        <p:spPr>
          <a:xfrm xmlns:a="http://schemas.openxmlformats.org/drawingml/2006/main">
            <a:off x="3743325" y="4657725"/>
            <a:ext cx="12287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485"/>
          </a:bodyPr>
          <a:lstStyle xmlns:a="http://schemas.openxmlformats.org/drawingml/2006/main"/>
          <a:p xmlns:a="http://schemas.openxmlformats.org/drawingml/2006/main">
            <a:pPr algn="ctr">
              <a:defRPr sz="825" b="0" i="0">
                <a:solidFill>
                  <a:srgbClr val="5B5B5B"/>
                </a:solidFill>
                <a:latin typeface="Microsoft YaHei"/>
                <a:ea typeface="Microsoft YaHei"/>
                <a:cs typeface="Microsoft YaHei"/>
              </a:defRPr>
            </a:pPr>
            <a:r>
              <a:rPr sz="825" b="0" i="0">
                <a:solidFill>
                  <a:srgbClr val="5B5B5B"/>
                </a:solidFill>
                <a:latin typeface="Microsoft YaHei"/>
                <a:ea typeface="Microsoft YaHei"/>
                <a:cs typeface="Microsoft YaHei"/>
              </a:rPr>
              <a:t>平均余弦</a:t>
            </a:r>
          </a:p>
        </p:txBody>
      </p:sp>
      <p:sp>
        <p:nvSpPr>
          <p:cNvPr id="26" name="">
            <a:extLst xmlns:a="http://schemas.openxmlformats.org/drawingml/2006/main">
              <a:ext uri="{FF2B5EF4-FFF2-40B4-BE49-F238E27FC236}">
                <a16:creationId xmlns:a16="http://schemas.microsoft.com/office/drawing/2014/main" id="{A5474983-0AB6-4969-906C-92F7729D855B}"/>
              </a:ext>
            </a:extLst>
          </p:cNvPr>
          <p:cNvSpPr>
            <a:spLocks xmlns:a="http://schemas.openxmlformats.org/drawingml/2006/main" noGrp="1"/>
          </p:cNvSpPr>
          <p:nvPr/>
        </p:nvSpPr>
        <p:spPr>
          <a:xfrm xmlns:a="http://schemas.openxmlformats.org/drawingml/2006/main">
            <a:off x="5667375" y="1000125"/>
            <a:ext cx="6000750" cy="14763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D076E084-17EA-481B-9E17-1C9BB7156F60}"/>
              </a:ext>
            </a:extLst>
          </p:cNvPr>
          <p:cNvSpPr>
            <a:spLocks xmlns:a="http://schemas.openxmlformats.org/drawingml/2006/main" noGrp="1"/>
          </p:cNvSpPr>
          <p:nvPr/>
        </p:nvSpPr>
        <p:spPr>
          <a:xfrm xmlns:a="http://schemas.openxmlformats.org/drawingml/2006/main">
            <a:off x="5905500" y="1162050"/>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72"/>
          </a:bodyPr>
          <a:lstStyle xmlns:a="http://schemas.openxmlformats.org/drawingml/2006/main"/>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历史动作空间与历史共享模型必须分开报告</a:t>
            </a:r>
          </a:p>
        </p:txBody>
      </p:sp>
      <p:sp>
        <p:nvSpPr>
          <p:cNvPr id="28" name="">
            <a:extLst xmlns:a="http://schemas.openxmlformats.org/drawingml/2006/main">
              <a:ext uri="{FF2B5EF4-FFF2-40B4-BE49-F238E27FC236}">
                <a16:creationId xmlns:a16="http://schemas.microsoft.com/office/drawing/2014/main" id="{7B2D57E3-9F43-4E4B-BD5B-104EB205C322}"/>
              </a:ext>
            </a:extLst>
          </p:cNvPr>
          <p:cNvSpPr>
            <a:spLocks xmlns:a="http://schemas.openxmlformats.org/drawingml/2006/main" noGrp="1"/>
          </p:cNvSpPr>
          <p:nvPr/>
        </p:nvSpPr>
        <p:spPr>
          <a:xfrm xmlns:a="http://schemas.openxmlformats.org/drawingml/2006/main">
            <a:off x="6143625" y="15716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3"/>
          </a:bodyPr>
          <a:lstStyle xmlns:a="http://schemas.openxmlformats.org/drawingml/2006/main"/>
          <a:p xmlns:a="http://schemas.openxmlformats.org/drawingml/2006/main">
            <a:pPr algn="ctr">
              <a:defRPr sz="2250" b="1" i="0">
                <a:solidFill>
                  <a:srgbClr val="7A1F86"/>
                </a:solidFill>
                <a:latin typeface="Microsoft YaHei"/>
                <a:ea typeface="Microsoft YaHei"/>
                <a:cs typeface="Microsoft YaHei"/>
              </a:defRPr>
            </a:pPr>
            <a:r>
              <a:rPr sz="2250" b="1" i="0">
                <a:solidFill>
                  <a:srgbClr val="7A1F86"/>
                </a:solidFill>
                <a:latin typeface="Microsoft YaHei"/>
                <a:ea typeface="Microsoft YaHei"/>
                <a:cs typeface="Microsoft YaHei"/>
              </a:rPr>
              <a:t>3.85 pp</a:t>
            </a:r>
          </a:p>
        </p:txBody>
      </p:sp>
      <p:sp>
        <p:nvSpPr>
          <p:cNvPr id="29" name="">
            <a:extLst xmlns:a="http://schemas.openxmlformats.org/drawingml/2006/main">
              <a:ext uri="{FF2B5EF4-FFF2-40B4-BE49-F238E27FC236}">
                <a16:creationId xmlns:a16="http://schemas.microsoft.com/office/drawing/2014/main" id="{C9C76A74-9A15-4DD0-B01D-7BD741565425}"/>
              </a:ext>
            </a:extLst>
          </p:cNvPr>
          <p:cNvSpPr>
            <a:spLocks xmlns:a="http://schemas.openxmlformats.org/drawingml/2006/main" noGrp="1"/>
          </p:cNvSpPr>
          <p:nvPr/>
        </p:nvSpPr>
        <p:spPr>
          <a:xfrm xmlns:a="http://schemas.openxmlformats.org/drawingml/2006/main">
            <a:off x="581025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602"/>
          </a:bodyPr>
          <a:lstStyle xmlns:a="http://schemas.openxmlformats.org/drawingml/2006/main"/>
          <a:p xmlns:a="http://schemas.openxmlformats.org/drawingml/2006/main">
            <a:pPr algn="ctr">
              <a:defRPr sz="1065" b="0" i="0">
                <a:solidFill>
                  <a:srgbClr val="111111"/>
                </a:solidFill>
                <a:latin typeface="Microsoft YaHei"/>
                <a:ea typeface="Microsoft YaHei"/>
                <a:cs typeface="Microsoft YaHei"/>
              </a:defRPr>
            </a:pPr>
            <a:r>
              <a:rPr sz="1065" b="0" i="0">
                <a:solidFill>
                  <a:srgbClr val="111111"/>
                </a:solidFill>
                <a:latin typeface="Microsoft YaHei"/>
                <a:ea typeface="Microsoft YaHei"/>
                <a:cs typeface="Microsoft YaHei"/>
              </a:rPr>
              <a:t>逐 query 看过全部动作后，允许选择</a:t>
            </a:r>
          </a:p>
          <a:p xmlns:a="http://schemas.openxmlformats.org/drawingml/2006/main">
            <a:pPr algn="ctr">
              <a:defRPr sz="1065" b="0" i="0">
                <a:solidFill>
                  <a:srgbClr val="111111"/>
                </a:solidFill>
                <a:latin typeface="Microsoft YaHei"/>
                <a:ea typeface="Microsoft YaHei"/>
                <a:cs typeface="Microsoft YaHei"/>
              </a:defRPr>
            </a:pPr>
            <a:r>
              <a:rPr sz="1065" b="0" i="0">
                <a:solidFill>
                  <a:srgbClr val="111111"/>
                </a:solidFill>
                <a:latin typeface="Microsoft YaHei"/>
                <a:ea typeface="Microsoft YaHei"/>
                <a:cs typeface="Microsoft YaHei"/>
              </a:rPr>
              <a:t>最佳动作或 no-op 得到的事后 oracle 上限</a:t>
            </a:r>
          </a:p>
        </p:txBody>
      </p:sp>
      <p:sp>
        <p:nvSpPr>
          <p:cNvPr id="30" name="">
            <a:extLst xmlns:a="http://schemas.openxmlformats.org/drawingml/2006/main">
              <a:ext uri="{FF2B5EF4-FFF2-40B4-BE49-F238E27FC236}">
                <a16:creationId xmlns:a16="http://schemas.microsoft.com/office/drawing/2014/main" id="{66F93F36-5F6E-4E21-AED0-1735A8E72991}"/>
              </a:ext>
            </a:extLst>
          </p:cNvPr>
          <p:cNvSpPr>
            <a:spLocks xmlns:a="http://schemas.openxmlformats.org/drawingml/2006/main" noGrp="1"/>
          </p:cNvSpPr>
          <p:nvPr/>
        </p:nvSpPr>
        <p:spPr>
          <a:xfrm xmlns:a="http://schemas.openxmlformats.org/drawingml/2006/main">
            <a:off x="9477375" y="15716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3"/>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0.635 pp</a:t>
            </a:r>
          </a:p>
        </p:txBody>
      </p:sp>
      <p:sp>
        <p:nvSpPr>
          <p:cNvPr id="31" name="">
            <a:extLst xmlns:a="http://schemas.openxmlformats.org/drawingml/2006/main">
              <a:ext uri="{FF2B5EF4-FFF2-40B4-BE49-F238E27FC236}">
                <a16:creationId xmlns:a16="http://schemas.microsoft.com/office/drawing/2014/main" id="{EF4A6D8D-8F67-4073-9AC3-02D78AD8198A}"/>
              </a:ext>
            </a:extLst>
          </p:cNvPr>
          <p:cNvSpPr>
            <a:spLocks xmlns:a="http://schemas.openxmlformats.org/drawingml/2006/main" noGrp="1"/>
          </p:cNvSpPr>
          <p:nvPr/>
        </p:nvSpPr>
        <p:spPr>
          <a:xfrm xmlns:a="http://schemas.openxmlformats.org/drawingml/2006/main">
            <a:off x="91440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572"/>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旧协议下 shared clean encoder</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三 seed 的平均 Recall@1 增益</a:t>
            </a:r>
          </a:p>
        </p:txBody>
      </p:sp>
      <p:sp>
        <p:nvSpPr>
          <p:cNvPr id="32" name="">
            <a:extLst xmlns:a="http://schemas.openxmlformats.org/drawingml/2006/main">
              <a:ext uri="{FF2B5EF4-FFF2-40B4-BE49-F238E27FC236}">
                <a16:creationId xmlns:a16="http://schemas.microsoft.com/office/drawing/2014/main" id="{281491FE-168B-4BAE-BDAA-3239108D7E8A}"/>
              </a:ext>
            </a:extLst>
          </p:cNvPr>
          <p:cNvSpPr>
            <a:spLocks xmlns:a="http://schemas.openxmlformats.org/drawingml/2006/main" noGrp="1"/>
          </p:cNvSpPr>
          <p:nvPr/>
        </p:nvSpPr>
        <p:spPr>
          <a:xfrm xmlns:a="http://schemas.openxmlformats.org/drawingml/2006/main">
            <a:off x="5667375" y="2714625"/>
            <a:ext cx="60007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D3FB862F-D862-4AE7-A07A-DD69EA2F4052}"/>
              </a:ext>
            </a:extLst>
          </p:cNvPr>
          <p:cNvSpPr>
            <a:spLocks xmlns:a="http://schemas.openxmlformats.org/drawingml/2006/main" noGrp="1"/>
          </p:cNvSpPr>
          <p:nvPr/>
        </p:nvSpPr>
        <p:spPr>
          <a:xfrm xmlns:a="http://schemas.openxmlformats.org/drawingml/2006/main">
            <a:off x="5857875" y="28765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同预算三臂对照：大部分增益来自共同的干净谱继续微调</a:t>
            </a:r>
          </a:p>
        </p:txBody>
      </p:sp>
      <p:sp>
        <p:nvSpPr>
          <p:cNvPr id="34" name="">
            <a:extLst xmlns:a="http://schemas.openxmlformats.org/drawingml/2006/main">
              <a:ext uri="{FF2B5EF4-FFF2-40B4-BE49-F238E27FC236}">
                <a16:creationId xmlns:a16="http://schemas.microsoft.com/office/drawing/2014/main" id="{EABBC122-5B4A-4554-9CD0-A2428D0B3788}"/>
              </a:ext>
            </a:extLst>
          </p:cNvPr>
          <p:cNvSpPr>
            <a:spLocks xmlns:a="http://schemas.openxmlformats.org/drawingml/2006/main" noGrp="1"/>
          </p:cNvSpPr>
          <p:nvPr/>
        </p:nvSpPr>
        <p:spPr>
          <a:xfrm xmlns:a="http://schemas.openxmlformats.org/drawingml/2006/main">
            <a:off x="5905500" y="328612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仅干净谱继续微调</a:t>
            </a:r>
          </a:p>
        </p:txBody>
      </p:sp>
      <p:sp>
        <p:nvSpPr>
          <p:cNvPr id="35" name="">
            <a:extLst xmlns:a="http://schemas.openxmlformats.org/drawingml/2006/main">
              <a:ext uri="{FF2B5EF4-FFF2-40B4-BE49-F238E27FC236}">
                <a16:creationId xmlns:a16="http://schemas.microsoft.com/office/drawing/2014/main" id="{2A7671E6-0D9D-4BFE-ADF8-28D85F3BEB13}"/>
              </a:ext>
            </a:extLst>
          </p:cNvPr>
          <p:cNvSpPr>
            <a:spLocks xmlns:a="http://schemas.openxmlformats.org/drawingml/2006/main" noGrp="1"/>
          </p:cNvSpPr>
          <p:nvPr/>
        </p:nvSpPr>
        <p:spPr>
          <a:xfrm xmlns:a="http://schemas.openxmlformats.org/drawingml/2006/main">
            <a:off x="7667625" y="3314700"/>
            <a:ext cx="1978009" cy="14287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A25528C-A999-451F-998A-20BB6936BDF9}"/>
              </a:ext>
            </a:extLst>
          </p:cNvPr>
          <p:cNvSpPr>
            <a:spLocks xmlns:a="http://schemas.openxmlformats.org/drawingml/2006/main" noGrp="1"/>
          </p:cNvSpPr>
          <p:nvPr/>
        </p:nvSpPr>
        <p:spPr>
          <a:xfrm xmlns:a="http://schemas.openxmlformats.org/drawingml/2006/main">
            <a:off x="10001250" y="32670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+0.5065 pp</a:t>
            </a:r>
          </a:p>
        </p:txBody>
      </p:sp>
      <p:sp>
        <p:nvSpPr>
          <p:cNvPr id="37" name="">
            <a:extLst xmlns:a="http://schemas.openxmlformats.org/drawingml/2006/main">
              <a:ext uri="{FF2B5EF4-FFF2-40B4-BE49-F238E27FC236}">
                <a16:creationId xmlns:a16="http://schemas.microsoft.com/office/drawing/2014/main" id="{7B16E18B-2A2D-4C9A-B59C-924886DFA630}"/>
              </a:ext>
            </a:extLst>
          </p:cNvPr>
          <p:cNvSpPr>
            <a:spLocks xmlns:a="http://schemas.openxmlformats.org/drawingml/2006/main" noGrp="1"/>
          </p:cNvSpPr>
          <p:nvPr/>
        </p:nvSpPr>
        <p:spPr>
          <a:xfrm xmlns:a="http://schemas.openxmlformats.org/drawingml/2006/main">
            <a:off x="5905500" y="3581400"/>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匹配随机扰动</a:t>
            </a:r>
          </a:p>
        </p:txBody>
      </p:sp>
      <p:sp>
        <p:nvSpPr>
          <p:cNvPr id="38" name="">
            <a:extLst xmlns:a="http://schemas.openxmlformats.org/drawingml/2006/main">
              <a:ext uri="{FF2B5EF4-FFF2-40B4-BE49-F238E27FC236}">
                <a16:creationId xmlns:a16="http://schemas.microsoft.com/office/drawing/2014/main" id="{0578CE4E-693C-4FA2-B573-260EF4E636E6}"/>
              </a:ext>
            </a:extLst>
          </p:cNvPr>
          <p:cNvSpPr>
            <a:spLocks xmlns:a="http://schemas.openxmlformats.org/drawingml/2006/main" noGrp="1"/>
          </p:cNvSpPr>
          <p:nvPr/>
        </p:nvSpPr>
        <p:spPr>
          <a:xfrm xmlns:a="http://schemas.openxmlformats.org/drawingml/2006/main">
            <a:off x="7667625" y="3609975"/>
            <a:ext cx="1978009" cy="14287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25867C6-8CD3-4314-94AF-B9303AE9AA8B}"/>
              </a:ext>
            </a:extLst>
          </p:cNvPr>
          <p:cNvSpPr>
            <a:spLocks xmlns:a="http://schemas.openxmlformats.org/drawingml/2006/main" noGrp="1"/>
          </p:cNvSpPr>
          <p:nvPr/>
        </p:nvSpPr>
        <p:spPr>
          <a:xfrm xmlns:a="http://schemas.openxmlformats.org/drawingml/2006/main">
            <a:off x="10001250" y="356235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+0.5065 pp</a:t>
            </a:r>
          </a:p>
        </p:txBody>
      </p:sp>
      <p:sp>
        <p:nvSpPr>
          <p:cNvPr id="40" name="">
            <a:extLst xmlns:a="http://schemas.openxmlformats.org/drawingml/2006/main">
              <a:ext uri="{FF2B5EF4-FFF2-40B4-BE49-F238E27FC236}">
                <a16:creationId xmlns:a16="http://schemas.microsoft.com/office/drawing/2014/main" id="{A9CF315C-E148-4EA5-B725-86DFAA0F5D70}"/>
              </a:ext>
            </a:extLst>
          </p:cNvPr>
          <p:cNvSpPr>
            <a:spLocks xmlns:a="http://schemas.openxmlformats.org/drawingml/2006/main" noGrp="1"/>
          </p:cNvSpPr>
          <p:nvPr/>
        </p:nvSpPr>
        <p:spPr>
          <a:xfrm xmlns:a="http://schemas.openxmlformats.org/drawingml/2006/main">
            <a:off x="5905500" y="38766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定向扰动</a:t>
            </a:r>
          </a:p>
        </p:txBody>
      </p:sp>
      <p:sp>
        <p:nvSpPr>
          <p:cNvPr id="41" name="">
            <a:extLst xmlns:a="http://schemas.openxmlformats.org/drawingml/2006/main">
              <a:ext uri="{FF2B5EF4-FFF2-40B4-BE49-F238E27FC236}">
                <a16:creationId xmlns:a16="http://schemas.microsoft.com/office/drawing/2014/main" id="{98F918AD-9959-4842-95D2-6F6EE2B6C8C3}"/>
              </a:ext>
            </a:extLst>
          </p:cNvPr>
          <p:cNvSpPr>
            <a:spLocks xmlns:a="http://schemas.openxmlformats.org/drawingml/2006/main" noGrp="1"/>
          </p:cNvSpPr>
          <p:nvPr/>
        </p:nvSpPr>
        <p:spPr>
          <a:xfrm xmlns:a="http://schemas.openxmlformats.org/drawingml/2006/main">
            <a:off x="7667625" y="3905250"/>
            <a:ext cx="2110007" cy="1428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98FF0DD-9553-42C1-990C-5291A40E026D}"/>
              </a:ext>
            </a:extLst>
          </p:cNvPr>
          <p:cNvSpPr>
            <a:spLocks xmlns:a="http://schemas.openxmlformats.org/drawingml/2006/main" noGrp="1"/>
          </p:cNvSpPr>
          <p:nvPr/>
        </p:nvSpPr>
        <p:spPr>
          <a:xfrm xmlns:a="http://schemas.openxmlformats.org/drawingml/2006/main">
            <a:off x="10001250" y="38576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+0.5403 pp</a:t>
            </a:r>
          </a:p>
        </p:txBody>
      </p:sp>
      <p:sp>
        <p:nvSpPr>
          <p:cNvPr id="43" name="">
            <a:extLst xmlns:a="http://schemas.openxmlformats.org/drawingml/2006/main">
              <a:ext uri="{FF2B5EF4-FFF2-40B4-BE49-F238E27FC236}">
                <a16:creationId xmlns:a16="http://schemas.microsoft.com/office/drawing/2014/main" id="{9E413343-6E01-4864-B5F8-B0DB2CD24AAE}"/>
              </a:ext>
            </a:extLst>
          </p:cNvPr>
          <p:cNvSpPr>
            <a:spLocks xmlns:a="http://schemas.openxmlformats.org/drawingml/2006/main" noGrp="1"/>
          </p:cNvSpPr>
          <p:nvPr/>
        </p:nvSpPr>
        <p:spPr>
          <a:xfrm xmlns:a="http://schemas.openxmlformats.org/drawingml/2006/main">
            <a:off x="5953125" y="42672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607"/>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定向相对随机仅 +0.034 pp；分子式聚类 95% CI 包含 0，尚不能证明定向峰语义具有独立贡献。</a:t>
            </a:r>
          </a:p>
        </p:txBody>
      </p:sp>
      <p:sp>
        <p:nvSpPr>
          <p:cNvPr id="44" name="">
            <a:extLst xmlns:a="http://schemas.openxmlformats.org/drawingml/2006/main">
              <a:ext uri="{FF2B5EF4-FFF2-40B4-BE49-F238E27FC236}">
                <a16:creationId xmlns:a16="http://schemas.microsoft.com/office/drawing/2014/main" id="{1388DF3B-2C20-498F-922D-1F573B362AC8}"/>
              </a:ext>
            </a:extLst>
          </p:cNvPr>
          <p:cNvSpPr>
            <a:spLocks xmlns:a="http://schemas.openxmlformats.org/drawingml/2006/main" noGrp="1"/>
          </p:cNvSpPr>
          <p:nvPr/>
        </p:nvSpPr>
        <p:spPr>
          <a:xfrm xmlns:a="http://schemas.openxmlformats.org/drawingml/2006/main">
            <a:off x="619125" y="5095875"/>
            <a:ext cx="11049000" cy="8763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6983ed5bc9474407"/>
          <a:stretch xmlns:a="http://schemas.openxmlformats.org/drawingml/2006/main"/>
        </p:blipFill>
        <p:spPr>
          <a:xfrm xmlns:a="http://schemas.openxmlformats.org/drawingml/2006/main">
            <a:off x="904875" y="5191125"/>
            <a:ext cx="590550" cy="590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F4783DB7-55F9-4CBC-9AF8-9FA9E808FC03}"/>
              </a:ext>
            </a:extLst>
          </p:cNvPr>
          <p:cNvSpPr>
            <a:spLocks xmlns:a="http://schemas.openxmlformats.org/drawingml/2006/main" noGrp="1"/>
          </p:cNvSpPr>
          <p:nvPr/>
        </p:nvSpPr>
        <p:spPr>
          <a:xfrm xmlns:a="http://schemas.openxmlformats.org/drawingml/2006/main">
            <a:off x="1666875" y="51911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l">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冻结动作审计实例</a:t>
            </a:r>
          </a:p>
        </p:txBody>
      </p:sp>
      <p:sp>
        <p:nvSpPr>
          <p:cNvPr id="47" name="">
            <a:extLst xmlns:a="http://schemas.openxmlformats.org/drawingml/2006/main">
              <a:ext uri="{FF2B5EF4-FFF2-40B4-BE49-F238E27FC236}">
                <a16:creationId xmlns:a16="http://schemas.microsoft.com/office/drawing/2014/main" id="{DDBC5362-501A-400D-B8F7-D90B333FB482}"/>
              </a:ext>
            </a:extLst>
          </p:cNvPr>
          <p:cNvSpPr>
            <a:spLocks xmlns:a="http://schemas.openxmlformats.org/drawingml/2006/main" noGrp="1"/>
          </p:cNvSpPr>
          <p:nvPr/>
        </p:nvSpPr>
        <p:spPr>
          <a:xfrm xmlns:a="http://schemas.openxmlformats.org/drawingml/2006/main">
            <a:off x="2857500" y="5191125"/>
            <a:ext cx="847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query #1596，C₁₈H₁₆O₅：Cabreuvin 在官方 DreaMS 中位于第 6；</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选择该 query 的有效峰动作后可升至第 1。此例说明存在可修正信号，不代表部署时可观察到真值动作。</a:t>
            </a:r>
          </a:p>
        </p:txBody>
      </p:sp>
      <p:sp>
        <p:nvSpPr>
          <p:cNvPr id="48" name="">
            <a:extLst xmlns:a="http://schemas.openxmlformats.org/drawingml/2006/main">
              <a:ext uri="{FF2B5EF4-FFF2-40B4-BE49-F238E27FC236}">
                <a16:creationId xmlns:a16="http://schemas.microsoft.com/office/drawing/2014/main" id="{88E9D3F4-5B68-4631-9014-8B7FCD659CB0}"/>
              </a:ext>
            </a:extLst>
          </p:cNvPr>
          <p:cNvSpPr>
            <a:spLocks xmlns:a="http://schemas.openxmlformats.org/drawingml/2006/main" noGrp="1"/>
          </p:cNvSpPr>
          <p:nvPr/>
        </p:nvSpPr>
        <p:spPr>
          <a:xfrm xmlns:a="http://schemas.openxmlformats.org/drawingml/2006/main">
            <a:off x="1095375" y="609600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当前结论：峰动作有机制价值，共享 encoder 已稳定改善；但“定向优于随机”的独立贡献仍需新的因果训练目标验证。</a:t>
            </a:r>
          </a:p>
        </p:txBody>
      </p:sp>
    </p:spTree>
    <p:extLst>
      <p:ext uri="{BB962C8B-B14F-4D97-AF65-F5344CB8AC3E}">
        <p14:creationId xmlns:p14="http://schemas.microsoft.com/office/powerpoint/2010/main" val="15677583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28D7B7B-63D5-4133-9E4F-73B792A2DC0F}"/>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315CA4-15D3-44BA-BD31-C88BAD184F61}"/>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6F643E-3360-4C86-9BA9-185132C47108}"/>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F1DC5C-0844-4272-B349-E41163670B7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ED8C9F-CDC6-4235-AF6F-D2C0580D4424}"/>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局部谱学证据重排：补回 embedding 中被压缩的细粒度差异</a:t>
            </a:r>
          </a:p>
        </p:txBody>
      </p:sp>
      <p:sp>
        <p:nvSpPr>
          <p:cNvPr id="6" name="">
            <a:extLst xmlns:a="http://schemas.openxmlformats.org/drawingml/2006/main">
              <a:ext uri="{FF2B5EF4-FFF2-40B4-BE49-F238E27FC236}">
                <a16:creationId xmlns:a16="http://schemas.microsoft.com/office/drawing/2014/main" id="{B6D83E44-7939-47A3-98D0-79451604D265}"/>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605AE0-2BEF-4A46-902F-607A55704630}"/>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65BB67-3689-45A9-B773-ADD963B92237}"/>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5CAAA7-3509-4F46-A5AA-0E6221A9B50F}"/>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F94A63B9-7144-42A8-A1A7-06EEEB734A2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29dc50c521a4809"/>
          <a:stretch xmlns:a="http://schemas.openxmlformats.org/drawingml/2006/main"/>
        </p:blipFill>
        <p:spPr>
          <a:xfrm xmlns:a="http://schemas.openxmlformats.org/drawingml/2006/main">
            <a:off x="476250" y="1250462"/>
            <a:ext cx="4953000" cy="29283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4C10A59-3E64-4EF0-95CD-583485F96CEF}"/>
              </a:ext>
            </a:extLst>
          </p:cNvPr>
          <p:cNvSpPr>
            <a:spLocks xmlns:a="http://schemas.openxmlformats.org/drawingml/2006/main" noGrp="1"/>
          </p:cNvSpPr>
          <p:nvPr/>
        </p:nvSpPr>
        <p:spPr>
          <a:xfrm xmlns:a="http://schemas.openxmlformats.org/drawingml/2006/main">
            <a:off x="5857875" y="95250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为什么接在定向微调之后？</a:t>
            </a:r>
          </a:p>
        </p:txBody>
      </p:sp>
      <p:sp>
        <p:nvSpPr>
          <p:cNvPr id="13" name="">
            <a:extLst xmlns:a="http://schemas.openxmlformats.org/drawingml/2006/main">
              <a:ext uri="{FF2B5EF4-FFF2-40B4-BE49-F238E27FC236}">
                <a16:creationId xmlns:a16="http://schemas.microsoft.com/office/drawing/2014/main" id="{BFA08FB7-158A-4FCE-BB42-3B41E70E6751}"/>
              </a:ext>
            </a:extLst>
          </p:cNvPr>
          <p:cNvSpPr>
            <a:spLocks xmlns:a="http://schemas.openxmlformats.org/drawingml/2006/main" noGrp="1"/>
          </p:cNvSpPr>
          <p:nvPr/>
        </p:nvSpPr>
        <p:spPr>
          <a:xfrm xmlns:a="http://schemas.openxmlformats.org/drawingml/2006/main">
            <a:off x="5857875" y="1428750"/>
            <a:ext cx="5095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013"/>
          </a:bodyPr>
          <a:lstStyle xmlns:a="http://schemas.openxmlformats.org/drawingml/2006/main"/>
          <a:p xmlns:a="http://schemas.openxmlformats.org/drawingml/2006/main">
            <a:pPr algn="l">
              <a:defRPr sz="1425" b="0" i="0">
                <a:solidFill>
                  <a:srgbClr val="111111"/>
                </a:solidFill>
                <a:latin typeface="Microsoft YaHei"/>
                <a:ea typeface="Microsoft YaHei"/>
                <a:cs typeface="Microsoft YaHei"/>
              </a:defRPr>
            </a:pPr>
            <a:r>
              <a:rPr sz="1425" b="0" i="0">
                <a:solidFill>
                  <a:srgbClr val="111111"/>
                </a:solidFill>
                <a:latin typeface="Microsoft YaHei"/>
                <a:ea typeface="Microsoft YaHei"/>
                <a:cs typeface="Microsoft YaHei"/>
              </a:rPr>
              <a:t>定向微调改善的是所有谱图共享的全局 embedding；但一张 1024 维向量仍可能压缩少量决定性峰。</a:t>
            </a:r>
          </a:p>
          <a:p xmlns:a="http://schemas.openxmlformats.org/drawingml/2006/main">
            <a:pPr algn="l">
              <a:defRPr sz="1425" b="0" i="0">
                <a:solidFill>
                  <a:srgbClr val="111111"/>
                </a:solidFill>
                <a:latin typeface="Microsoft YaHei"/>
                <a:ea typeface="Microsoft YaHei"/>
                <a:cs typeface="Microsoft YaHei"/>
              </a:defRPr>
            </a:pPr>
            <a:r>
              <a:rPr sz="1425" b="0" i="0">
                <a:solidFill>
                  <a:srgbClr val="111111"/>
                </a:solidFill>
                <a:latin typeface="Microsoft YaHei"/>
                <a:ea typeface="Microsoft YaHei"/>
                <a:cs typeface="Microsoft YaHei"/>
              </a:rPr>
              <a:t>因此我们不再改 encoder，而是在候选 Top-k 上重新读取原始峰表。</a:t>
            </a:r>
          </a:p>
        </p:txBody>
      </p:sp>
      <p:sp>
        <p:nvSpPr>
          <p:cNvPr id="14" name="">
            <a:extLst xmlns:a="http://schemas.openxmlformats.org/drawingml/2006/main">
              <a:ext uri="{FF2B5EF4-FFF2-40B4-BE49-F238E27FC236}">
                <a16:creationId xmlns:a16="http://schemas.microsoft.com/office/drawing/2014/main" id="{EA00408D-AA8F-4FDC-9461-826644ECE530}"/>
              </a:ext>
            </a:extLst>
          </p:cNvPr>
          <p:cNvSpPr>
            <a:spLocks xmlns:a="http://schemas.openxmlformats.org/drawingml/2006/main" noGrp="1"/>
          </p:cNvSpPr>
          <p:nvPr/>
        </p:nvSpPr>
        <p:spPr>
          <a:xfrm xmlns:a="http://schemas.openxmlformats.org/drawingml/2006/main">
            <a:off x="5810250" y="2571750"/>
            <a:ext cx="5238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15" name="">
            <a:extLst xmlns:a="http://schemas.openxmlformats.org/drawingml/2006/main">
              <a:ext uri="{FF2B5EF4-FFF2-40B4-BE49-F238E27FC236}">
                <a16:creationId xmlns:a16="http://schemas.microsoft.com/office/drawing/2014/main" id="{254CABAD-DC91-49B5-8D0D-6CA37D365846}"/>
              </a:ext>
            </a:extLst>
          </p:cNvPr>
          <p:cNvSpPr>
            <a:spLocks xmlns:a="http://schemas.openxmlformats.org/drawingml/2006/main" noGrp="1"/>
          </p:cNvSpPr>
          <p:nvPr/>
        </p:nvSpPr>
        <p:spPr>
          <a:xfrm xmlns:a="http://schemas.openxmlformats.org/drawingml/2006/main">
            <a:off x="6000750" y="27146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专家 1：碎片谱熵相似度</a:t>
            </a:r>
          </a:p>
        </p:txBody>
      </p:sp>
      <p:sp>
        <p:nvSpPr>
          <p:cNvPr id="16" name="">
            <a:extLst xmlns:a="http://schemas.openxmlformats.org/drawingml/2006/main">
              <a:ext uri="{FF2B5EF4-FFF2-40B4-BE49-F238E27FC236}">
                <a16:creationId xmlns:a16="http://schemas.microsoft.com/office/drawing/2014/main" id="{CBD05F93-B3DC-461C-BD4B-2AB3E0039A2E}"/>
              </a:ext>
            </a:extLst>
          </p:cNvPr>
          <p:cNvSpPr>
            <a:spLocks xmlns:a="http://schemas.openxmlformats.org/drawingml/2006/main" noGrp="1"/>
          </p:cNvSpPr>
          <p:nvPr/>
        </p:nvSpPr>
        <p:spPr>
          <a:xfrm xmlns:a="http://schemas.openxmlformats.org/drawingml/2006/main">
            <a:off x="6143625" y="30956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2"/>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比较匹配碎片的整体强度分布，降低单个超强峰对余弦相似度的支配。</a:t>
            </a:r>
          </a:p>
        </p:txBody>
      </p:sp>
      <p:sp>
        <p:nvSpPr>
          <p:cNvPr id="17" name="">
            <a:extLst xmlns:a="http://schemas.openxmlformats.org/drawingml/2006/main">
              <a:ext uri="{FF2B5EF4-FFF2-40B4-BE49-F238E27FC236}">
                <a16:creationId xmlns:a16="http://schemas.microsoft.com/office/drawing/2014/main" id="{6A450F70-DC03-445E-ACA3-3CAD33F279D9}"/>
              </a:ext>
            </a:extLst>
          </p:cNvPr>
          <p:cNvSpPr>
            <a:spLocks xmlns:a="http://schemas.openxmlformats.org/drawingml/2006/main" noGrp="1"/>
          </p:cNvSpPr>
          <p:nvPr/>
        </p:nvSpPr>
        <p:spPr>
          <a:xfrm xmlns:a="http://schemas.openxmlformats.org/drawingml/2006/main">
            <a:off x="5810250" y="3857625"/>
            <a:ext cx="5238750" cy="1047750"/>
          </a:xfrm>
          <a:prstGeom xmlns:a="http://schemas.openxmlformats.org/drawingml/2006/main" prst="rect">
            <a:avLst/>
          </a:prstGeom>
          <a:solidFill xmlns:a="http://schemas.openxmlformats.org/drawingml/2006/main">
            <a:srgbClr val="F5F5F5"/>
          </a:solidFill>
          <a:ln xmlns:a="http://schemas.openxmlformats.org/drawingml/2006/main" w="19050">
            <a:solidFill>
              <a:srgbClr val="7A1F86"/>
            </a:solidFill>
            <a:prstDash val="solid"/>
          </a:ln>
        </p:spPr>
      </p:sp>
      <p:sp>
        <p:nvSpPr>
          <p:cNvPr id="18" name="">
            <a:extLst xmlns:a="http://schemas.openxmlformats.org/drawingml/2006/main">
              <a:ext uri="{FF2B5EF4-FFF2-40B4-BE49-F238E27FC236}">
                <a16:creationId xmlns:a16="http://schemas.microsoft.com/office/drawing/2014/main" id="{FA39CB5B-B2ED-43D2-8D91-66F35339F472}"/>
              </a:ext>
            </a:extLst>
          </p:cNvPr>
          <p:cNvSpPr>
            <a:spLocks xmlns:a="http://schemas.openxmlformats.org/drawingml/2006/main" noGrp="1"/>
          </p:cNvSpPr>
          <p:nvPr/>
        </p:nvSpPr>
        <p:spPr>
          <a:xfrm xmlns:a="http://schemas.openxmlformats.org/drawingml/2006/main">
            <a:off x="6000750" y="40005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专家 2：中性丢失相似度</a:t>
            </a:r>
          </a:p>
        </p:txBody>
      </p:sp>
      <p:sp>
        <p:nvSpPr>
          <p:cNvPr id="19" name="">
            <a:extLst xmlns:a="http://schemas.openxmlformats.org/drawingml/2006/main">
              <a:ext uri="{FF2B5EF4-FFF2-40B4-BE49-F238E27FC236}">
                <a16:creationId xmlns:a16="http://schemas.microsoft.com/office/drawing/2014/main" id="{292696A2-0187-4900-B08B-7170ED40A4EC}"/>
              </a:ext>
            </a:extLst>
          </p:cNvPr>
          <p:cNvSpPr>
            <a:spLocks xmlns:a="http://schemas.openxmlformats.org/drawingml/2006/main" noGrp="1"/>
          </p:cNvSpPr>
          <p:nvPr/>
        </p:nvSpPr>
        <p:spPr>
          <a:xfrm xmlns:a="http://schemas.openxmlformats.org/drawingml/2006/main">
            <a:off x="6143625" y="43815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326"/>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把每个碎片转换为 precursor−fragment，突出官能团脱除和骨架差异。</a:t>
            </a:r>
          </a:p>
        </p:txBody>
      </p:sp>
      <p:sp>
        <p:nvSpPr>
          <p:cNvPr id="20" name="">
            <a:extLst xmlns:a="http://schemas.openxmlformats.org/drawingml/2006/main">
              <a:ext uri="{FF2B5EF4-FFF2-40B4-BE49-F238E27FC236}">
                <a16:creationId xmlns:a16="http://schemas.microsoft.com/office/drawing/2014/main" id="{67F8A358-ADD9-43F2-9A55-BCA60897D2D9}"/>
              </a:ext>
            </a:extLst>
          </p:cNvPr>
          <p:cNvSpPr>
            <a:spLocks xmlns:a="http://schemas.openxmlformats.org/drawingml/2006/main" noGrp="1"/>
          </p:cNvSpPr>
          <p:nvPr/>
        </p:nvSpPr>
        <p:spPr>
          <a:xfrm xmlns:a="http://schemas.openxmlformats.org/drawingml/2006/main">
            <a:off x="1095375" y="4857750"/>
            <a:ext cx="10001250" cy="7429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1" name="">
            <a:extLst xmlns:a="http://schemas.openxmlformats.org/drawingml/2006/main">
              <a:ext uri="{FF2B5EF4-FFF2-40B4-BE49-F238E27FC236}">
                <a16:creationId xmlns:a16="http://schemas.microsoft.com/office/drawing/2014/main" id="{4D077F3C-DBB7-429C-94AB-32A11354AF79}"/>
              </a:ext>
            </a:extLst>
          </p:cNvPr>
          <p:cNvSpPr>
            <a:spLocks xmlns:a="http://schemas.openxmlformats.org/drawingml/2006/main" noGrp="1"/>
          </p:cNvSpPr>
          <p:nvPr/>
        </p:nvSpPr>
        <p:spPr>
          <a:xfrm xmlns:a="http://schemas.openxmlformats.org/drawingml/2006/main">
            <a:off x="1476375" y="50292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最终分数 = 0.10 × DreaMS + 0.10 × 谱熵相似度 + 0.80 × 中性丢失相似度</a:t>
            </a:r>
          </a:p>
        </p:txBody>
      </p:sp>
      <p:sp>
        <p:nvSpPr>
          <p:cNvPr id="22" name="">
            <a:extLst xmlns:a="http://schemas.openxmlformats.org/drawingml/2006/main">
              <a:ext uri="{FF2B5EF4-FFF2-40B4-BE49-F238E27FC236}">
                <a16:creationId xmlns:a16="http://schemas.microsoft.com/office/drawing/2014/main" id="{D18A23DA-9578-4EFD-B90A-69DA2D19B5A3}"/>
              </a:ext>
            </a:extLst>
          </p:cNvPr>
          <p:cNvSpPr>
            <a:spLocks xmlns:a="http://schemas.openxmlformats.org/drawingml/2006/main" noGrp="1"/>
          </p:cNvSpPr>
          <p:nvPr/>
        </p:nvSpPr>
        <p:spPr>
          <a:xfrm xmlns:a="http://schemas.openxmlformats.org/drawingml/2006/main">
            <a:off x="2333625" y="5762625"/>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输入仍是 query 与候选参考谱；输出是保留原候选集合的重新排序。</a:t>
            </a:r>
          </a:p>
        </p:txBody>
      </p:sp>
    </p:spTree>
    <p:extLst>
      <p:ext uri="{BB962C8B-B14F-4D97-AF65-F5344CB8AC3E}">
        <p14:creationId xmlns:p14="http://schemas.microsoft.com/office/powerpoint/2010/main" val="12680252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D11D6D50-8571-4645-88F8-EAC82757BF6E}"/>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F15A04-EAAE-471B-8E61-CD3F25FE2E48}"/>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51523B-AB16-44C5-8EA7-DECE786691F2}"/>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877B56-C06B-49C5-81DE-A89AD5D39D8D}"/>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F4D91A-FFF2-4036-972D-C78096BD2CFE}"/>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局部谱学证据重排：真实候选由第 6 位升至第 1 位</a:t>
            </a:r>
          </a:p>
        </p:txBody>
      </p:sp>
      <p:sp>
        <p:nvSpPr>
          <p:cNvPr id="6" name="">
            <a:extLst xmlns:a="http://schemas.openxmlformats.org/drawingml/2006/main">
              <a:ext uri="{FF2B5EF4-FFF2-40B4-BE49-F238E27FC236}">
                <a16:creationId xmlns:a16="http://schemas.microsoft.com/office/drawing/2014/main" id="{F9F10947-4D6A-4FF6-82E9-4F1B6BE279D6}"/>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1AF8A5-57E2-47C4-8C89-58E9D3F1DD2D}"/>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3970CB-339D-4BD6-9446-188301F5951A}"/>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22A692-3070-43F5-A42B-F42C76F416B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2582AD25-1AE1-4470-9E41-998039BD304C}"/>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71" name="Chart"/>
          <p:cNvGraphicFramePr/>
          <p:nvPr/>
        </p:nvGraphicFramePr>
        <p:xfrm>
          <a:off xmlns:a="http://schemas.openxmlformats.org/drawingml/2006/main" x="428625" y="1000125"/>
          <a:ext xmlns:a="http://schemas.openxmlformats.org/drawingml/2006/main" cx="3143250" cy="2333625"/>
        </p:xfrm>
        <a:graphic xmlns:a="http://schemas.openxmlformats.org/drawingml/2006/main">
          <a:graphicData uri="http://schemas.openxmlformats.org/drawingml/2006/chart">
            <c:chart xmlns:r="http://schemas.openxmlformats.org/officeDocument/2006/relationships" xmlns:c="http://schemas.openxmlformats.org/drawingml/2006/chart" r:id="Rf5832007d44d4440"/>
          </a:graphicData>
        </a:graphic>
      </p:graphicFrame>
      <p:sp>
        <p:nvSpPr>
          <p:cNvPr id="12" name="">
            <a:extLst xmlns:a="http://schemas.openxmlformats.org/drawingml/2006/main">
              <a:ext uri="{FF2B5EF4-FFF2-40B4-BE49-F238E27FC236}">
                <a16:creationId xmlns:a16="http://schemas.microsoft.com/office/drawing/2014/main" id="{7EEDF6F3-D8EC-4F26-AC15-6A31826E5BC5}"/>
              </a:ext>
            </a:extLst>
          </p:cNvPr>
          <p:cNvSpPr>
            <a:spLocks xmlns:a="http://schemas.openxmlformats.org/drawingml/2006/main" noGrp="1"/>
          </p:cNvSpPr>
          <p:nvPr/>
        </p:nvSpPr>
        <p:spPr>
          <a:xfrm xmlns:a="http://schemas.openxmlformats.org/drawingml/2006/main">
            <a:off x="847725" y="20669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87.93%</a:t>
            </a:r>
          </a:p>
        </p:txBody>
      </p:sp>
      <p:sp>
        <p:nvSpPr>
          <p:cNvPr id="13" name="">
            <a:extLst xmlns:a="http://schemas.openxmlformats.org/drawingml/2006/main">
              <a:ext uri="{FF2B5EF4-FFF2-40B4-BE49-F238E27FC236}">
                <a16:creationId xmlns:a16="http://schemas.microsoft.com/office/drawing/2014/main" id="{A6554672-B2C4-43E3-8497-49DA857BFD78}"/>
              </a:ext>
            </a:extLst>
          </p:cNvPr>
          <p:cNvSpPr>
            <a:spLocks xmlns:a="http://schemas.openxmlformats.org/drawingml/2006/main" noGrp="1"/>
          </p:cNvSpPr>
          <p:nvPr/>
        </p:nvSpPr>
        <p:spPr>
          <a:xfrm xmlns:a="http://schemas.openxmlformats.org/drawingml/2006/main">
            <a:off x="23050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7A1F86"/>
                </a:solidFill>
                <a:latin typeface="Microsoft YaHei"/>
                <a:ea typeface="Microsoft YaHei"/>
                <a:cs typeface="Microsoft YaHei"/>
              </a:defRPr>
            </a:pPr>
            <a:r>
              <a:rPr sz="1125" b="1" i="0">
                <a:solidFill>
                  <a:srgbClr val="7A1F86"/>
                </a:solidFill>
                <a:latin typeface="Microsoft YaHei"/>
                <a:ea typeface="Microsoft YaHei"/>
                <a:cs typeface="Microsoft YaHei"/>
              </a:rPr>
              <a:t>89.13%</a:t>
            </a:r>
          </a:p>
        </p:txBody>
      </p:sp>
      <p:sp>
        <p:nvSpPr>
          <p:cNvPr id="14" name="">
            <a:extLst xmlns:a="http://schemas.openxmlformats.org/drawingml/2006/main">
              <a:ext uri="{FF2B5EF4-FFF2-40B4-BE49-F238E27FC236}">
                <a16:creationId xmlns:a16="http://schemas.microsoft.com/office/drawing/2014/main" id="{E46BD5B5-D8A9-4AB1-A56C-55AFD1AE4A0F}"/>
              </a:ext>
            </a:extLst>
          </p:cNvPr>
          <p:cNvSpPr>
            <a:spLocks xmlns:a="http://schemas.openxmlformats.org/drawingml/2006/main" noGrp="1"/>
          </p:cNvSpPr>
          <p:nvPr/>
        </p:nvSpPr>
        <p:spPr>
          <a:xfrm xmlns:a="http://schemas.openxmlformats.org/drawingml/2006/main">
            <a:off x="666750" y="3619500"/>
            <a:ext cx="123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BFD05635-A041-4D2C-936B-684EB2D1990A}"/>
              </a:ext>
            </a:extLst>
          </p:cNvPr>
          <p:cNvSpPr>
            <a:spLocks xmlns:a="http://schemas.openxmlformats.org/drawingml/2006/main" noGrp="1"/>
          </p:cNvSpPr>
          <p:nvPr/>
        </p:nvSpPr>
        <p:spPr>
          <a:xfrm xmlns:a="http://schemas.openxmlformats.org/drawingml/2006/main">
            <a:off x="762000" y="370522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提升</a:t>
            </a:r>
          </a:p>
        </p:txBody>
      </p:sp>
      <p:sp>
        <p:nvSpPr>
          <p:cNvPr id="16" name="">
            <a:extLst xmlns:a="http://schemas.openxmlformats.org/drawingml/2006/main">
              <a:ext uri="{FF2B5EF4-FFF2-40B4-BE49-F238E27FC236}">
                <a16:creationId xmlns:a16="http://schemas.microsoft.com/office/drawing/2014/main" id="{48559C3A-B00B-4968-81FA-2C00D199069D}"/>
              </a:ext>
            </a:extLst>
          </p:cNvPr>
          <p:cNvSpPr>
            <a:spLocks xmlns:a="http://schemas.openxmlformats.org/drawingml/2006/main" noGrp="1"/>
          </p:cNvSpPr>
          <p:nvPr/>
        </p:nvSpPr>
        <p:spPr>
          <a:xfrm xmlns:a="http://schemas.openxmlformats.org/drawingml/2006/main">
            <a:off x="742950" y="3914775"/>
            <a:ext cx="1085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+1.20 pp</a:t>
            </a:r>
          </a:p>
        </p:txBody>
      </p:sp>
      <p:sp>
        <p:nvSpPr>
          <p:cNvPr id="17" name="">
            <a:extLst xmlns:a="http://schemas.openxmlformats.org/drawingml/2006/main">
              <a:ext uri="{FF2B5EF4-FFF2-40B4-BE49-F238E27FC236}">
                <a16:creationId xmlns:a16="http://schemas.microsoft.com/office/drawing/2014/main" id="{CA286AD5-4D61-4CB4-A24A-A2AFC02D751D}"/>
              </a:ext>
            </a:extLst>
          </p:cNvPr>
          <p:cNvSpPr>
            <a:spLocks xmlns:a="http://schemas.openxmlformats.org/drawingml/2006/main" noGrp="1"/>
          </p:cNvSpPr>
          <p:nvPr/>
        </p:nvSpPr>
        <p:spPr>
          <a:xfrm xmlns:a="http://schemas.openxmlformats.org/drawingml/2006/main">
            <a:off x="2095500" y="3619500"/>
            <a:ext cx="123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870955F0-FE7C-4CBF-9DDF-6C38FFEFCC1C}"/>
              </a:ext>
            </a:extLst>
          </p:cNvPr>
          <p:cNvSpPr>
            <a:spLocks xmlns:a="http://schemas.openxmlformats.org/drawingml/2006/main" noGrp="1"/>
          </p:cNvSpPr>
          <p:nvPr/>
        </p:nvSpPr>
        <p:spPr>
          <a:xfrm xmlns:a="http://schemas.openxmlformats.org/drawingml/2006/main">
            <a:off x="2190750" y="370522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查询数</a:t>
            </a:r>
          </a:p>
        </p:txBody>
      </p:sp>
      <p:sp>
        <p:nvSpPr>
          <p:cNvPr id="19" name="">
            <a:extLst xmlns:a="http://schemas.openxmlformats.org/drawingml/2006/main">
              <a:ext uri="{FF2B5EF4-FFF2-40B4-BE49-F238E27FC236}">
                <a16:creationId xmlns:a16="http://schemas.microsoft.com/office/drawing/2014/main" id="{C259152B-B752-415B-80CC-E682673A24F5}"/>
              </a:ext>
            </a:extLst>
          </p:cNvPr>
          <p:cNvSpPr>
            <a:spLocks xmlns:a="http://schemas.openxmlformats.org/drawingml/2006/main" noGrp="1"/>
          </p:cNvSpPr>
          <p:nvPr/>
        </p:nvSpPr>
        <p:spPr>
          <a:xfrm xmlns:a="http://schemas.openxmlformats.org/drawingml/2006/main">
            <a:off x="2171700" y="3914775"/>
            <a:ext cx="1085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3,000</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2c7fbcf1366244c4"/>
          <a:stretch xmlns:a="http://schemas.openxmlformats.org/drawingml/2006/main"/>
        </p:blipFill>
        <p:spPr>
          <a:xfrm xmlns:a="http://schemas.openxmlformats.org/drawingml/2006/main">
            <a:off x="714375" y="4619625"/>
            <a:ext cx="1000125" cy="1000125"/>
          </a:xfrm>
          <a:prstGeom xmlns:a="http://schemas.openxmlformats.org/drawingml/2006/main" prst="rect">
            <a:avLst/>
          </a:prstGeom>
        </p:spPr>
      </p:pic>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b203f2316b954188"/>
          <a:stretch xmlns:a="http://schemas.openxmlformats.org/drawingml/2006/main"/>
        </p:blipFill>
        <p:spPr>
          <a:xfrm xmlns:a="http://schemas.openxmlformats.org/drawingml/2006/main">
            <a:off x="2286000" y="4619625"/>
            <a:ext cx="1000125" cy="10001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0FD33EA-89DF-4C4C-A2AD-36D5BA3528F8}"/>
              </a:ext>
            </a:extLst>
          </p:cNvPr>
          <p:cNvSpPr>
            <a:spLocks xmlns:a="http://schemas.openxmlformats.org/drawingml/2006/main" noGrp="1"/>
          </p:cNvSpPr>
          <p:nvPr/>
        </p:nvSpPr>
        <p:spPr>
          <a:xfrm xmlns:a="http://schemas.openxmlformats.org/drawingml/2006/main">
            <a:off x="619125" y="56197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7A1F86"/>
                </a:solidFill>
                <a:latin typeface="Microsoft YaHei"/>
                <a:ea typeface="Microsoft YaHei"/>
                <a:cs typeface="Microsoft YaHei"/>
              </a:defRPr>
            </a:pPr>
            <a:r>
              <a:rPr sz="1125" b="1" i="0">
                <a:solidFill>
                  <a:srgbClr val="7A1F86"/>
                </a:solidFill>
                <a:latin typeface="Microsoft YaHei"/>
                <a:ea typeface="Microsoft YaHei"/>
                <a:cs typeface="Microsoft YaHei"/>
              </a:rPr>
              <a:t>真实结构</a:t>
            </a:r>
          </a:p>
        </p:txBody>
      </p:sp>
      <p:sp>
        <p:nvSpPr>
          <p:cNvPr id="23" name="">
            <a:extLst xmlns:a="http://schemas.openxmlformats.org/drawingml/2006/main">
              <a:ext uri="{FF2B5EF4-FFF2-40B4-BE49-F238E27FC236}">
                <a16:creationId xmlns:a16="http://schemas.microsoft.com/office/drawing/2014/main" id="{B58B57DB-AE85-423D-84C9-DBED76C378E3}"/>
              </a:ext>
            </a:extLst>
          </p:cNvPr>
          <p:cNvSpPr>
            <a:spLocks xmlns:a="http://schemas.openxmlformats.org/drawingml/2006/main" noGrp="1"/>
          </p:cNvSpPr>
          <p:nvPr/>
        </p:nvSpPr>
        <p:spPr>
          <a:xfrm xmlns:a="http://schemas.openxmlformats.org/drawingml/2006/main">
            <a:off x="2190750" y="56197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原 Top-1</a:t>
            </a:r>
          </a:p>
        </p:txBody>
      </p:sp>
      <p:sp>
        <p:nvSpPr>
          <p:cNvPr id="24" name="">
            <a:extLst xmlns:a="http://schemas.openxmlformats.org/drawingml/2006/main">
              <a:ext uri="{FF2B5EF4-FFF2-40B4-BE49-F238E27FC236}">
                <a16:creationId xmlns:a16="http://schemas.microsoft.com/office/drawing/2014/main" id="{7ED76D9F-5BD8-4140-96E5-2D50B7C61254}"/>
              </a:ext>
            </a:extLst>
          </p:cNvPr>
          <p:cNvSpPr>
            <a:spLocks xmlns:a="http://schemas.openxmlformats.org/drawingml/2006/main" noGrp="1"/>
          </p:cNvSpPr>
          <p:nvPr/>
        </p:nvSpPr>
        <p:spPr>
          <a:xfrm xmlns:a="http://schemas.openxmlformats.org/drawingml/2006/main">
            <a:off x="3810000" y="10001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DreaMS：真实候选在第 6 位</a:t>
            </a:r>
          </a:p>
        </p:txBody>
      </p:sp>
      <p:sp>
        <p:nvSpPr>
          <p:cNvPr id="25" name="">
            <a:extLst xmlns:a="http://schemas.openxmlformats.org/drawingml/2006/main">
              <a:ext uri="{FF2B5EF4-FFF2-40B4-BE49-F238E27FC236}">
                <a16:creationId xmlns:a16="http://schemas.microsoft.com/office/drawing/2014/main" id="{369B8667-3CDA-463A-B17F-EF8008E370B8}"/>
              </a:ext>
            </a:extLst>
          </p:cNvPr>
          <p:cNvSpPr>
            <a:spLocks xmlns:a="http://schemas.openxmlformats.org/drawingml/2006/main" noGrp="1"/>
          </p:cNvSpPr>
          <p:nvPr/>
        </p:nvSpPr>
        <p:spPr>
          <a:xfrm xmlns:a="http://schemas.openxmlformats.org/drawingml/2006/main">
            <a:off x="3810000" y="13239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B6DC61F2-2BD0-473A-9393-132FA4960355}"/>
              </a:ext>
            </a:extLst>
          </p:cNvPr>
          <p:cNvSpPr>
            <a:spLocks xmlns:a="http://schemas.openxmlformats.org/drawingml/2006/main" noGrp="1"/>
          </p:cNvSpPr>
          <p:nvPr/>
        </p:nvSpPr>
        <p:spPr>
          <a:xfrm xmlns:a="http://schemas.openxmlformats.org/drawingml/2006/main">
            <a:off x="3886200" y="13716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1</a:t>
            </a:r>
          </a:p>
        </p:txBody>
      </p:sp>
      <p:sp>
        <p:nvSpPr>
          <p:cNvPr id="27" name="">
            <a:extLst xmlns:a="http://schemas.openxmlformats.org/drawingml/2006/main">
              <a:ext uri="{FF2B5EF4-FFF2-40B4-BE49-F238E27FC236}">
                <a16:creationId xmlns:a16="http://schemas.microsoft.com/office/drawing/2014/main" id="{2E94CF63-A146-4137-A09C-0DC1F8087334}"/>
              </a:ext>
            </a:extLst>
          </p:cNvPr>
          <p:cNvSpPr>
            <a:spLocks xmlns:a="http://schemas.openxmlformats.org/drawingml/2006/main" noGrp="1"/>
          </p:cNvSpPr>
          <p:nvPr/>
        </p:nvSpPr>
        <p:spPr>
          <a:xfrm xmlns:a="http://schemas.openxmlformats.org/drawingml/2006/main">
            <a:off x="4210050" y="13620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Genistein 4'-O-glucoside</a:t>
            </a:r>
          </a:p>
        </p:txBody>
      </p:sp>
      <p:sp>
        <p:nvSpPr>
          <p:cNvPr id="28" name="">
            <a:extLst xmlns:a="http://schemas.openxmlformats.org/drawingml/2006/main">
              <a:ext uri="{FF2B5EF4-FFF2-40B4-BE49-F238E27FC236}">
                <a16:creationId xmlns:a16="http://schemas.microsoft.com/office/drawing/2014/main" id="{C0B1FB88-3552-4F3A-BE90-DE857BBD1348}"/>
              </a:ext>
            </a:extLst>
          </p:cNvPr>
          <p:cNvSpPr>
            <a:spLocks xmlns:a="http://schemas.openxmlformats.org/drawingml/2006/main" noGrp="1"/>
          </p:cNvSpPr>
          <p:nvPr/>
        </p:nvSpPr>
        <p:spPr>
          <a:xfrm xmlns:a="http://schemas.openxmlformats.org/drawingml/2006/main">
            <a:off x="3810000" y="16859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E8B31A22-69B3-443E-B5B8-34BD59D4CC48}"/>
              </a:ext>
            </a:extLst>
          </p:cNvPr>
          <p:cNvSpPr>
            <a:spLocks xmlns:a="http://schemas.openxmlformats.org/drawingml/2006/main" noGrp="1"/>
          </p:cNvSpPr>
          <p:nvPr/>
        </p:nvSpPr>
        <p:spPr>
          <a:xfrm xmlns:a="http://schemas.openxmlformats.org/drawingml/2006/main">
            <a:off x="3886200" y="17335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2</a:t>
            </a:r>
          </a:p>
        </p:txBody>
      </p:sp>
      <p:sp>
        <p:nvSpPr>
          <p:cNvPr id="30" name="">
            <a:extLst xmlns:a="http://schemas.openxmlformats.org/drawingml/2006/main">
              <a:ext uri="{FF2B5EF4-FFF2-40B4-BE49-F238E27FC236}">
                <a16:creationId xmlns:a16="http://schemas.microsoft.com/office/drawing/2014/main" id="{BDEF3632-6B7C-4168-A3BB-D0DDC9F0212E}"/>
              </a:ext>
            </a:extLst>
          </p:cNvPr>
          <p:cNvSpPr>
            <a:spLocks xmlns:a="http://schemas.openxmlformats.org/drawingml/2006/main" noGrp="1"/>
          </p:cNvSpPr>
          <p:nvPr/>
        </p:nvSpPr>
        <p:spPr>
          <a:xfrm xmlns:a="http://schemas.openxmlformats.org/drawingml/2006/main">
            <a:off x="4210050" y="17240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Npc85473</a:t>
            </a:r>
          </a:p>
        </p:txBody>
      </p:sp>
      <p:sp>
        <p:nvSpPr>
          <p:cNvPr id="31" name="">
            <a:extLst xmlns:a="http://schemas.openxmlformats.org/drawingml/2006/main">
              <a:ext uri="{FF2B5EF4-FFF2-40B4-BE49-F238E27FC236}">
                <a16:creationId xmlns:a16="http://schemas.microsoft.com/office/drawing/2014/main" id="{D2D94873-7641-4399-877F-8D385BF279C3}"/>
              </a:ext>
            </a:extLst>
          </p:cNvPr>
          <p:cNvSpPr>
            <a:spLocks xmlns:a="http://schemas.openxmlformats.org/drawingml/2006/main" noGrp="1"/>
          </p:cNvSpPr>
          <p:nvPr/>
        </p:nvSpPr>
        <p:spPr>
          <a:xfrm xmlns:a="http://schemas.openxmlformats.org/drawingml/2006/main">
            <a:off x="3810000" y="20478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7A532189-B7F4-493F-8C46-8BAB571F878F}"/>
              </a:ext>
            </a:extLst>
          </p:cNvPr>
          <p:cNvSpPr>
            <a:spLocks xmlns:a="http://schemas.openxmlformats.org/drawingml/2006/main" noGrp="1"/>
          </p:cNvSpPr>
          <p:nvPr/>
        </p:nvSpPr>
        <p:spPr>
          <a:xfrm xmlns:a="http://schemas.openxmlformats.org/drawingml/2006/main">
            <a:off x="3886200" y="20955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3</a:t>
            </a:r>
          </a:p>
        </p:txBody>
      </p:sp>
      <p:sp>
        <p:nvSpPr>
          <p:cNvPr id="33" name="">
            <a:extLst xmlns:a="http://schemas.openxmlformats.org/drawingml/2006/main">
              <a:ext uri="{FF2B5EF4-FFF2-40B4-BE49-F238E27FC236}">
                <a16:creationId xmlns:a16="http://schemas.microsoft.com/office/drawing/2014/main" id="{57EC1C92-427A-4213-B188-68FC87E24DEA}"/>
              </a:ext>
            </a:extLst>
          </p:cNvPr>
          <p:cNvSpPr>
            <a:spLocks xmlns:a="http://schemas.openxmlformats.org/drawingml/2006/main" noGrp="1"/>
          </p:cNvSpPr>
          <p:nvPr/>
        </p:nvSpPr>
        <p:spPr>
          <a:xfrm xmlns:a="http://schemas.openxmlformats.org/drawingml/2006/main">
            <a:off x="4210050" y="20859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8-C-glucosyl flavonoid</a:t>
            </a:r>
          </a:p>
        </p:txBody>
      </p:sp>
      <p:sp>
        <p:nvSpPr>
          <p:cNvPr id="34" name="">
            <a:extLst xmlns:a="http://schemas.openxmlformats.org/drawingml/2006/main">
              <a:ext uri="{FF2B5EF4-FFF2-40B4-BE49-F238E27FC236}">
                <a16:creationId xmlns:a16="http://schemas.microsoft.com/office/drawing/2014/main" id="{FD19D84B-344E-430C-B255-2C088BCF2E2C}"/>
              </a:ext>
            </a:extLst>
          </p:cNvPr>
          <p:cNvSpPr>
            <a:spLocks xmlns:a="http://schemas.openxmlformats.org/drawingml/2006/main" noGrp="1"/>
          </p:cNvSpPr>
          <p:nvPr/>
        </p:nvSpPr>
        <p:spPr>
          <a:xfrm xmlns:a="http://schemas.openxmlformats.org/drawingml/2006/main">
            <a:off x="3810000" y="24098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5" name="">
            <a:extLst xmlns:a="http://schemas.openxmlformats.org/drawingml/2006/main">
              <a:ext uri="{FF2B5EF4-FFF2-40B4-BE49-F238E27FC236}">
                <a16:creationId xmlns:a16="http://schemas.microsoft.com/office/drawing/2014/main" id="{5A51E727-AF6A-4C1D-B791-68CD091CBBA2}"/>
              </a:ext>
            </a:extLst>
          </p:cNvPr>
          <p:cNvSpPr>
            <a:spLocks xmlns:a="http://schemas.openxmlformats.org/drawingml/2006/main" noGrp="1"/>
          </p:cNvSpPr>
          <p:nvPr/>
        </p:nvSpPr>
        <p:spPr>
          <a:xfrm xmlns:a="http://schemas.openxmlformats.org/drawingml/2006/main">
            <a:off x="3886200" y="2457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4</a:t>
            </a:r>
          </a:p>
        </p:txBody>
      </p:sp>
      <p:sp>
        <p:nvSpPr>
          <p:cNvPr id="36" name="">
            <a:extLst xmlns:a="http://schemas.openxmlformats.org/drawingml/2006/main">
              <a:ext uri="{FF2B5EF4-FFF2-40B4-BE49-F238E27FC236}">
                <a16:creationId xmlns:a16="http://schemas.microsoft.com/office/drawing/2014/main" id="{B189772D-05DD-4F19-81ED-BD2453BAE092}"/>
              </a:ext>
            </a:extLst>
          </p:cNvPr>
          <p:cNvSpPr>
            <a:spLocks xmlns:a="http://schemas.openxmlformats.org/drawingml/2006/main" noGrp="1"/>
          </p:cNvSpPr>
          <p:nvPr/>
        </p:nvSpPr>
        <p:spPr>
          <a:xfrm xmlns:a="http://schemas.openxmlformats.org/drawingml/2006/main">
            <a:off x="4210050" y="24479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3'-hydroxy Puerarin</a:t>
            </a:r>
          </a:p>
        </p:txBody>
      </p:sp>
      <p:sp>
        <p:nvSpPr>
          <p:cNvPr id="37" name="">
            <a:extLst xmlns:a="http://schemas.openxmlformats.org/drawingml/2006/main">
              <a:ext uri="{FF2B5EF4-FFF2-40B4-BE49-F238E27FC236}">
                <a16:creationId xmlns:a16="http://schemas.microsoft.com/office/drawing/2014/main" id="{5A76AF5B-D1DF-48A3-A73C-C9490C4500AA}"/>
              </a:ext>
            </a:extLst>
          </p:cNvPr>
          <p:cNvSpPr>
            <a:spLocks xmlns:a="http://schemas.openxmlformats.org/drawingml/2006/main" noGrp="1"/>
          </p:cNvSpPr>
          <p:nvPr/>
        </p:nvSpPr>
        <p:spPr>
          <a:xfrm xmlns:a="http://schemas.openxmlformats.org/drawingml/2006/main">
            <a:off x="3810000" y="27717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8" name="">
            <a:extLst xmlns:a="http://schemas.openxmlformats.org/drawingml/2006/main">
              <a:ext uri="{FF2B5EF4-FFF2-40B4-BE49-F238E27FC236}">
                <a16:creationId xmlns:a16="http://schemas.microsoft.com/office/drawing/2014/main" id="{B003A373-9505-4C8A-8E59-F5D7889E7FAE}"/>
              </a:ext>
            </a:extLst>
          </p:cNvPr>
          <p:cNvSpPr>
            <a:spLocks xmlns:a="http://schemas.openxmlformats.org/drawingml/2006/main" noGrp="1"/>
          </p:cNvSpPr>
          <p:nvPr/>
        </p:nvSpPr>
        <p:spPr>
          <a:xfrm xmlns:a="http://schemas.openxmlformats.org/drawingml/2006/main">
            <a:off x="3886200" y="2819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5</a:t>
            </a:r>
          </a:p>
        </p:txBody>
      </p:sp>
      <p:sp>
        <p:nvSpPr>
          <p:cNvPr id="39" name="">
            <a:extLst xmlns:a="http://schemas.openxmlformats.org/drawingml/2006/main">
              <a:ext uri="{FF2B5EF4-FFF2-40B4-BE49-F238E27FC236}">
                <a16:creationId xmlns:a16="http://schemas.microsoft.com/office/drawing/2014/main" id="{96E57DF9-BC4C-49F7-8EE4-206EB0A1F454}"/>
              </a:ext>
            </a:extLst>
          </p:cNvPr>
          <p:cNvSpPr>
            <a:spLocks xmlns:a="http://schemas.openxmlformats.org/drawingml/2006/main" noGrp="1"/>
          </p:cNvSpPr>
          <p:nvPr/>
        </p:nvSpPr>
        <p:spPr>
          <a:xfrm xmlns:a="http://schemas.openxmlformats.org/drawingml/2006/main">
            <a:off x="4210050" y="28098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6-C-glucosyl flavone</a:t>
            </a:r>
          </a:p>
        </p:txBody>
      </p:sp>
      <p:sp>
        <p:nvSpPr>
          <p:cNvPr id="40" name="">
            <a:extLst xmlns:a="http://schemas.openxmlformats.org/drawingml/2006/main">
              <a:ext uri="{FF2B5EF4-FFF2-40B4-BE49-F238E27FC236}">
                <a16:creationId xmlns:a16="http://schemas.microsoft.com/office/drawing/2014/main" id="{F7A5184B-0DD2-4B6B-8239-7D20C0A98EDC}"/>
              </a:ext>
            </a:extLst>
          </p:cNvPr>
          <p:cNvSpPr>
            <a:spLocks xmlns:a="http://schemas.openxmlformats.org/drawingml/2006/main" noGrp="1"/>
          </p:cNvSpPr>
          <p:nvPr/>
        </p:nvSpPr>
        <p:spPr>
          <a:xfrm xmlns:a="http://schemas.openxmlformats.org/drawingml/2006/main">
            <a:off x="3952875" y="32194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6  Aloe-emodin-8-O-glucoside  ✓</a:t>
            </a:r>
          </a:p>
        </p:txBody>
      </p:sp>
      <p:sp>
        <p:nvSpPr>
          <p:cNvPr id="41" name="">
            <a:extLst xmlns:a="http://schemas.openxmlformats.org/drawingml/2006/main">
              <a:ext uri="{FF2B5EF4-FFF2-40B4-BE49-F238E27FC236}">
                <a16:creationId xmlns:a16="http://schemas.microsoft.com/office/drawing/2014/main" id="{2BA5573E-7D82-4A66-AA5F-6D4B15C42E92}"/>
              </a:ext>
            </a:extLst>
          </p:cNvPr>
          <p:cNvSpPr>
            <a:spLocks xmlns:a="http://schemas.openxmlformats.org/drawingml/2006/main" noGrp="1"/>
          </p:cNvSpPr>
          <p:nvPr/>
        </p:nvSpPr>
        <p:spPr>
          <a:xfrm xmlns:a="http://schemas.openxmlformats.org/drawingml/2006/main">
            <a:off x="7858125" y="10001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局部重排：真实候选升至第 1 位</a:t>
            </a:r>
          </a:p>
        </p:txBody>
      </p:sp>
      <p:sp>
        <p:nvSpPr>
          <p:cNvPr id="42" name="">
            <a:extLst xmlns:a="http://schemas.openxmlformats.org/drawingml/2006/main">
              <a:ext uri="{FF2B5EF4-FFF2-40B4-BE49-F238E27FC236}">
                <a16:creationId xmlns:a16="http://schemas.microsoft.com/office/drawing/2014/main" id="{02CD8BEF-ACFD-4E67-A9B6-D695E37B802B}"/>
              </a:ext>
            </a:extLst>
          </p:cNvPr>
          <p:cNvSpPr>
            <a:spLocks xmlns:a="http://schemas.openxmlformats.org/drawingml/2006/main" noGrp="1"/>
          </p:cNvSpPr>
          <p:nvPr/>
        </p:nvSpPr>
        <p:spPr>
          <a:xfrm xmlns:a="http://schemas.openxmlformats.org/drawingml/2006/main">
            <a:off x="7858125" y="1323975"/>
            <a:ext cx="3714750" cy="3429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43" name="">
            <a:extLst xmlns:a="http://schemas.openxmlformats.org/drawingml/2006/main">
              <a:ext uri="{FF2B5EF4-FFF2-40B4-BE49-F238E27FC236}">
                <a16:creationId xmlns:a16="http://schemas.microsoft.com/office/drawing/2014/main" id="{8DFE31D4-82A8-4FFD-BB00-DD6CCF5C1678}"/>
              </a:ext>
            </a:extLst>
          </p:cNvPr>
          <p:cNvSpPr>
            <a:spLocks xmlns:a="http://schemas.openxmlformats.org/drawingml/2006/main" noGrp="1"/>
          </p:cNvSpPr>
          <p:nvPr/>
        </p:nvSpPr>
        <p:spPr>
          <a:xfrm xmlns:a="http://schemas.openxmlformats.org/drawingml/2006/main">
            <a:off x="7934325" y="13716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7A1F86"/>
                </a:solidFill>
                <a:latin typeface="Microsoft YaHei"/>
                <a:ea typeface="Microsoft YaHei"/>
                <a:cs typeface="Microsoft YaHei"/>
              </a:defRPr>
            </a:pPr>
            <a:r>
              <a:rPr sz="1200" b="1" i="0">
                <a:solidFill>
                  <a:srgbClr val="7A1F86"/>
                </a:solidFill>
                <a:latin typeface="Microsoft YaHei"/>
                <a:ea typeface="Microsoft YaHei"/>
                <a:cs typeface="Microsoft YaHei"/>
              </a:rPr>
              <a:t>1</a:t>
            </a:r>
          </a:p>
        </p:txBody>
      </p:sp>
      <p:sp>
        <p:nvSpPr>
          <p:cNvPr id="44" name="">
            <a:extLst xmlns:a="http://schemas.openxmlformats.org/drawingml/2006/main">
              <a:ext uri="{FF2B5EF4-FFF2-40B4-BE49-F238E27FC236}">
                <a16:creationId xmlns:a16="http://schemas.microsoft.com/office/drawing/2014/main" id="{18D39F9B-5F20-4795-BFE2-EF2551B0DF9D}"/>
              </a:ext>
            </a:extLst>
          </p:cNvPr>
          <p:cNvSpPr>
            <a:spLocks xmlns:a="http://schemas.openxmlformats.org/drawingml/2006/main" noGrp="1"/>
          </p:cNvSpPr>
          <p:nvPr/>
        </p:nvSpPr>
        <p:spPr>
          <a:xfrm xmlns:a="http://schemas.openxmlformats.org/drawingml/2006/main">
            <a:off x="8258175" y="13620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Aloe-emodin-8-O-glucoside  ✓</a:t>
            </a:r>
          </a:p>
        </p:txBody>
      </p:sp>
      <p:sp>
        <p:nvSpPr>
          <p:cNvPr id="45" name="">
            <a:extLst xmlns:a="http://schemas.openxmlformats.org/drawingml/2006/main">
              <a:ext uri="{FF2B5EF4-FFF2-40B4-BE49-F238E27FC236}">
                <a16:creationId xmlns:a16="http://schemas.microsoft.com/office/drawing/2014/main" id="{908FDFE0-421D-450D-84AE-FE29032EDCAE}"/>
              </a:ext>
            </a:extLst>
          </p:cNvPr>
          <p:cNvSpPr>
            <a:spLocks xmlns:a="http://schemas.openxmlformats.org/drawingml/2006/main" noGrp="1"/>
          </p:cNvSpPr>
          <p:nvPr/>
        </p:nvSpPr>
        <p:spPr>
          <a:xfrm xmlns:a="http://schemas.openxmlformats.org/drawingml/2006/main">
            <a:off x="7858125" y="16859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6" name="">
            <a:extLst xmlns:a="http://schemas.openxmlformats.org/drawingml/2006/main">
              <a:ext uri="{FF2B5EF4-FFF2-40B4-BE49-F238E27FC236}">
                <a16:creationId xmlns:a16="http://schemas.microsoft.com/office/drawing/2014/main" id="{0C73FBD4-8C4A-4ACA-B21F-5A4D74212C4E}"/>
              </a:ext>
            </a:extLst>
          </p:cNvPr>
          <p:cNvSpPr>
            <a:spLocks xmlns:a="http://schemas.openxmlformats.org/drawingml/2006/main" noGrp="1"/>
          </p:cNvSpPr>
          <p:nvPr/>
        </p:nvSpPr>
        <p:spPr>
          <a:xfrm xmlns:a="http://schemas.openxmlformats.org/drawingml/2006/main">
            <a:off x="7934325" y="17335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2</a:t>
            </a:r>
          </a:p>
        </p:txBody>
      </p:sp>
      <p:sp>
        <p:nvSpPr>
          <p:cNvPr id="47" name="">
            <a:extLst xmlns:a="http://schemas.openxmlformats.org/drawingml/2006/main">
              <a:ext uri="{FF2B5EF4-FFF2-40B4-BE49-F238E27FC236}">
                <a16:creationId xmlns:a16="http://schemas.microsoft.com/office/drawing/2014/main" id="{498EB707-6DA4-46FF-BDAA-51A62B17BCDF}"/>
              </a:ext>
            </a:extLst>
          </p:cNvPr>
          <p:cNvSpPr>
            <a:spLocks xmlns:a="http://schemas.openxmlformats.org/drawingml/2006/main" noGrp="1"/>
          </p:cNvSpPr>
          <p:nvPr/>
        </p:nvSpPr>
        <p:spPr>
          <a:xfrm xmlns:a="http://schemas.openxmlformats.org/drawingml/2006/main">
            <a:off x="8258175" y="17240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6-C-glucosyl flavone</a:t>
            </a:r>
          </a:p>
        </p:txBody>
      </p:sp>
      <p:sp>
        <p:nvSpPr>
          <p:cNvPr id="48" name="">
            <a:extLst xmlns:a="http://schemas.openxmlformats.org/drawingml/2006/main">
              <a:ext uri="{FF2B5EF4-FFF2-40B4-BE49-F238E27FC236}">
                <a16:creationId xmlns:a16="http://schemas.microsoft.com/office/drawing/2014/main" id="{AD7C7AF9-515C-441C-A126-3838967813A6}"/>
              </a:ext>
            </a:extLst>
          </p:cNvPr>
          <p:cNvSpPr>
            <a:spLocks xmlns:a="http://schemas.openxmlformats.org/drawingml/2006/main" noGrp="1"/>
          </p:cNvSpPr>
          <p:nvPr/>
        </p:nvSpPr>
        <p:spPr>
          <a:xfrm xmlns:a="http://schemas.openxmlformats.org/drawingml/2006/main">
            <a:off x="7858125" y="20478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9" name="">
            <a:extLst xmlns:a="http://schemas.openxmlformats.org/drawingml/2006/main">
              <a:ext uri="{FF2B5EF4-FFF2-40B4-BE49-F238E27FC236}">
                <a16:creationId xmlns:a16="http://schemas.microsoft.com/office/drawing/2014/main" id="{D55C900E-4566-42B0-AD10-3AF897E11172}"/>
              </a:ext>
            </a:extLst>
          </p:cNvPr>
          <p:cNvSpPr>
            <a:spLocks xmlns:a="http://schemas.openxmlformats.org/drawingml/2006/main" noGrp="1"/>
          </p:cNvSpPr>
          <p:nvPr/>
        </p:nvSpPr>
        <p:spPr>
          <a:xfrm xmlns:a="http://schemas.openxmlformats.org/drawingml/2006/main">
            <a:off x="7934325" y="20955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3</a:t>
            </a:r>
          </a:p>
        </p:txBody>
      </p:sp>
      <p:sp>
        <p:nvSpPr>
          <p:cNvPr id="50" name="">
            <a:extLst xmlns:a="http://schemas.openxmlformats.org/drawingml/2006/main">
              <a:ext uri="{FF2B5EF4-FFF2-40B4-BE49-F238E27FC236}">
                <a16:creationId xmlns:a16="http://schemas.microsoft.com/office/drawing/2014/main" id="{70ACE8CC-8AA6-45D3-8DE2-2DF3DFA6C456}"/>
              </a:ext>
            </a:extLst>
          </p:cNvPr>
          <p:cNvSpPr>
            <a:spLocks xmlns:a="http://schemas.openxmlformats.org/drawingml/2006/main" noGrp="1"/>
          </p:cNvSpPr>
          <p:nvPr/>
        </p:nvSpPr>
        <p:spPr>
          <a:xfrm xmlns:a="http://schemas.openxmlformats.org/drawingml/2006/main">
            <a:off x="8258175" y="20859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Genistein 4'-O-glucoside</a:t>
            </a:r>
          </a:p>
        </p:txBody>
      </p:sp>
      <p:sp>
        <p:nvSpPr>
          <p:cNvPr id="51" name="">
            <a:extLst xmlns:a="http://schemas.openxmlformats.org/drawingml/2006/main">
              <a:ext uri="{FF2B5EF4-FFF2-40B4-BE49-F238E27FC236}">
                <a16:creationId xmlns:a16="http://schemas.microsoft.com/office/drawing/2014/main" id="{75AC1130-3540-4504-B93F-9ADEEA6274B5}"/>
              </a:ext>
            </a:extLst>
          </p:cNvPr>
          <p:cNvSpPr>
            <a:spLocks xmlns:a="http://schemas.openxmlformats.org/drawingml/2006/main" noGrp="1"/>
          </p:cNvSpPr>
          <p:nvPr/>
        </p:nvSpPr>
        <p:spPr>
          <a:xfrm xmlns:a="http://schemas.openxmlformats.org/drawingml/2006/main">
            <a:off x="7858125" y="24098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2" name="">
            <a:extLst xmlns:a="http://schemas.openxmlformats.org/drawingml/2006/main">
              <a:ext uri="{FF2B5EF4-FFF2-40B4-BE49-F238E27FC236}">
                <a16:creationId xmlns:a16="http://schemas.microsoft.com/office/drawing/2014/main" id="{D81F4A40-6F3A-4137-8373-3F2F0B7FD8B1}"/>
              </a:ext>
            </a:extLst>
          </p:cNvPr>
          <p:cNvSpPr>
            <a:spLocks xmlns:a="http://schemas.openxmlformats.org/drawingml/2006/main" noGrp="1"/>
          </p:cNvSpPr>
          <p:nvPr/>
        </p:nvSpPr>
        <p:spPr>
          <a:xfrm xmlns:a="http://schemas.openxmlformats.org/drawingml/2006/main">
            <a:off x="7934325" y="2457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4</a:t>
            </a:r>
          </a:p>
        </p:txBody>
      </p:sp>
      <p:sp>
        <p:nvSpPr>
          <p:cNvPr id="53" name="">
            <a:extLst xmlns:a="http://schemas.openxmlformats.org/drawingml/2006/main">
              <a:ext uri="{FF2B5EF4-FFF2-40B4-BE49-F238E27FC236}">
                <a16:creationId xmlns:a16="http://schemas.microsoft.com/office/drawing/2014/main" id="{7CA0815D-B891-49E9-AE9B-CF586CC4594E}"/>
              </a:ext>
            </a:extLst>
          </p:cNvPr>
          <p:cNvSpPr>
            <a:spLocks xmlns:a="http://schemas.openxmlformats.org/drawingml/2006/main" noGrp="1"/>
          </p:cNvSpPr>
          <p:nvPr/>
        </p:nvSpPr>
        <p:spPr>
          <a:xfrm xmlns:a="http://schemas.openxmlformats.org/drawingml/2006/main">
            <a:off x="8258175" y="24479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8-C-glucosyl flavonoid</a:t>
            </a:r>
          </a:p>
        </p:txBody>
      </p:sp>
      <p:sp>
        <p:nvSpPr>
          <p:cNvPr id="54" name="">
            <a:extLst xmlns:a="http://schemas.openxmlformats.org/drawingml/2006/main">
              <a:ext uri="{FF2B5EF4-FFF2-40B4-BE49-F238E27FC236}">
                <a16:creationId xmlns:a16="http://schemas.microsoft.com/office/drawing/2014/main" id="{C43ABC96-2BA4-4C07-B7E7-997FAE245B38}"/>
              </a:ext>
            </a:extLst>
          </p:cNvPr>
          <p:cNvSpPr>
            <a:spLocks xmlns:a="http://schemas.openxmlformats.org/drawingml/2006/main" noGrp="1"/>
          </p:cNvSpPr>
          <p:nvPr/>
        </p:nvSpPr>
        <p:spPr>
          <a:xfrm xmlns:a="http://schemas.openxmlformats.org/drawingml/2006/main">
            <a:off x="7858125" y="27717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5CB46426-641A-4216-93E4-ECAE10E3318C}"/>
              </a:ext>
            </a:extLst>
          </p:cNvPr>
          <p:cNvSpPr>
            <a:spLocks xmlns:a="http://schemas.openxmlformats.org/drawingml/2006/main" noGrp="1"/>
          </p:cNvSpPr>
          <p:nvPr/>
        </p:nvSpPr>
        <p:spPr>
          <a:xfrm xmlns:a="http://schemas.openxmlformats.org/drawingml/2006/main">
            <a:off x="7934325" y="2819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5</a:t>
            </a:r>
          </a:p>
        </p:txBody>
      </p:sp>
      <p:sp>
        <p:nvSpPr>
          <p:cNvPr id="56" name="">
            <a:extLst xmlns:a="http://schemas.openxmlformats.org/drawingml/2006/main">
              <a:ext uri="{FF2B5EF4-FFF2-40B4-BE49-F238E27FC236}">
                <a16:creationId xmlns:a16="http://schemas.microsoft.com/office/drawing/2014/main" id="{8F595F43-C9D1-4A7A-A025-F79CAB06251D}"/>
              </a:ext>
            </a:extLst>
          </p:cNvPr>
          <p:cNvSpPr>
            <a:spLocks xmlns:a="http://schemas.openxmlformats.org/drawingml/2006/main" noGrp="1"/>
          </p:cNvSpPr>
          <p:nvPr/>
        </p:nvSpPr>
        <p:spPr>
          <a:xfrm xmlns:a="http://schemas.openxmlformats.org/drawingml/2006/main">
            <a:off x="8258175" y="28098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Npc85473</a:t>
            </a:r>
          </a:p>
        </p:txBody>
      </p:sp>
      <p:sp>
        <p:nvSpPr>
          <p:cNvPr id="57" name="">
            <a:extLst xmlns:a="http://schemas.openxmlformats.org/drawingml/2006/main">
              <a:ext uri="{FF2B5EF4-FFF2-40B4-BE49-F238E27FC236}">
                <a16:creationId xmlns:a16="http://schemas.microsoft.com/office/drawing/2014/main" id="{F4F19AB7-B6EB-4865-8C22-80F81FF0E4A4}"/>
              </a:ext>
            </a:extLst>
          </p:cNvPr>
          <p:cNvSpPr>
            <a:spLocks xmlns:a="http://schemas.openxmlformats.org/drawingml/2006/main" noGrp="1"/>
          </p:cNvSpPr>
          <p:nvPr/>
        </p:nvSpPr>
        <p:spPr>
          <a:xfrm xmlns:a="http://schemas.openxmlformats.org/drawingml/2006/main">
            <a:off x="3857625" y="3714750"/>
            <a:ext cx="7620000" cy="185737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8" name="">
            <a:extLst xmlns:a="http://schemas.openxmlformats.org/drawingml/2006/main">
              <a:ext uri="{FF2B5EF4-FFF2-40B4-BE49-F238E27FC236}">
                <a16:creationId xmlns:a16="http://schemas.microsoft.com/office/drawing/2014/main" id="{7817F392-F13B-469B-AAC4-F5BE3A11CF0C}"/>
              </a:ext>
            </a:extLst>
          </p:cNvPr>
          <p:cNvSpPr>
            <a:spLocks xmlns:a="http://schemas.openxmlformats.org/drawingml/2006/main" noGrp="1"/>
          </p:cNvSpPr>
          <p:nvPr/>
        </p:nvSpPr>
        <p:spPr>
          <a:xfrm xmlns:a="http://schemas.openxmlformats.org/drawingml/2006/main">
            <a:off x="4095750" y="38862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为什么改对？</a:t>
            </a:r>
          </a:p>
        </p:txBody>
      </p:sp>
      <p:sp>
        <p:nvSpPr>
          <p:cNvPr id="59" name="">
            <a:extLst xmlns:a="http://schemas.openxmlformats.org/drawingml/2006/main">
              <a:ext uri="{FF2B5EF4-FFF2-40B4-BE49-F238E27FC236}">
                <a16:creationId xmlns:a16="http://schemas.microsoft.com/office/drawing/2014/main" id="{C763E44E-D8F8-4DFC-B7C9-18D85E9A7DA3}"/>
              </a:ext>
            </a:extLst>
          </p:cNvPr>
          <p:cNvSpPr>
            <a:spLocks xmlns:a="http://schemas.openxmlformats.org/drawingml/2006/main" noGrp="1"/>
          </p:cNvSpPr>
          <p:nvPr/>
        </p:nvSpPr>
        <p:spPr>
          <a:xfrm xmlns:a="http://schemas.openxmlformats.org/drawingml/2006/main">
            <a:off x="4095750" y="430530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88" b="0" i="0">
                <a:solidFill>
                  <a:srgbClr val="111111"/>
                </a:solidFill>
                <a:latin typeface="Microsoft YaHei"/>
                <a:ea typeface="Microsoft YaHei"/>
                <a:cs typeface="Microsoft YaHei"/>
              </a:defRPr>
            </a:pPr>
            <a:r>
              <a:rPr sz="1388" b="0" i="0">
                <a:solidFill>
                  <a:srgbClr val="111111"/>
                </a:solidFill>
                <a:latin typeface="Microsoft YaHei"/>
                <a:ea typeface="Microsoft YaHei"/>
                <a:cs typeface="Microsoft YaHei"/>
              </a:rPr>
              <a:t>分子式 C21H20O10、m/z 433.11。DreaMS 更偏向共享黄酮骨架的参考谱；</a:t>
            </a:r>
          </a:p>
          <a:p xmlns:a="http://schemas.openxmlformats.org/drawingml/2006/main">
            <a:pPr algn="l">
              <a:defRPr sz="1388" b="0" i="0">
                <a:solidFill>
                  <a:srgbClr val="111111"/>
                </a:solidFill>
                <a:latin typeface="Microsoft YaHei"/>
                <a:ea typeface="Microsoft YaHei"/>
                <a:cs typeface="Microsoft YaHei"/>
              </a:defRPr>
            </a:pPr>
            <a:r>
              <a:rPr sz="1388" b="0" i="0">
                <a:solidFill>
                  <a:srgbClr val="111111"/>
                </a:solidFill>
                <a:latin typeface="Microsoft YaHei"/>
                <a:ea typeface="Microsoft YaHei"/>
                <a:cs typeface="Microsoft YaHei"/>
              </a:rPr>
              <a:t>中性丢失与碎片强度分布对真实的糖基连接方式提供了更强支持。</a:t>
            </a:r>
          </a:p>
        </p:txBody>
      </p:sp>
      <p:sp>
        <p:nvSpPr>
          <p:cNvPr id="60" name="">
            <a:extLst xmlns:a="http://schemas.openxmlformats.org/drawingml/2006/main">
              <a:ext uri="{FF2B5EF4-FFF2-40B4-BE49-F238E27FC236}">
                <a16:creationId xmlns:a16="http://schemas.microsoft.com/office/drawing/2014/main" id="{36C1B35B-9FA3-43DF-BC6E-FC6AFB8CB402}"/>
              </a:ext>
            </a:extLst>
          </p:cNvPr>
          <p:cNvSpPr>
            <a:spLocks xmlns:a="http://schemas.openxmlformats.org/drawingml/2006/main" noGrp="1"/>
          </p:cNvSpPr>
          <p:nvPr/>
        </p:nvSpPr>
        <p:spPr>
          <a:xfrm xmlns:a="http://schemas.openxmlformats.org/drawingml/2006/main">
            <a:off x="4857750" y="50958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同一候选集合、同一 query，仅改变排序证据。</a:t>
            </a:r>
          </a:p>
        </p:txBody>
      </p:sp>
    </p:spTree>
    <p:extLst>
      <p:ext uri="{BB962C8B-B14F-4D97-AF65-F5344CB8AC3E}">
        <p14:creationId xmlns:p14="http://schemas.microsoft.com/office/powerpoint/2010/main" val="19679477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BF1AF0-1B8B-4404-BA08-9D4AE24CC14E}"/>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F2FFAE-724B-4113-B94B-D58894BB5BAF}"/>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F4561A-8E21-49C5-89F2-63B21AEE836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247F45-0C42-4096-B51B-51C2C509ECD6}"/>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944EBA-CCED-49E3-AE3F-BA1766061437}"/>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化学碎裂先验：让候选结构参与判断“哪一个峰支持谁”</a:t>
            </a:r>
          </a:p>
        </p:txBody>
      </p:sp>
      <p:sp>
        <p:nvSpPr>
          <p:cNvPr id="6" name="">
            <a:extLst xmlns:a="http://schemas.openxmlformats.org/drawingml/2006/main">
              <a:ext uri="{FF2B5EF4-FFF2-40B4-BE49-F238E27FC236}">
                <a16:creationId xmlns:a16="http://schemas.microsoft.com/office/drawing/2014/main" id="{2F8E8B81-692D-4E2E-BC73-1F771857E92B}"/>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C68D91-6EC6-46BB-BB7E-A0ADDB0C2CAA}"/>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C368A3-5AE4-4AAE-AF78-5830E2FEB1E2}"/>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1DCCD3-CE65-446B-88D8-AC9E8C4159E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43C77617-976E-4DB4-991B-9F15D318DF71}"/>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2037249b27149a5"/>
          <a:stretch xmlns:a="http://schemas.openxmlformats.org/drawingml/2006/main"/>
        </p:blipFill>
        <p:spPr>
          <a:xfrm xmlns:a="http://schemas.openxmlformats.org/drawingml/2006/main">
            <a:off x="865087" y="952500"/>
            <a:ext cx="4937326" cy="43338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4FC2343-2EF6-469B-952A-C189681F34B2}"/>
              </a:ext>
            </a:extLst>
          </p:cNvPr>
          <p:cNvSpPr>
            <a:spLocks xmlns:a="http://schemas.openxmlformats.org/drawingml/2006/main" noGrp="1"/>
          </p:cNvSpPr>
          <p:nvPr/>
        </p:nvSpPr>
        <p:spPr>
          <a:xfrm xmlns:a="http://schemas.openxmlformats.org/drawingml/2006/main">
            <a:off x="6667500" y="10001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还剩下什么问题？</a:t>
            </a:r>
          </a:p>
        </p:txBody>
      </p:sp>
      <p:sp>
        <p:nvSpPr>
          <p:cNvPr id="13" name="">
            <a:extLst xmlns:a="http://schemas.openxmlformats.org/drawingml/2006/main">
              <a:ext uri="{FF2B5EF4-FFF2-40B4-BE49-F238E27FC236}">
                <a16:creationId xmlns:a16="http://schemas.microsoft.com/office/drawing/2014/main" id="{A47BEC29-6DCF-4E50-9186-62B073D9C99E}"/>
              </a:ext>
            </a:extLst>
          </p:cNvPr>
          <p:cNvSpPr>
            <a:spLocks xmlns:a="http://schemas.openxmlformats.org/drawingml/2006/main" noGrp="1"/>
          </p:cNvSpPr>
          <p:nvPr/>
        </p:nvSpPr>
        <p:spPr>
          <a:xfrm xmlns:a="http://schemas.openxmlformats.org/drawingml/2006/main">
            <a:off x="6667500" y="1476375"/>
            <a:ext cx="419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228"/>
          </a:bodyPr>
          <a:lstStyle xmlns:a="http://schemas.openxmlformats.org/drawingml/2006/main"/>
          <a:p xmlns:a="http://schemas.openxmlformats.org/drawingml/2006/main">
            <a:pPr algn="l">
              <a:defRPr sz="1425" b="0" i="0">
                <a:solidFill>
                  <a:srgbClr val="111111"/>
                </a:solidFill>
                <a:latin typeface="Microsoft YaHei"/>
                <a:ea typeface="Microsoft YaHei"/>
                <a:cs typeface="Microsoft YaHei"/>
              </a:defRPr>
            </a:pPr>
            <a:r>
              <a:rPr sz="1425" b="0" i="0">
                <a:solidFill>
                  <a:srgbClr val="111111"/>
                </a:solidFill>
                <a:latin typeface="Microsoft YaHei"/>
                <a:ea typeface="Microsoft YaHei"/>
                <a:cs typeface="Microsoft YaHei"/>
              </a:rPr>
              <a:t>局部谱学重排只比较“谱图像不像”；当两个候选共享骨架时，它仍然不知道某个峰在化学上更支持哪一个结构。</a:t>
            </a:r>
          </a:p>
        </p:txBody>
      </p:sp>
      <p:sp>
        <p:nvSpPr>
          <p:cNvPr id="14" name="">
            <a:extLst xmlns:a="http://schemas.openxmlformats.org/drawingml/2006/main">
              <a:ext uri="{FF2B5EF4-FFF2-40B4-BE49-F238E27FC236}">
                <a16:creationId xmlns:a16="http://schemas.microsoft.com/office/drawing/2014/main" id="{67AE9699-0ED7-454F-9240-69AB46E3B6DE}"/>
              </a:ext>
            </a:extLst>
          </p:cNvPr>
          <p:cNvSpPr>
            <a:spLocks xmlns:a="http://schemas.openxmlformats.org/drawingml/2006/main" noGrp="1"/>
          </p:cNvSpPr>
          <p:nvPr/>
        </p:nvSpPr>
        <p:spPr>
          <a:xfrm xmlns:a="http://schemas.openxmlformats.org/drawingml/2006/main">
            <a:off x="6572250" y="2476500"/>
            <a:ext cx="447675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15" name="">
            <a:extLst xmlns:a="http://schemas.openxmlformats.org/drawingml/2006/main">
              <a:ext uri="{FF2B5EF4-FFF2-40B4-BE49-F238E27FC236}">
                <a16:creationId xmlns:a16="http://schemas.microsoft.com/office/drawing/2014/main" id="{A61CC4CB-52F5-4473-A2F0-92F52FC27AA3}"/>
              </a:ext>
            </a:extLst>
          </p:cNvPr>
          <p:cNvSpPr>
            <a:spLocks xmlns:a="http://schemas.openxmlformats.org/drawingml/2006/main" noGrp="1"/>
          </p:cNvSpPr>
          <p:nvPr/>
        </p:nvSpPr>
        <p:spPr>
          <a:xfrm xmlns:a="http://schemas.openxmlformats.org/drawingml/2006/main">
            <a:off x="6810375" y="26670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引入 ICEBERG 作为结构条件的碎裂教师</a:t>
            </a:r>
          </a:p>
        </p:txBody>
      </p:sp>
      <p:sp>
        <p:nvSpPr>
          <p:cNvPr id="16" name="">
            <a:extLst xmlns:a="http://schemas.openxmlformats.org/drawingml/2006/main">
              <a:ext uri="{FF2B5EF4-FFF2-40B4-BE49-F238E27FC236}">
                <a16:creationId xmlns:a16="http://schemas.microsoft.com/office/drawing/2014/main" id="{5B132723-4F3E-4BC2-A15A-69EFDCB602D1}"/>
              </a:ext>
            </a:extLst>
          </p:cNvPr>
          <p:cNvSpPr>
            <a:spLocks xmlns:a="http://schemas.openxmlformats.org/drawingml/2006/main" noGrp="1"/>
          </p:cNvSpPr>
          <p:nvPr/>
        </p:nvSpPr>
        <p:spPr>
          <a:xfrm xmlns:a="http://schemas.openxmlformats.org/drawingml/2006/main">
            <a:off x="7000875" y="3190875"/>
            <a:ext cx="371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输入候选分子图</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先生成可能的键断裂与碎片图</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再预测各碎片峰的强度</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分别为真实候选与最强错误候选生成预测谱</a:t>
            </a:r>
          </a:p>
        </p:txBody>
      </p:sp>
      <p:sp>
        <p:nvSpPr>
          <p:cNvPr id="17" name="">
            <a:extLst xmlns:a="http://schemas.openxmlformats.org/drawingml/2006/main">
              <a:ext uri="{FF2B5EF4-FFF2-40B4-BE49-F238E27FC236}">
                <a16:creationId xmlns:a16="http://schemas.microsoft.com/office/drawing/2014/main" id="{AD47DD1B-DCEA-48B8-A19E-0B126FA1C55E}"/>
              </a:ext>
            </a:extLst>
          </p:cNvPr>
          <p:cNvSpPr>
            <a:spLocks xmlns:a="http://schemas.openxmlformats.org/drawingml/2006/main" noGrp="1"/>
          </p:cNvSpPr>
          <p:nvPr/>
        </p:nvSpPr>
        <p:spPr>
          <a:xfrm xmlns:a="http://schemas.openxmlformats.org/drawingml/2006/main">
            <a:off x="6572250" y="48101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750"/>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关键变化：从“查询谱 vs 参考谱相似度”进一步走到“观测峰是否符合候选结构的碎裂机制”。</a:t>
            </a:r>
          </a:p>
        </p:txBody>
      </p:sp>
      <p:sp>
        <p:nvSpPr>
          <p:cNvPr id="18" name="">
            <a:extLst xmlns:a="http://schemas.openxmlformats.org/drawingml/2006/main">
              <a:ext uri="{FF2B5EF4-FFF2-40B4-BE49-F238E27FC236}">
                <a16:creationId xmlns:a16="http://schemas.microsoft.com/office/drawing/2014/main" id="{9CB4410E-3C47-4EF2-A126-DF4970DCB103}"/>
              </a:ext>
            </a:extLst>
          </p:cNvPr>
          <p:cNvSpPr>
            <a:spLocks xmlns:a="http://schemas.openxmlformats.org/drawingml/2006/main" noGrp="1"/>
          </p:cNvSpPr>
          <p:nvPr/>
        </p:nvSpPr>
        <p:spPr>
          <a:xfrm xmlns:a="http://schemas.openxmlformats.org/drawingml/2006/main">
            <a:off x="2143125" y="571500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ICEBERG 在这里只提供训练信号；最终部署仍使用普通实验谱图。</a:t>
            </a:r>
          </a:p>
        </p:txBody>
      </p:sp>
    </p:spTree>
    <p:extLst>
      <p:ext uri="{BB962C8B-B14F-4D97-AF65-F5344CB8AC3E}">
        <p14:creationId xmlns:p14="http://schemas.microsoft.com/office/powerpoint/2010/main" val="648886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0B915FC-8BD4-4763-87F3-3D3AAE65E83B}"/>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794CC9-D950-4773-A9B3-FF401C4D5409}"/>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BD02D9-00DB-48E5-BE86-EC0FA372320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81EF59-B092-40B5-90BA-53DFF555B3A9}"/>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4C6D12-9698-47D6-9163-DB859BB44F51}"/>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化学碎裂先验如何写回 DreaMS embedding</a:t>
            </a:r>
          </a:p>
        </p:txBody>
      </p:sp>
      <p:sp>
        <p:nvSpPr>
          <p:cNvPr id="6" name="">
            <a:extLst xmlns:a="http://schemas.openxmlformats.org/drawingml/2006/main">
              <a:ext uri="{FF2B5EF4-FFF2-40B4-BE49-F238E27FC236}">
                <a16:creationId xmlns:a16="http://schemas.microsoft.com/office/drawing/2014/main" id="{566CCA31-BA00-43C4-B66A-36949B49079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9B2A96D-058D-4CF1-8BBA-F781190C173A}"/>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51F026-4075-42F9-B529-A0A05B90BF35}"/>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43737C-BF49-4BBC-98C6-D9B8EA3B00F6}"/>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29B79032-1F32-4510-9D44-F8B6B0C8A3C3}"/>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AA9D846E-115C-448C-AA8F-57262BC2EC05}"/>
              </a:ext>
            </a:extLst>
          </p:cNvPr>
          <p:cNvSpPr>
            <a:spLocks xmlns:a="http://schemas.openxmlformats.org/drawingml/2006/main" noGrp="1"/>
          </p:cNvSpPr>
          <p:nvPr/>
        </p:nvSpPr>
        <p:spPr>
          <a:xfrm xmlns:a="http://schemas.openxmlformats.org/drawingml/2006/main">
            <a:off x="361950" y="1047750"/>
            <a:ext cx="20955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12" name="">
            <a:extLst xmlns:a="http://schemas.openxmlformats.org/drawingml/2006/main">
              <a:ext uri="{FF2B5EF4-FFF2-40B4-BE49-F238E27FC236}">
                <a16:creationId xmlns:a16="http://schemas.microsoft.com/office/drawing/2014/main" id="{C2E7EFED-06E8-4B83-BDE7-43E883E8CB9A}"/>
              </a:ext>
            </a:extLst>
          </p:cNvPr>
          <p:cNvSpPr>
            <a:spLocks xmlns:a="http://schemas.openxmlformats.org/drawingml/2006/main" noGrp="1"/>
          </p:cNvSpPr>
          <p:nvPr/>
        </p:nvSpPr>
        <p:spPr>
          <a:xfrm xmlns:a="http://schemas.openxmlformats.org/drawingml/2006/main">
            <a:off x="457200" y="11906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1</a:t>
            </a:r>
          </a:p>
        </p:txBody>
      </p:sp>
      <p:sp>
        <p:nvSpPr>
          <p:cNvPr id="13" name="">
            <a:extLst xmlns:a="http://schemas.openxmlformats.org/drawingml/2006/main">
              <a:ext uri="{FF2B5EF4-FFF2-40B4-BE49-F238E27FC236}">
                <a16:creationId xmlns:a16="http://schemas.microsoft.com/office/drawing/2014/main" id="{AB87319E-B860-4959-95EC-199953005A78}"/>
              </a:ext>
            </a:extLst>
          </p:cNvPr>
          <p:cNvSpPr>
            <a:spLocks xmlns:a="http://schemas.openxmlformats.org/drawingml/2006/main" noGrp="1"/>
          </p:cNvSpPr>
          <p:nvPr/>
        </p:nvSpPr>
        <p:spPr>
          <a:xfrm xmlns:a="http://schemas.openxmlformats.org/drawingml/2006/main">
            <a:off x="838200" y="1219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实验 query</a:t>
            </a:r>
          </a:p>
        </p:txBody>
      </p:sp>
      <p:sp>
        <p:nvSpPr>
          <p:cNvPr id="14" name="">
            <a:extLst xmlns:a="http://schemas.openxmlformats.org/drawingml/2006/main">
              <a:ext uri="{FF2B5EF4-FFF2-40B4-BE49-F238E27FC236}">
                <a16:creationId xmlns:a16="http://schemas.microsoft.com/office/drawing/2014/main" id="{69F9ACE6-7E3B-4CC6-AD5B-9993065618B8}"/>
              </a:ext>
            </a:extLst>
          </p:cNvPr>
          <p:cNvSpPr>
            <a:spLocks xmlns:a="http://schemas.openxmlformats.org/drawingml/2006/main" noGrp="1"/>
          </p:cNvSpPr>
          <p:nvPr/>
        </p:nvSpPr>
        <p:spPr>
          <a:xfrm xmlns:a="http://schemas.openxmlformats.org/drawingml/2006/main">
            <a:off x="552450" y="176212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观测到的 m/z–强度峰表</a:t>
            </a:r>
          </a:p>
        </p:txBody>
      </p:sp>
      <p:sp>
        <p:nvSpPr>
          <p:cNvPr id="15" name="">
            <a:extLst xmlns:a="http://schemas.openxmlformats.org/drawingml/2006/main">
              <a:ext uri="{FF2B5EF4-FFF2-40B4-BE49-F238E27FC236}">
                <a16:creationId xmlns:a16="http://schemas.microsoft.com/office/drawing/2014/main" id="{B6C30925-5E08-4F70-9D96-C78CD50DDA16}"/>
              </a:ext>
            </a:extLst>
          </p:cNvPr>
          <p:cNvSpPr>
            <a:spLocks xmlns:a="http://schemas.openxmlformats.org/drawingml/2006/main" noGrp="1"/>
          </p:cNvSpPr>
          <p:nvPr/>
        </p:nvSpPr>
        <p:spPr>
          <a:xfrm xmlns:a="http://schemas.openxmlformats.org/drawingml/2006/main">
            <a:off x="2438400" y="1809750"/>
            <a:ext cx="285750" cy="24765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4BCE61-441E-49B8-9711-4C49C4A64EBD}"/>
              </a:ext>
            </a:extLst>
          </p:cNvPr>
          <p:cNvSpPr>
            <a:spLocks xmlns:a="http://schemas.openxmlformats.org/drawingml/2006/main" noGrp="1"/>
          </p:cNvSpPr>
          <p:nvPr/>
        </p:nvSpPr>
        <p:spPr>
          <a:xfrm xmlns:a="http://schemas.openxmlformats.org/drawingml/2006/main">
            <a:off x="2695575" y="1047750"/>
            <a:ext cx="2095500" cy="1952625"/>
          </a:xfrm>
          <a:prstGeom xmlns:a="http://schemas.openxmlformats.org/drawingml/2006/main" prst="rect">
            <a:avLst/>
          </a:prstGeom>
          <a:solidFill xmlns:a="http://schemas.openxmlformats.org/drawingml/2006/main">
            <a:srgbClr val="F5F5F5"/>
          </a:solidFill>
          <a:ln xmlns:a="http://schemas.openxmlformats.org/drawingml/2006/main" w="19050">
            <a:solidFill>
              <a:srgbClr val="7A1F86"/>
            </a:solidFill>
            <a:prstDash val="solid"/>
          </a:ln>
        </p:spPr>
      </p:sp>
      <p:sp>
        <p:nvSpPr>
          <p:cNvPr id="17" name="">
            <a:extLst xmlns:a="http://schemas.openxmlformats.org/drawingml/2006/main">
              <a:ext uri="{FF2B5EF4-FFF2-40B4-BE49-F238E27FC236}">
                <a16:creationId xmlns:a16="http://schemas.microsoft.com/office/drawing/2014/main" id="{07A13059-D4E2-490E-B9E6-C26FBAAD8244}"/>
              </a:ext>
            </a:extLst>
          </p:cNvPr>
          <p:cNvSpPr>
            <a:spLocks xmlns:a="http://schemas.openxmlformats.org/drawingml/2006/main" noGrp="1"/>
          </p:cNvSpPr>
          <p:nvPr/>
        </p:nvSpPr>
        <p:spPr>
          <a:xfrm xmlns:a="http://schemas.openxmlformats.org/drawingml/2006/main">
            <a:off x="2790825" y="11906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2</a:t>
            </a:r>
          </a:p>
        </p:txBody>
      </p:sp>
      <p:sp>
        <p:nvSpPr>
          <p:cNvPr id="18" name="">
            <a:extLst xmlns:a="http://schemas.openxmlformats.org/drawingml/2006/main">
              <a:ext uri="{FF2B5EF4-FFF2-40B4-BE49-F238E27FC236}">
                <a16:creationId xmlns:a16="http://schemas.microsoft.com/office/drawing/2014/main" id="{B58CF356-85A9-4E92-9EF9-D6AD6B21F30D}"/>
              </a:ext>
            </a:extLst>
          </p:cNvPr>
          <p:cNvSpPr>
            <a:spLocks xmlns:a="http://schemas.openxmlformats.org/drawingml/2006/main" noGrp="1"/>
          </p:cNvSpPr>
          <p:nvPr/>
        </p:nvSpPr>
        <p:spPr>
          <a:xfrm xmlns:a="http://schemas.openxmlformats.org/drawingml/2006/main">
            <a:off x="3171825" y="1219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两套预测谱</a:t>
            </a:r>
          </a:p>
        </p:txBody>
      </p:sp>
      <p:sp>
        <p:nvSpPr>
          <p:cNvPr id="19" name="">
            <a:extLst xmlns:a="http://schemas.openxmlformats.org/drawingml/2006/main">
              <a:ext uri="{FF2B5EF4-FFF2-40B4-BE49-F238E27FC236}">
                <a16:creationId xmlns:a16="http://schemas.microsoft.com/office/drawing/2014/main" id="{178805B8-F4B8-40B6-ABC1-BB2BA2662869}"/>
              </a:ext>
            </a:extLst>
          </p:cNvPr>
          <p:cNvSpPr>
            <a:spLocks xmlns:a="http://schemas.openxmlformats.org/drawingml/2006/main" noGrp="1"/>
          </p:cNvSpPr>
          <p:nvPr/>
        </p:nvSpPr>
        <p:spPr>
          <a:xfrm xmlns:a="http://schemas.openxmlformats.org/drawingml/2006/main">
            <a:off x="2886075" y="176212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真实候选与最强错误候选分别由 ICEBERG 预测</a:t>
            </a:r>
          </a:p>
        </p:txBody>
      </p:sp>
      <p:sp>
        <p:nvSpPr>
          <p:cNvPr id="20" name="">
            <a:extLst xmlns:a="http://schemas.openxmlformats.org/drawingml/2006/main">
              <a:ext uri="{FF2B5EF4-FFF2-40B4-BE49-F238E27FC236}">
                <a16:creationId xmlns:a16="http://schemas.microsoft.com/office/drawing/2014/main" id="{DB07E11F-7B77-4264-B032-4E1D6AABD613}"/>
              </a:ext>
            </a:extLst>
          </p:cNvPr>
          <p:cNvSpPr>
            <a:spLocks xmlns:a="http://schemas.openxmlformats.org/drawingml/2006/main" noGrp="1"/>
          </p:cNvSpPr>
          <p:nvPr/>
        </p:nvSpPr>
        <p:spPr>
          <a:xfrm xmlns:a="http://schemas.openxmlformats.org/drawingml/2006/main">
            <a:off x="4772025" y="1809750"/>
            <a:ext cx="285750" cy="24765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B4C7ECE-CDE4-47BE-8345-65D5FF408943}"/>
              </a:ext>
            </a:extLst>
          </p:cNvPr>
          <p:cNvSpPr>
            <a:spLocks xmlns:a="http://schemas.openxmlformats.org/drawingml/2006/main" noGrp="1"/>
          </p:cNvSpPr>
          <p:nvPr/>
        </p:nvSpPr>
        <p:spPr>
          <a:xfrm xmlns:a="http://schemas.openxmlformats.org/drawingml/2006/main">
            <a:off x="5029200" y="1047750"/>
            <a:ext cx="20955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22" name="">
            <a:extLst xmlns:a="http://schemas.openxmlformats.org/drawingml/2006/main">
              <a:ext uri="{FF2B5EF4-FFF2-40B4-BE49-F238E27FC236}">
                <a16:creationId xmlns:a16="http://schemas.microsoft.com/office/drawing/2014/main" id="{3F847769-A23B-4403-BC81-14224888605C}"/>
              </a:ext>
            </a:extLst>
          </p:cNvPr>
          <p:cNvSpPr>
            <a:spLocks xmlns:a="http://schemas.openxmlformats.org/drawingml/2006/main" noGrp="1"/>
          </p:cNvSpPr>
          <p:nvPr/>
        </p:nvSpPr>
        <p:spPr>
          <a:xfrm xmlns:a="http://schemas.openxmlformats.org/drawingml/2006/main">
            <a:off x="5124450" y="11906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3</a:t>
            </a:r>
          </a:p>
        </p:txBody>
      </p:sp>
      <p:sp>
        <p:nvSpPr>
          <p:cNvPr id="23" name="">
            <a:extLst xmlns:a="http://schemas.openxmlformats.org/drawingml/2006/main">
              <a:ext uri="{FF2B5EF4-FFF2-40B4-BE49-F238E27FC236}">
                <a16:creationId xmlns:a16="http://schemas.microsoft.com/office/drawing/2014/main" id="{85E055E0-E2DF-494B-972D-101D8943ECD7}"/>
              </a:ext>
            </a:extLst>
          </p:cNvPr>
          <p:cNvSpPr>
            <a:spLocks xmlns:a="http://schemas.openxmlformats.org/drawingml/2006/main" noGrp="1"/>
          </p:cNvSpPr>
          <p:nvPr/>
        </p:nvSpPr>
        <p:spPr>
          <a:xfrm xmlns:a="http://schemas.openxmlformats.org/drawingml/2006/main">
            <a:off x="5505450" y="1219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冲突峰定位</a:t>
            </a:r>
          </a:p>
        </p:txBody>
      </p:sp>
      <p:sp>
        <p:nvSpPr>
          <p:cNvPr id="24" name="">
            <a:extLst xmlns:a="http://schemas.openxmlformats.org/drawingml/2006/main">
              <a:ext uri="{FF2B5EF4-FFF2-40B4-BE49-F238E27FC236}">
                <a16:creationId xmlns:a16="http://schemas.microsoft.com/office/drawing/2014/main" id="{2AFB72D3-0CFD-4510-9546-1E664C84FCD5}"/>
              </a:ext>
            </a:extLst>
          </p:cNvPr>
          <p:cNvSpPr>
            <a:spLocks xmlns:a="http://schemas.openxmlformats.org/drawingml/2006/main" noGrp="1"/>
          </p:cNvSpPr>
          <p:nvPr/>
        </p:nvSpPr>
        <p:spPr>
          <a:xfrm xmlns:a="http://schemas.openxmlformats.org/drawingml/2006/main">
            <a:off x="5219700" y="176212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真实候选支持弱、错误候选支持强的观测峰被标记</a:t>
            </a:r>
          </a:p>
        </p:txBody>
      </p:sp>
      <p:sp>
        <p:nvSpPr>
          <p:cNvPr id="25" name="">
            <a:extLst xmlns:a="http://schemas.openxmlformats.org/drawingml/2006/main">
              <a:ext uri="{FF2B5EF4-FFF2-40B4-BE49-F238E27FC236}">
                <a16:creationId xmlns:a16="http://schemas.microsoft.com/office/drawing/2014/main" id="{64C0C67B-18CD-4624-BD8A-4F93AD331C4D}"/>
              </a:ext>
            </a:extLst>
          </p:cNvPr>
          <p:cNvSpPr>
            <a:spLocks xmlns:a="http://schemas.openxmlformats.org/drawingml/2006/main" noGrp="1"/>
          </p:cNvSpPr>
          <p:nvPr/>
        </p:nvSpPr>
        <p:spPr>
          <a:xfrm xmlns:a="http://schemas.openxmlformats.org/drawingml/2006/main">
            <a:off x="7105650" y="1809750"/>
            <a:ext cx="285750" cy="24765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808751-87E5-4738-86FF-407290A1A42D}"/>
              </a:ext>
            </a:extLst>
          </p:cNvPr>
          <p:cNvSpPr>
            <a:spLocks xmlns:a="http://schemas.openxmlformats.org/drawingml/2006/main" noGrp="1"/>
          </p:cNvSpPr>
          <p:nvPr/>
        </p:nvSpPr>
        <p:spPr>
          <a:xfrm xmlns:a="http://schemas.openxmlformats.org/drawingml/2006/main">
            <a:off x="7362825" y="1047750"/>
            <a:ext cx="2095500" cy="1952625"/>
          </a:xfrm>
          <a:prstGeom xmlns:a="http://schemas.openxmlformats.org/drawingml/2006/main" prst="rect">
            <a:avLst/>
          </a:prstGeom>
          <a:solidFill xmlns:a="http://schemas.openxmlformats.org/drawingml/2006/main">
            <a:srgbClr val="F5F5F5"/>
          </a:solidFill>
          <a:ln xmlns:a="http://schemas.openxmlformats.org/drawingml/2006/main" w="19050">
            <a:solidFill>
              <a:srgbClr val="7A1F86"/>
            </a:solidFill>
            <a:prstDash val="solid"/>
          </a:ln>
        </p:spPr>
      </p:sp>
      <p:sp>
        <p:nvSpPr>
          <p:cNvPr id="27" name="">
            <a:extLst xmlns:a="http://schemas.openxmlformats.org/drawingml/2006/main">
              <a:ext uri="{FF2B5EF4-FFF2-40B4-BE49-F238E27FC236}">
                <a16:creationId xmlns:a16="http://schemas.microsoft.com/office/drawing/2014/main" id="{BCE9EB06-5E61-4184-B222-2364226F53C5}"/>
              </a:ext>
            </a:extLst>
          </p:cNvPr>
          <p:cNvSpPr>
            <a:spLocks xmlns:a="http://schemas.openxmlformats.org/drawingml/2006/main" noGrp="1"/>
          </p:cNvSpPr>
          <p:nvPr/>
        </p:nvSpPr>
        <p:spPr>
          <a:xfrm xmlns:a="http://schemas.openxmlformats.org/drawingml/2006/main">
            <a:off x="7458075" y="11906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4</a:t>
            </a:r>
          </a:p>
        </p:txBody>
      </p:sp>
      <p:sp>
        <p:nvSpPr>
          <p:cNvPr id="28" name="">
            <a:extLst xmlns:a="http://schemas.openxmlformats.org/drawingml/2006/main">
              <a:ext uri="{FF2B5EF4-FFF2-40B4-BE49-F238E27FC236}">
                <a16:creationId xmlns:a16="http://schemas.microsoft.com/office/drawing/2014/main" id="{1D552732-1A94-4086-9F87-EE214F98EFF2}"/>
              </a:ext>
            </a:extLst>
          </p:cNvPr>
          <p:cNvSpPr>
            <a:spLocks xmlns:a="http://schemas.openxmlformats.org/drawingml/2006/main" noGrp="1"/>
          </p:cNvSpPr>
          <p:nvPr/>
        </p:nvSpPr>
        <p:spPr>
          <a:xfrm xmlns:a="http://schemas.openxmlformats.org/drawingml/2006/main">
            <a:off x="7839075" y="1219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化学引导视图</a:t>
            </a:r>
          </a:p>
        </p:txBody>
      </p:sp>
      <p:sp>
        <p:nvSpPr>
          <p:cNvPr id="29" name="">
            <a:extLst xmlns:a="http://schemas.openxmlformats.org/drawingml/2006/main">
              <a:ext uri="{FF2B5EF4-FFF2-40B4-BE49-F238E27FC236}">
                <a16:creationId xmlns:a16="http://schemas.microsoft.com/office/drawing/2014/main" id="{7BDEA0E8-1869-4ED9-84C7-953142BBC4B8}"/>
              </a:ext>
            </a:extLst>
          </p:cNvPr>
          <p:cNvSpPr>
            <a:spLocks xmlns:a="http://schemas.openxmlformats.org/drawingml/2006/main" noGrp="1"/>
          </p:cNvSpPr>
          <p:nvPr/>
        </p:nvSpPr>
        <p:spPr>
          <a:xfrm xmlns:a="http://schemas.openxmlformats.org/drawingml/2006/main">
            <a:off x="7553325" y="176212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将最显著的 3 个冲突峰衰减到原强度的 25%</a:t>
            </a:r>
          </a:p>
        </p:txBody>
      </p:sp>
      <p:sp>
        <p:nvSpPr>
          <p:cNvPr id="30" name="">
            <a:extLst xmlns:a="http://schemas.openxmlformats.org/drawingml/2006/main">
              <a:ext uri="{FF2B5EF4-FFF2-40B4-BE49-F238E27FC236}">
                <a16:creationId xmlns:a16="http://schemas.microsoft.com/office/drawing/2014/main" id="{D42D5BF3-5AA3-461B-BE86-6BC6F42D0AAD}"/>
              </a:ext>
            </a:extLst>
          </p:cNvPr>
          <p:cNvSpPr>
            <a:spLocks xmlns:a="http://schemas.openxmlformats.org/drawingml/2006/main" noGrp="1"/>
          </p:cNvSpPr>
          <p:nvPr/>
        </p:nvSpPr>
        <p:spPr>
          <a:xfrm xmlns:a="http://schemas.openxmlformats.org/drawingml/2006/main">
            <a:off x="9439275" y="1809750"/>
            <a:ext cx="285750" cy="24765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E911FB1-3701-4823-A89D-5F23996BCED5}"/>
              </a:ext>
            </a:extLst>
          </p:cNvPr>
          <p:cNvSpPr>
            <a:spLocks xmlns:a="http://schemas.openxmlformats.org/drawingml/2006/main" noGrp="1"/>
          </p:cNvSpPr>
          <p:nvPr/>
        </p:nvSpPr>
        <p:spPr>
          <a:xfrm xmlns:a="http://schemas.openxmlformats.org/drawingml/2006/main">
            <a:off x="9696450" y="1047750"/>
            <a:ext cx="20955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32" name="">
            <a:extLst xmlns:a="http://schemas.openxmlformats.org/drawingml/2006/main">
              <a:ext uri="{FF2B5EF4-FFF2-40B4-BE49-F238E27FC236}">
                <a16:creationId xmlns:a16="http://schemas.microsoft.com/office/drawing/2014/main" id="{369DBA5C-0193-4C3B-AECE-4F62B2762D06}"/>
              </a:ext>
            </a:extLst>
          </p:cNvPr>
          <p:cNvSpPr>
            <a:spLocks xmlns:a="http://schemas.openxmlformats.org/drawingml/2006/main" noGrp="1"/>
          </p:cNvSpPr>
          <p:nvPr/>
        </p:nvSpPr>
        <p:spPr>
          <a:xfrm xmlns:a="http://schemas.openxmlformats.org/drawingml/2006/main">
            <a:off x="9791700" y="119062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5</a:t>
            </a:r>
          </a:p>
        </p:txBody>
      </p:sp>
      <p:sp>
        <p:nvSpPr>
          <p:cNvPr id="33" name="">
            <a:extLst xmlns:a="http://schemas.openxmlformats.org/drawingml/2006/main">
              <a:ext uri="{FF2B5EF4-FFF2-40B4-BE49-F238E27FC236}">
                <a16:creationId xmlns:a16="http://schemas.microsoft.com/office/drawing/2014/main" id="{F7D3D530-BD4D-4F7F-AAC2-8D1799D8E3B0}"/>
              </a:ext>
            </a:extLst>
          </p:cNvPr>
          <p:cNvSpPr>
            <a:spLocks xmlns:a="http://schemas.openxmlformats.org/drawingml/2006/main" noGrp="1"/>
          </p:cNvSpPr>
          <p:nvPr/>
        </p:nvSpPr>
        <p:spPr>
          <a:xfrm xmlns:a="http://schemas.openxmlformats.org/drawingml/2006/main">
            <a:off x="10172700" y="1219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末端微调</a:t>
            </a:r>
          </a:p>
        </p:txBody>
      </p:sp>
      <p:sp>
        <p:nvSpPr>
          <p:cNvPr id="34" name="">
            <a:extLst xmlns:a="http://schemas.openxmlformats.org/drawingml/2006/main">
              <a:ext uri="{FF2B5EF4-FFF2-40B4-BE49-F238E27FC236}">
                <a16:creationId xmlns:a16="http://schemas.microsoft.com/office/drawing/2014/main" id="{6D0367C3-FAFF-4040-B079-E67B6E156340}"/>
              </a:ext>
            </a:extLst>
          </p:cNvPr>
          <p:cNvSpPr>
            <a:spLocks xmlns:a="http://schemas.openxmlformats.org/drawingml/2006/main" noGrp="1"/>
          </p:cNvSpPr>
          <p:nvPr/>
        </p:nvSpPr>
        <p:spPr>
          <a:xfrm xmlns:a="http://schemas.openxmlformats.org/drawingml/2006/main">
            <a:off x="9886950" y="176212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原始/引导谱图共用 DreaMS，联合优化排序与一致性</a:t>
            </a:r>
          </a:p>
        </p:txBody>
      </p:sp>
      <p:sp>
        <p:nvSpPr>
          <p:cNvPr id="35" name="">
            <a:extLst xmlns:a="http://schemas.openxmlformats.org/drawingml/2006/main">
              <a:ext uri="{FF2B5EF4-FFF2-40B4-BE49-F238E27FC236}">
                <a16:creationId xmlns:a16="http://schemas.microsoft.com/office/drawing/2014/main" id="{225936BC-97B8-4106-AE56-0101F4FC00D0}"/>
              </a:ext>
            </a:extLst>
          </p:cNvPr>
          <p:cNvSpPr>
            <a:spLocks xmlns:a="http://schemas.openxmlformats.org/drawingml/2006/main" noGrp="1"/>
          </p:cNvSpPr>
          <p:nvPr/>
        </p:nvSpPr>
        <p:spPr>
          <a:xfrm xmlns:a="http://schemas.openxmlformats.org/drawingml/2006/main">
            <a:off x="666750" y="3429000"/>
            <a:ext cx="108585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6" name="">
            <a:extLst xmlns:a="http://schemas.openxmlformats.org/drawingml/2006/main">
              <a:ext uri="{FF2B5EF4-FFF2-40B4-BE49-F238E27FC236}">
                <a16:creationId xmlns:a16="http://schemas.microsoft.com/office/drawing/2014/main" id="{85D01185-622C-48F0-993F-7357CEF7EFDB}"/>
              </a:ext>
            </a:extLst>
          </p:cNvPr>
          <p:cNvSpPr>
            <a:spLocks xmlns:a="http://schemas.openxmlformats.org/drawingml/2006/main" noGrp="1"/>
          </p:cNvSpPr>
          <p:nvPr/>
        </p:nvSpPr>
        <p:spPr>
          <a:xfrm xmlns:a="http://schemas.openxmlformats.org/drawingml/2006/main">
            <a:off x="904875" y="36195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训练时模型真正看到什么？</a:t>
            </a:r>
          </a:p>
        </p:txBody>
      </p:sp>
      <p:sp>
        <p:nvSpPr>
          <p:cNvPr id="37" name="">
            <a:extLst xmlns:a="http://schemas.openxmlformats.org/drawingml/2006/main">
              <a:ext uri="{FF2B5EF4-FFF2-40B4-BE49-F238E27FC236}">
                <a16:creationId xmlns:a16="http://schemas.microsoft.com/office/drawing/2014/main" id="{184837BF-D300-456B-9C78-68BC6E40ABA5}"/>
              </a:ext>
            </a:extLst>
          </p:cNvPr>
          <p:cNvSpPr>
            <a:spLocks xmlns:a="http://schemas.openxmlformats.org/drawingml/2006/main" noGrp="1"/>
          </p:cNvSpPr>
          <p:nvPr/>
        </p:nvSpPr>
        <p:spPr>
          <a:xfrm xmlns:a="http://schemas.openxmlformats.org/drawingml/2006/main">
            <a:off x="1000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原始谱图</a:t>
            </a:r>
          </a:p>
        </p:txBody>
      </p:sp>
      <p:sp>
        <p:nvSpPr>
          <p:cNvPr id="38" name="">
            <a:extLst xmlns:a="http://schemas.openxmlformats.org/drawingml/2006/main">
              <a:ext uri="{FF2B5EF4-FFF2-40B4-BE49-F238E27FC236}">
                <a16:creationId xmlns:a16="http://schemas.microsoft.com/office/drawing/2014/main" id="{6DDBC933-6E0A-4624-BF22-4DA7DE6FD636}"/>
              </a:ext>
            </a:extLst>
          </p:cNvPr>
          <p:cNvSpPr>
            <a:spLocks xmlns:a="http://schemas.openxmlformats.org/drawingml/2006/main" noGrp="1"/>
          </p:cNvSpPr>
          <p:nvPr/>
        </p:nvSpPr>
        <p:spPr>
          <a:xfrm xmlns:a="http://schemas.openxmlformats.org/drawingml/2006/main">
            <a:off x="2428875" y="4191000"/>
            <a:ext cx="514350" cy="3048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61CE0C4-25C5-4F10-9B55-51234FDF7A25}"/>
              </a:ext>
            </a:extLst>
          </p:cNvPr>
          <p:cNvSpPr>
            <a:spLocks xmlns:a="http://schemas.openxmlformats.org/drawingml/2006/main" noGrp="1"/>
          </p:cNvSpPr>
          <p:nvPr/>
        </p:nvSpPr>
        <p:spPr>
          <a:xfrm xmlns:a="http://schemas.openxmlformats.org/drawingml/2006/main">
            <a:off x="3143250" y="404812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同一个 DreaMS</a:t>
            </a:r>
          </a:p>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末端 block + 投影层</a:t>
            </a:r>
          </a:p>
        </p:txBody>
      </p:sp>
      <p:sp>
        <p:nvSpPr>
          <p:cNvPr id="40" name="">
            <a:extLst xmlns:a="http://schemas.openxmlformats.org/drawingml/2006/main">
              <a:ext uri="{FF2B5EF4-FFF2-40B4-BE49-F238E27FC236}">
                <a16:creationId xmlns:a16="http://schemas.microsoft.com/office/drawing/2014/main" id="{F4877007-4D4C-4038-AC34-D710B1955FFC}"/>
              </a:ext>
            </a:extLst>
          </p:cNvPr>
          <p:cNvSpPr>
            <a:spLocks xmlns:a="http://schemas.openxmlformats.org/drawingml/2006/main" noGrp="1"/>
          </p:cNvSpPr>
          <p:nvPr/>
        </p:nvSpPr>
        <p:spPr>
          <a:xfrm xmlns:a="http://schemas.openxmlformats.org/drawingml/2006/main">
            <a:off x="5429250" y="4191000"/>
            <a:ext cx="514350" cy="3048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B740853-C2D4-47F3-83C1-D2E9D3D7E2F2}"/>
              </a:ext>
            </a:extLst>
          </p:cNvPr>
          <p:cNvSpPr>
            <a:spLocks xmlns:a="http://schemas.openxmlformats.org/drawingml/2006/main" noGrp="1"/>
          </p:cNvSpPr>
          <p:nvPr/>
        </p:nvSpPr>
        <p:spPr>
          <a:xfrm xmlns:a="http://schemas.openxmlformats.org/drawingml/2006/main">
            <a:off x="6191250" y="41910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111111"/>
                </a:solidFill>
                <a:latin typeface="Microsoft YaHei"/>
                <a:ea typeface="Microsoft YaHei"/>
                <a:cs typeface="Microsoft YaHei"/>
              </a:defRPr>
            </a:pPr>
            <a:r>
              <a:rPr sz="1425" b="1" i="0">
                <a:solidFill>
                  <a:srgbClr val="111111"/>
                </a:solidFill>
                <a:latin typeface="Microsoft YaHei"/>
                <a:ea typeface="Microsoft YaHei"/>
                <a:cs typeface="Microsoft YaHei"/>
              </a:rPr>
              <a:t>真实候选应高于错误候选</a:t>
            </a:r>
          </a:p>
        </p:txBody>
      </p:sp>
      <p:sp>
        <p:nvSpPr>
          <p:cNvPr id="42" name="">
            <a:extLst xmlns:a="http://schemas.openxmlformats.org/drawingml/2006/main">
              <a:ext uri="{FF2B5EF4-FFF2-40B4-BE49-F238E27FC236}">
                <a16:creationId xmlns:a16="http://schemas.microsoft.com/office/drawing/2014/main" id="{A59B6D6A-BEA4-4FA6-8A7F-6A5161642816}"/>
              </a:ext>
            </a:extLst>
          </p:cNvPr>
          <p:cNvSpPr>
            <a:spLocks xmlns:a="http://schemas.openxmlformats.org/drawingml/2006/main" noGrp="1"/>
          </p:cNvSpPr>
          <p:nvPr/>
        </p:nvSpPr>
        <p:spPr>
          <a:xfrm xmlns:a="http://schemas.openxmlformats.org/drawingml/2006/main">
            <a:off x="1000125" y="48101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化学引导谱图</a:t>
            </a:r>
          </a:p>
        </p:txBody>
      </p:sp>
      <p:sp>
        <p:nvSpPr>
          <p:cNvPr id="43" name="">
            <a:extLst xmlns:a="http://schemas.openxmlformats.org/drawingml/2006/main">
              <a:ext uri="{FF2B5EF4-FFF2-40B4-BE49-F238E27FC236}">
                <a16:creationId xmlns:a16="http://schemas.microsoft.com/office/drawing/2014/main" id="{F254931E-D8FD-4258-B9E7-AC082563A53F}"/>
              </a:ext>
            </a:extLst>
          </p:cNvPr>
          <p:cNvSpPr>
            <a:spLocks xmlns:a="http://schemas.openxmlformats.org/drawingml/2006/main" noGrp="1"/>
          </p:cNvSpPr>
          <p:nvPr/>
        </p:nvSpPr>
        <p:spPr>
          <a:xfrm xmlns:a="http://schemas.openxmlformats.org/drawingml/2006/main">
            <a:off x="2428875" y="4810125"/>
            <a:ext cx="514350" cy="3048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7FEA00C-C2EB-4A26-AB4C-8BF5ACB18AE2}"/>
              </a:ext>
            </a:extLst>
          </p:cNvPr>
          <p:cNvSpPr>
            <a:spLocks xmlns:a="http://schemas.openxmlformats.org/drawingml/2006/main" noGrp="1"/>
          </p:cNvSpPr>
          <p:nvPr/>
        </p:nvSpPr>
        <p:spPr>
          <a:xfrm xmlns:a="http://schemas.openxmlformats.org/drawingml/2006/main">
            <a:off x="3476625" y="48101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共享参数</a:t>
            </a:r>
          </a:p>
        </p:txBody>
      </p:sp>
      <p:sp>
        <p:nvSpPr>
          <p:cNvPr id="45" name="">
            <a:extLst xmlns:a="http://schemas.openxmlformats.org/drawingml/2006/main">
              <a:ext uri="{FF2B5EF4-FFF2-40B4-BE49-F238E27FC236}">
                <a16:creationId xmlns:a16="http://schemas.microsoft.com/office/drawing/2014/main" id="{43015D1A-AA8A-4AA4-B2ED-34E0DC956232}"/>
              </a:ext>
            </a:extLst>
          </p:cNvPr>
          <p:cNvSpPr>
            <a:spLocks xmlns:a="http://schemas.openxmlformats.org/drawingml/2006/main" noGrp="1"/>
          </p:cNvSpPr>
          <p:nvPr/>
        </p:nvSpPr>
        <p:spPr>
          <a:xfrm xmlns:a="http://schemas.openxmlformats.org/drawingml/2006/main">
            <a:off x="5429250" y="4810125"/>
            <a:ext cx="514350" cy="3048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88A4057-E399-4996-8A52-1527367FFC9B}"/>
              </a:ext>
            </a:extLst>
          </p:cNvPr>
          <p:cNvSpPr>
            <a:spLocks xmlns:a="http://schemas.openxmlformats.org/drawingml/2006/main" noGrp="1"/>
          </p:cNvSpPr>
          <p:nvPr/>
        </p:nvSpPr>
        <p:spPr>
          <a:xfrm xmlns:a="http://schemas.openxmlformats.org/drawingml/2006/main">
            <a:off x="6191250" y="4762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两种视图的干净 embedding 保持一致</a:t>
            </a:r>
          </a:p>
        </p:txBody>
      </p:sp>
      <p:sp>
        <p:nvSpPr>
          <p:cNvPr id="47" name="">
            <a:extLst xmlns:a="http://schemas.openxmlformats.org/drawingml/2006/main">
              <a:ext uri="{FF2B5EF4-FFF2-40B4-BE49-F238E27FC236}">
                <a16:creationId xmlns:a16="http://schemas.microsoft.com/office/drawing/2014/main" id="{1C09DDCD-5039-4163-A8F1-8BF13DE12A9E}"/>
              </a:ext>
            </a:extLst>
          </p:cNvPr>
          <p:cNvSpPr>
            <a:spLocks xmlns:a="http://schemas.openxmlformats.org/drawingml/2006/main" noGrp="1"/>
          </p:cNvSpPr>
          <p:nvPr/>
        </p:nvSpPr>
        <p:spPr>
          <a:xfrm xmlns:a="http://schemas.openxmlformats.org/drawingml/2006/main">
            <a:off x="2238375" y="5762625"/>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这样，模型学习的是“结构差异对应哪些峰”，而不是在推断时依赖候选真值。</a:t>
            </a:r>
          </a:p>
        </p:txBody>
      </p:sp>
    </p:spTree>
    <p:extLst>
      <p:ext uri="{BB962C8B-B14F-4D97-AF65-F5344CB8AC3E}">
        <p14:creationId xmlns:p14="http://schemas.microsoft.com/office/powerpoint/2010/main" val="14202691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C292F31-98D7-4A44-BBF3-A88448A9BAAE}"/>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47AAF2E-4CB3-4EDB-9B1A-1D16022E1816}"/>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B6F981-FE7B-4C02-B052-C7894CB78A7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6C7E16-524E-4916-83AA-B272F5EC996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993AA1-F0BF-4583-B3BE-687F8FAE574F}"/>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化学碎裂先验：1,929 条查询中 Recall@1 提升 1.24 个百分点</a:t>
            </a:r>
          </a:p>
        </p:txBody>
      </p:sp>
      <p:sp>
        <p:nvSpPr>
          <p:cNvPr id="6" name="">
            <a:extLst xmlns:a="http://schemas.openxmlformats.org/drawingml/2006/main">
              <a:ext uri="{FF2B5EF4-FFF2-40B4-BE49-F238E27FC236}">
                <a16:creationId xmlns:a16="http://schemas.microsoft.com/office/drawing/2014/main" id="{88160D31-C143-4E24-BE67-F92E479CC6BD}"/>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EC04DF-2981-428C-9C8A-9521D626D133}"/>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AACC95-E1A5-48D7-83BD-9064B5F2F9DD}"/>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0325F7-8490-4F3F-BF19-3DF493D8017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F02BC1D8-2D7A-4EC8-B3EC-69E389AE9910}"/>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46" name="Chart"/>
          <p:cNvGraphicFramePr/>
          <p:nvPr/>
        </p:nvGraphicFramePr>
        <p:xfrm>
          <a:off xmlns:a="http://schemas.openxmlformats.org/drawingml/2006/main" x="523875" y="1000125"/>
          <a:ext xmlns:a="http://schemas.openxmlformats.org/drawingml/2006/main" cx="4095750" cy="3095625"/>
        </p:xfrm>
        <a:graphic xmlns:a="http://schemas.openxmlformats.org/drawingml/2006/main">
          <a:graphicData uri="http://schemas.openxmlformats.org/drawingml/2006/chart">
            <c:chart xmlns:r="http://schemas.openxmlformats.org/officeDocument/2006/relationships" xmlns:c="http://schemas.openxmlformats.org/drawingml/2006/chart" r:id="R18c14a7233f74583"/>
          </a:graphicData>
        </a:graphic>
      </p:graphicFrame>
      <p:sp>
        <p:nvSpPr>
          <p:cNvPr id="12" name="">
            <a:extLst xmlns:a="http://schemas.openxmlformats.org/drawingml/2006/main">
              <a:ext uri="{FF2B5EF4-FFF2-40B4-BE49-F238E27FC236}">
                <a16:creationId xmlns:a16="http://schemas.microsoft.com/office/drawing/2014/main" id="{578A9240-CB5E-45A2-92E0-722EB6400C59}"/>
              </a:ext>
            </a:extLst>
          </p:cNvPr>
          <p:cNvSpPr>
            <a:spLocks xmlns:a="http://schemas.openxmlformats.org/drawingml/2006/main" noGrp="1"/>
          </p:cNvSpPr>
          <p:nvPr/>
        </p:nvSpPr>
        <p:spPr>
          <a:xfrm xmlns:a="http://schemas.openxmlformats.org/drawingml/2006/main">
            <a:off x="1190625" y="24479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90.46%</a:t>
            </a:r>
          </a:p>
        </p:txBody>
      </p:sp>
      <p:sp>
        <p:nvSpPr>
          <p:cNvPr id="13" name="">
            <a:extLst xmlns:a="http://schemas.openxmlformats.org/drawingml/2006/main">
              <a:ext uri="{FF2B5EF4-FFF2-40B4-BE49-F238E27FC236}">
                <a16:creationId xmlns:a16="http://schemas.microsoft.com/office/drawing/2014/main" id="{6895A928-D744-40E4-9CA7-2D3A7ED723F2}"/>
              </a:ext>
            </a:extLst>
          </p:cNvPr>
          <p:cNvSpPr>
            <a:spLocks xmlns:a="http://schemas.openxmlformats.org/drawingml/2006/main" noGrp="1"/>
          </p:cNvSpPr>
          <p:nvPr/>
        </p:nvSpPr>
        <p:spPr>
          <a:xfrm xmlns:a="http://schemas.openxmlformats.org/drawingml/2006/main">
            <a:off x="3000375" y="18097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91.71%</a:t>
            </a:r>
          </a:p>
        </p:txBody>
      </p:sp>
      <p:sp>
        <p:nvSpPr>
          <p:cNvPr id="14" name="">
            <a:extLst xmlns:a="http://schemas.openxmlformats.org/drawingml/2006/main">
              <a:ext uri="{FF2B5EF4-FFF2-40B4-BE49-F238E27FC236}">
                <a16:creationId xmlns:a16="http://schemas.microsoft.com/office/drawing/2014/main" id="{1800991A-4BDA-41CA-AB46-7C67ABE6D2B4}"/>
              </a:ext>
            </a:extLst>
          </p:cNvPr>
          <p:cNvSpPr>
            <a:spLocks xmlns:a="http://schemas.openxmlformats.org/drawingml/2006/main" noGrp="1"/>
          </p:cNvSpPr>
          <p:nvPr/>
        </p:nvSpPr>
        <p:spPr>
          <a:xfrm xmlns:a="http://schemas.openxmlformats.org/drawingml/2006/main">
            <a:off x="5095875" y="104775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F392DE91-2590-4473-9CF8-7B9573BF5E1A}"/>
              </a:ext>
            </a:extLst>
          </p:cNvPr>
          <p:cNvSpPr>
            <a:spLocks xmlns:a="http://schemas.openxmlformats.org/drawingml/2006/main" noGrp="1"/>
          </p:cNvSpPr>
          <p:nvPr/>
        </p:nvSpPr>
        <p:spPr>
          <a:xfrm xmlns:a="http://schemas.openxmlformats.org/drawingml/2006/main">
            <a:off x="5191125" y="11334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查询数</a:t>
            </a:r>
          </a:p>
        </p:txBody>
      </p:sp>
      <p:sp>
        <p:nvSpPr>
          <p:cNvPr id="16" name="">
            <a:extLst xmlns:a="http://schemas.openxmlformats.org/drawingml/2006/main">
              <a:ext uri="{FF2B5EF4-FFF2-40B4-BE49-F238E27FC236}">
                <a16:creationId xmlns:a16="http://schemas.microsoft.com/office/drawing/2014/main" id="{0F249DCB-B3A2-4BF7-9F37-7E1ED5A8E583}"/>
              </a:ext>
            </a:extLst>
          </p:cNvPr>
          <p:cNvSpPr>
            <a:spLocks xmlns:a="http://schemas.openxmlformats.org/drawingml/2006/main" noGrp="1"/>
          </p:cNvSpPr>
          <p:nvPr/>
        </p:nvSpPr>
        <p:spPr>
          <a:xfrm xmlns:a="http://schemas.openxmlformats.org/drawingml/2006/main">
            <a:off x="5172075" y="134302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1,929</a:t>
            </a:r>
          </a:p>
        </p:txBody>
      </p:sp>
      <p:sp>
        <p:nvSpPr>
          <p:cNvPr id="17" name="">
            <a:extLst xmlns:a="http://schemas.openxmlformats.org/drawingml/2006/main">
              <a:ext uri="{FF2B5EF4-FFF2-40B4-BE49-F238E27FC236}">
                <a16:creationId xmlns:a16="http://schemas.microsoft.com/office/drawing/2014/main" id="{2796DC30-CDED-4757-BA56-3C577027CEB1}"/>
              </a:ext>
            </a:extLst>
          </p:cNvPr>
          <p:cNvSpPr>
            <a:spLocks xmlns:a="http://schemas.openxmlformats.org/drawingml/2006/main" noGrp="1"/>
          </p:cNvSpPr>
          <p:nvPr/>
        </p:nvSpPr>
        <p:spPr>
          <a:xfrm xmlns:a="http://schemas.openxmlformats.org/drawingml/2006/main">
            <a:off x="7000875" y="104775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7A260E56-2B2C-4C74-BD0D-40A651F7750D}"/>
              </a:ext>
            </a:extLst>
          </p:cNvPr>
          <p:cNvSpPr>
            <a:spLocks xmlns:a="http://schemas.openxmlformats.org/drawingml/2006/main" noGrp="1"/>
          </p:cNvSpPr>
          <p:nvPr/>
        </p:nvSpPr>
        <p:spPr>
          <a:xfrm xmlns:a="http://schemas.openxmlformats.org/drawingml/2006/main">
            <a:off x="7096125" y="11334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分子式簇</a:t>
            </a:r>
          </a:p>
        </p:txBody>
      </p:sp>
      <p:sp>
        <p:nvSpPr>
          <p:cNvPr id="19" name="">
            <a:extLst xmlns:a="http://schemas.openxmlformats.org/drawingml/2006/main">
              <a:ext uri="{FF2B5EF4-FFF2-40B4-BE49-F238E27FC236}">
                <a16:creationId xmlns:a16="http://schemas.microsoft.com/office/drawing/2014/main" id="{1612E612-8167-45AD-89FD-AB8701A3B0EF}"/>
              </a:ext>
            </a:extLst>
          </p:cNvPr>
          <p:cNvSpPr>
            <a:spLocks xmlns:a="http://schemas.openxmlformats.org/drawingml/2006/main" noGrp="1"/>
          </p:cNvSpPr>
          <p:nvPr/>
        </p:nvSpPr>
        <p:spPr>
          <a:xfrm xmlns:a="http://schemas.openxmlformats.org/drawingml/2006/main">
            <a:off x="7077075" y="134302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1,210</a:t>
            </a:r>
          </a:p>
        </p:txBody>
      </p:sp>
      <p:sp>
        <p:nvSpPr>
          <p:cNvPr id="20" name="">
            <a:extLst xmlns:a="http://schemas.openxmlformats.org/drawingml/2006/main">
              <a:ext uri="{FF2B5EF4-FFF2-40B4-BE49-F238E27FC236}">
                <a16:creationId xmlns:a16="http://schemas.microsoft.com/office/drawing/2014/main" id="{4531146A-FAB7-427D-A3C1-1EFEC7B2C81D}"/>
              </a:ext>
            </a:extLst>
          </p:cNvPr>
          <p:cNvSpPr>
            <a:spLocks xmlns:a="http://schemas.openxmlformats.org/drawingml/2006/main" noGrp="1"/>
          </p:cNvSpPr>
          <p:nvPr/>
        </p:nvSpPr>
        <p:spPr>
          <a:xfrm xmlns:a="http://schemas.openxmlformats.org/drawingml/2006/main">
            <a:off x="8905875" y="104775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1" name="">
            <a:extLst xmlns:a="http://schemas.openxmlformats.org/drawingml/2006/main">
              <a:ext uri="{FF2B5EF4-FFF2-40B4-BE49-F238E27FC236}">
                <a16:creationId xmlns:a16="http://schemas.microsoft.com/office/drawing/2014/main" id="{039E289A-F79B-4E8E-8817-A407343A2297}"/>
              </a:ext>
            </a:extLst>
          </p:cNvPr>
          <p:cNvSpPr>
            <a:spLocks xmlns:a="http://schemas.openxmlformats.org/drawingml/2006/main" noGrp="1"/>
          </p:cNvSpPr>
          <p:nvPr/>
        </p:nvSpPr>
        <p:spPr>
          <a:xfrm xmlns:a="http://schemas.openxmlformats.org/drawingml/2006/main">
            <a:off x="9001125" y="11334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Recall@1 提升</a:t>
            </a:r>
          </a:p>
        </p:txBody>
      </p:sp>
      <p:sp>
        <p:nvSpPr>
          <p:cNvPr id="22" name="">
            <a:extLst xmlns:a="http://schemas.openxmlformats.org/drawingml/2006/main">
              <a:ext uri="{FF2B5EF4-FFF2-40B4-BE49-F238E27FC236}">
                <a16:creationId xmlns:a16="http://schemas.microsoft.com/office/drawing/2014/main" id="{DD2F83B2-CA7E-4CC4-B9E6-C4C2B35D5506}"/>
              </a:ext>
            </a:extLst>
          </p:cNvPr>
          <p:cNvSpPr>
            <a:spLocks xmlns:a="http://schemas.openxmlformats.org/drawingml/2006/main" noGrp="1"/>
          </p:cNvSpPr>
          <p:nvPr/>
        </p:nvSpPr>
        <p:spPr>
          <a:xfrm xmlns:a="http://schemas.openxmlformats.org/drawingml/2006/main">
            <a:off x="8982075" y="134302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+1.24 pp</a:t>
            </a:r>
          </a:p>
        </p:txBody>
      </p:sp>
      <p:sp>
        <p:nvSpPr>
          <p:cNvPr id="23" name="">
            <a:extLst xmlns:a="http://schemas.openxmlformats.org/drawingml/2006/main">
              <a:ext uri="{FF2B5EF4-FFF2-40B4-BE49-F238E27FC236}">
                <a16:creationId xmlns:a16="http://schemas.microsoft.com/office/drawing/2014/main" id="{E6E48AA0-86A5-427B-8B9A-B2737562D366}"/>
              </a:ext>
            </a:extLst>
          </p:cNvPr>
          <p:cNvSpPr>
            <a:spLocks xmlns:a="http://schemas.openxmlformats.org/drawingml/2006/main" noGrp="1"/>
          </p:cNvSpPr>
          <p:nvPr/>
        </p:nvSpPr>
        <p:spPr>
          <a:xfrm xmlns:a="http://schemas.openxmlformats.org/drawingml/2006/main">
            <a:off x="5095875" y="209550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050723D5-B55E-482F-ACEE-C8797E20F19D}"/>
              </a:ext>
            </a:extLst>
          </p:cNvPr>
          <p:cNvSpPr>
            <a:spLocks xmlns:a="http://schemas.openxmlformats.org/drawingml/2006/main" noGrp="1"/>
          </p:cNvSpPr>
          <p:nvPr/>
        </p:nvSpPr>
        <p:spPr>
          <a:xfrm xmlns:a="http://schemas.openxmlformats.org/drawingml/2006/main">
            <a:off x="519112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纠正</a:t>
            </a:r>
          </a:p>
        </p:txBody>
      </p:sp>
      <p:sp>
        <p:nvSpPr>
          <p:cNvPr id="25" name="">
            <a:extLst xmlns:a="http://schemas.openxmlformats.org/drawingml/2006/main">
              <a:ext uri="{FF2B5EF4-FFF2-40B4-BE49-F238E27FC236}">
                <a16:creationId xmlns:a16="http://schemas.microsoft.com/office/drawing/2014/main" id="{36226734-E082-448A-856C-16F196ECB4D1}"/>
              </a:ext>
            </a:extLst>
          </p:cNvPr>
          <p:cNvSpPr>
            <a:spLocks xmlns:a="http://schemas.openxmlformats.org/drawingml/2006/main" noGrp="1"/>
          </p:cNvSpPr>
          <p:nvPr/>
        </p:nvSpPr>
        <p:spPr>
          <a:xfrm xmlns:a="http://schemas.openxmlformats.org/drawingml/2006/main">
            <a:off x="5172075" y="239077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32</a:t>
            </a:r>
          </a:p>
        </p:txBody>
      </p:sp>
      <p:sp>
        <p:nvSpPr>
          <p:cNvPr id="26" name="">
            <a:extLst xmlns:a="http://schemas.openxmlformats.org/drawingml/2006/main">
              <a:ext uri="{FF2B5EF4-FFF2-40B4-BE49-F238E27FC236}">
                <a16:creationId xmlns:a16="http://schemas.microsoft.com/office/drawing/2014/main" id="{26C23852-6725-4DF7-9AF6-935B765270E4}"/>
              </a:ext>
            </a:extLst>
          </p:cNvPr>
          <p:cNvSpPr>
            <a:spLocks xmlns:a="http://schemas.openxmlformats.org/drawingml/2006/main" noGrp="1"/>
          </p:cNvSpPr>
          <p:nvPr/>
        </p:nvSpPr>
        <p:spPr>
          <a:xfrm xmlns:a="http://schemas.openxmlformats.org/drawingml/2006/main">
            <a:off x="7000875" y="209550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7" name="">
            <a:extLst xmlns:a="http://schemas.openxmlformats.org/drawingml/2006/main">
              <a:ext uri="{FF2B5EF4-FFF2-40B4-BE49-F238E27FC236}">
                <a16:creationId xmlns:a16="http://schemas.microsoft.com/office/drawing/2014/main" id="{773AAF11-2C2B-43BE-AD85-BA92ABD62138}"/>
              </a:ext>
            </a:extLst>
          </p:cNvPr>
          <p:cNvSpPr>
            <a:spLocks xmlns:a="http://schemas.openxmlformats.org/drawingml/2006/main" noGrp="1"/>
          </p:cNvSpPr>
          <p:nvPr/>
        </p:nvSpPr>
        <p:spPr>
          <a:xfrm xmlns:a="http://schemas.openxmlformats.org/drawingml/2006/main">
            <a:off x="709612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新引入错误</a:t>
            </a:r>
          </a:p>
        </p:txBody>
      </p:sp>
      <p:sp>
        <p:nvSpPr>
          <p:cNvPr id="28" name="">
            <a:extLst xmlns:a="http://schemas.openxmlformats.org/drawingml/2006/main">
              <a:ext uri="{FF2B5EF4-FFF2-40B4-BE49-F238E27FC236}">
                <a16:creationId xmlns:a16="http://schemas.microsoft.com/office/drawing/2014/main" id="{F1A6C338-CA3A-4CCB-91B6-3550409C2BEE}"/>
              </a:ext>
            </a:extLst>
          </p:cNvPr>
          <p:cNvSpPr>
            <a:spLocks xmlns:a="http://schemas.openxmlformats.org/drawingml/2006/main" noGrp="1"/>
          </p:cNvSpPr>
          <p:nvPr/>
        </p:nvSpPr>
        <p:spPr>
          <a:xfrm xmlns:a="http://schemas.openxmlformats.org/drawingml/2006/main">
            <a:off x="7077075" y="239077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8</a:t>
            </a:r>
          </a:p>
        </p:txBody>
      </p:sp>
      <p:sp>
        <p:nvSpPr>
          <p:cNvPr id="29" name="">
            <a:extLst xmlns:a="http://schemas.openxmlformats.org/drawingml/2006/main">
              <a:ext uri="{FF2B5EF4-FFF2-40B4-BE49-F238E27FC236}">
                <a16:creationId xmlns:a16="http://schemas.microsoft.com/office/drawing/2014/main" id="{72E30986-6E56-4545-8228-8E20F5554B97}"/>
              </a:ext>
            </a:extLst>
          </p:cNvPr>
          <p:cNvSpPr>
            <a:spLocks xmlns:a="http://schemas.openxmlformats.org/drawingml/2006/main" noGrp="1"/>
          </p:cNvSpPr>
          <p:nvPr/>
        </p:nvSpPr>
        <p:spPr>
          <a:xfrm xmlns:a="http://schemas.openxmlformats.org/drawingml/2006/main">
            <a:off x="8905875" y="2095500"/>
            <a:ext cx="1714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C8444241-B184-4188-BDAB-123D70DD29D2}"/>
              </a:ext>
            </a:extLst>
          </p:cNvPr>
          <p:cNvSpPr>
            <a:spLocks xmlns:a="http://schemas.openxmlformats.org/drawingml/2006/main" noGrp="1"/>
          </p:cNvSpPr>
          <p:nvPr/>
        </p:nvSpPr>
        <p:spPr>
          <a:xfrm xmlns:a="http://schemas.openxmlformats.org/drawingml/2006/main">
            <a:off x="900112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净纠正</a:t>
            </a:r>
          </a:p>
        </p:txBody>
      </p:sp>
      <p:sp>
        <p:nvSpPr>
          <p:cNvPr id="31" name="">
            <a:extLst xmlns:a="http://schemas.openxmlformats.org/drawingml/2006/main">
              <a:ext uri="{FF2B5EF4-FFF2-40B4-BE49-F238E27FC236}">
                <a16:creationId xmlns:a16="http://schemas.microsoft.com/office/drawing/2014/main" id="{292551B9-83A2-41BC-8DA3-46696BE7A6F0}"/>
              </a:ext>
            </a:extLst>
          </p:cNvPr>
          <p:cNvSpPr>
            <a:spLocks xmlns:a="http://schemas.openxmlformats.org/drawingml/2006/main" noGrp="1"/>
          </p:cNvSpPr>
          <p:nvPr/>
        </p:nvSpPr>
        <p:spPr>
          <a:xfrm xmlns:a="http://schemas.openxmlformats.org/drawingml/2006/main">
            <a:off x="8982075" y="2390775"/>
            <a:ext cx="15621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+24</a:t>
            </a:r>
          </a:p>
        </p:txBody>
      </p:sp>
      <p:sp>
        <p:nvSpPr>
          <p:cNvPr id="32" name="">
            <a:extLst xmlns:a="http://schemas.openxmlformats.org/drawingml/2006/main">
              <a:ext uri="{FF2B5EF4-FFF2-40B4-BE49-F238E27FC236}">
                <a16:creationId xmlns:a16="http://schemas.microsoft.com/office/drawing/2014/main" id="{83AFA987-9EA4-42D7-8946-A01CC8C6CE51}"/>
              </a:ext>
            </a:extLst>
          </p:cNvPr>
          <p:cNvSpPr>
            <a:spLocks xmlns:a="http://schemas.openxmlformats.org/drawingml/2006/main" noGrp="1"/>
          </p:cNvSpPr>
          <p:nvPr/>
        </p:nvSpPr>
        <p:spPr>
          <a:xfrm xmlns:a="http://schemas.openxmlformats.org/drawingml/2006/main">
            <a:off x="4953000" y="3333750"/>
            <a:ext cx="6000750" cy="180975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7ACD2447-2B18-42B9-9319-814575109FF3}"/>
              </a:ext>
            </a:extLst>
          </p:cNvPr>
          <p:cNvSpPr>
            <a:spLocks xmlns:a="http://schemas.openxmlformats.org/drawingml/2006/main" noGrp="1"/>
          </p:cNvSpPr>
          <p:nvPr/>
        </p:nvSpPr>
        <p:spPr>
          <a:xfrm xmlns:a="http://schemas.openxmlformats.org/drawingml/2006/main">
            <a:off x="5191125" y="35242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结果说明了什么？</a:t>
            </a:r>
          </a:p>
        </p:txBody>
      </p:sp>
      <p:sp>
        <p:nvSpPr>
          <p:cNvPr id="34" name="">
            <a:extLst xmlns:a="http://schemas.openxmlformats.org/drawingml/2006/main">
              <a:ext uri="{FF2B5EF4-FFF2-40B4-BE49-F238E27FC236}">
                <a16:creationId xmlns:a16="http://schemas.microsoft.com/office/drawing/2014/main" id="{10CF1028-90E0-4616-9936-56BA4CB5AF99}"/>
              </a:ext>
            </a:extLst>
          </p:cNvPr>
          <p:cNvSpPr>
            <a:spLocks xmlns:a="http://schemas.openxmlformats.org/drawingml/2006/main" noGrp="1"/>
          </p:cNvSpPr>
          <p:nvPr/>
        </p:nvSpPr>
        <p:spPr>
          <a:xfrm xmlns:a="http://schemas.openxmlformats.org/drawingml/2006/main">
            <a:off x="5429250" y="4000500"/>
            <a:ext cx="5048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 化学碎裂先验能够提供 DreaMS embedding 之外的额外区分</a:t>
            </a:r>
          </a:p>
          <a:p xmlns:a="http://schemas.openxmlformats.org/drawingml/2006/main">
            <a:pPr algn="l">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 纠正数明显高于新引入错误，头部排序得到净改善</a:t>
            </a:r>
          </a:p>
          <a:p xmlns:a="http://schemas.openxmlformats.org/drawingml/2006/main">
            <a:pPr algn="l">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 结构条件信号可以通过训练写入普通干净谱图的表示</a:t>
            </a:r>
          </a:p>
        </p:txBody>
      </p:sp>
      <p:sp>
        <p:nvSpPr>
          <p:cNvPr id="35" name="">
            <a:extLst xmlns:a="http://schemas.openxmlformats.org/drawingml/2006/main">
              <a:ext uri="{FF2B5EF4-FFF2-40B4-BE49-F238E27FC236}">
                <a16:creationId xmlns:a16="http://schemas.microsoft.com/office/drawing/2014/main" id="{16EE61A1-B12C-4978-BD7E-BF8B6B387BDF}"/>
              </a:ext>
            </a:extLst>
          </p:cNvPr>
          <p:cNvSpPr>
            <a:spLocks xmlns:a="http://schemas.openxmlformats.org/drawingml/2006/main" noGrp="1"/>
          </p:cNvSpPr>
          <p:nvPr/>
        </p:nvSpPr>
        <p:spPr>
          <a:xfrm xmlns:a="http://schemas.openxmlformats.org/drawingml/2006/main">
            <a:off x="1476375" y="563880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这一模块针对的是“谱图看起来相似，但化学碎裂机制不同”的候选对。</a:t>
            </a:r>
          </a:p>
        </p:txBody>
      </p:sp>
    </p:spTree>
    <p:extLst>
      <p:ext uri="{BB962C8B-B14F-4D97-AF65-F5344CB8AC3E}">
        <p14:creationId xmlns:p14="http://schemas.microsoft.com/office/powerpoint/2010/main" val="19945882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57C2CD-B0D9-4CEF-969D-ABFDC7305131}"/>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6EA911-6B5E-469A-B23F-D89894D16C6F}"/>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385B9E-D9A7-4A27-B782-68079D2DA5A1}"/>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EBF5F-BBF1-439C-BBA4-F342466C8F5B}"/>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5B5047C-5F58-4E97-9861-D28E30FFE802}"/>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生物网络证据：当谱图难以区分时，引入样本中的反应上下文</a:t>
            </a:r>
          </a:p>
        </p:txBody>
      </p:sp>
      <p:sp>
        <p:nvSpPr>
          <p:cNvPr id="6" name="">
            <a:extLst xmlns:a="http://schemas.openxmlformats.org/drawingml/2006/main">
              <a:ext uri="{FF2B5EF4-FFF2-40B4-BE49-F238E27FC236}">
                <a16:creationId xmlns:a16="http://schemas.microsoft.com/office/drawing/2014/main" id="{19ED53DC-951C-41E3-8872-8A71146E0678}"/>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89D922-DBB9-407D-8D14-EFC3197A80D8}"/>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6CC3E6-576F-4C9C-828F-43AB8A8BDE43}"/>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ED058B-3CF9-4FD6-9CF5-6D5834E245D4}"/>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B024ABDD-B0D1-4376-98BD-AD36D1A934D4}"/>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344b2e0efcf4df1"/>
          <a:stretch xmlns:a="http://schemas.openxmlformats.org/drawingml/2006/main"/>
        </p:blipFill>
        <p:spPr>
          <a:xfrm xmlns:a="http://schemas.openxmlformats.org/drawingml/2006/main">
            <a:off x="976136" y="1000125"/>
            <a:ext cx="4096103" cy="3238500"/>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82a30b5c68f4638"/>
          <a:stretch xmlns:a="http://schemas.openxmlformats.org/drawingml/2006/main"/>
        </p:blipFill>
        <p:spPr>
          <a:xfrm xmlns:a="http://schemas.openxmlformats.org/drawingml/2006/main">
            <a:off x="6415874" y="1000125"/>
            <a:ext cx="4741877" cy="3238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1A9C21A-9371-4824-BCCA-815C74D88CE3}"/>
              </a:ext>
            </a:extLst>
          </p:cNvPr>
          <p:cNvSpPr>
            <a:spLocks xmlns:a="http://schemas.openxmlformats.org/drawingml/2006/main" noGrp="1"/>
          </p:cNvSpPr>
          <p:nvPr/>
        </p:nvSpPr>
        <p:spPr>
          <a:xfrm xmlns:a="http://schemas.openxmlformats.org/drawingml/2006/main">
            <a:off x="1666875" y="4305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MetDNA（2019）</a:t>
            </a:r>
          </a:p>
        </p:txBody>
      </p:sp>
      <p:sp>
        <p:nvSpPr>
          <p:cNvPr id="14" name="">
            <a:extLst xmlns:a="http://schemas.openxmlformats.org/drawingml/2006/main">
              <a:ext uri="{FF2B5EF4-FFF2-40B4-BE49-F238E27FC236}">
                <a16:creationId xmlns:a16="http://schemas.microsoft.com/office/drawing/2014/main" id="{760AAE0C-4A5B-40C8-B333-C7109EC28CDB}"/>
              </a:ext>
            </a:extLst>
          </p:cNvPr>
          <p:cNvSpPr>
            <a:spLocks xmlns:a="http://schemas.openxmlformats.org/drawingml/2006/main" noGrp="1"/>
          </p:cNvSpPr>
          <p:nvPr/>
        </p:nvSpPr>
        <p:spPr>
          <a:xfrm xmlns:a="http://schemas.openxmlformats.org/drawingml/2006/main">
            <a:off x="904875" y="471487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从高置信种子出发，沿反应配对邻居递归扩展候选。</a:t>
            </a:r>
          </a:p>
        </p:txBody>
      </p:sp>
      <p:sp>
        <p:nvSpPr>
          <p:cNvPr id="15" name="">
            <a:extLst xmlns:a="http://schemas.openxmlformats.org/drawingml/2006/main">
              <a:ext uri="{FF2B5EF4-FFF2-40B4-BE49-F238E27FC236}">
                <a16:creationId xmlns:a16="http://schemas.microsoft.com/office/drawing/2014/main" id="{2260EB8A-DC77-4266-8D77-8E59B75A7128}"/>
              </a:ext>
            </a:extLst>
          </p:cNvPr>
          <p:cNvSpPr>
            <a:spLocks xmlns:a="http://schemas.openxmlformats.org/drawingml/2006/main" noGrp="1"/>
          </p:cNvSpPr>
          <p:nvPr/>
        </p:nvSpPr>
        <p:spPr>
          <a:xfrm xmlns:a="http://schemas.openxmlformats.org/drawingml/2006/main">
            <a:off x="7429500" y="4305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KGMN（2022）</a:t>
            </a:r>
          </a:p>
        </p:txBody>
      </p:sp>
      <p:sp>
        <p:nvSpPr>
          <p:cNvPr id="16" name="">
            <a:extLst xmlns:a="http://schemas.openxmlformats.org/drawingml/2006/main">
              <a:ext uri="{FF2B5EF4-FFF2-40B4-BE49-F238E27FC236}">
                <a16:creationId xmlns:a16="http://schemas.microsoft.com/office/drawing/2014/main" id="{0D25598F-EE6B-47A0-B5B2-C0916523FC9C}"/>
              </a:ext>
            </a:extLst>
          </p:cNvPr>
          <p:cNvSpPr>
            <a:spLocks xmlns:a="http://schemas.openxmlformats.org/drawingml/2006/main" noGrp="1"/>
          </p:cNvSpPr>
          <p:nvPr/>
        </p:nvSpPr>
        <p:spPr>
          <a:xfrm xmlns:a="http://schemas.openxmlformats.org/drawingml/2006/main">
            <a:off x="6667500" y="471487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联合反应网络、MS/MS 相似网络和全局峰相关网络。</a:t>
            </a:r>
          </a:p>
        </p:txBody>
      </p:sp>
      <p:sp>
        <p:nvSpPr>
          <p:cNvPr id="17" name="">
            <a:extLst xmlns:a="http://schemas.openxmlformats.org/drawingml/2006/main">
              <a:ext uri="{FF2B5EF4-FFF2-40B4-BE49-F238E27FC236}">
                <a16:creationId xmlns:a16="http://schemas.microsoft.com/office/drawing/2014/main" id="{4E8087F1-7A2B-4122-924A-C72884DB6D3B}"/>
              </a:ext>
            </a:extLst>
          </p:cNvPr>
          <p:cNvSpPr>
            <a:spLocks xmlns:a="http://schemas.openxmlformats.org/drawingml/2006/main" noGrp="1"/>
          </p:cNvSpPr>
          <p:nvPr/>
        </p:nvSpPr>
        <p:spPr>
          <a:xfrm xmlns:a="http://schemas.openxmlformats.org/drawingml/2006/main">
            <a:off x="1143000" y="5381625"/>
            <a:ext cx="9906000" cy="6858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18" name="">
            <a:extLst xmlns:a="http://schemas.openxmlformats.org/drawingml/2006/main">
              <a:ext uri="{FF2B5EF4-FFF2-40B4-BE49-F238E27FC236}">
                <a16:creationId xmlns:a16="http://schemas.microsoft.com/office/drawing/2014/main" id="{BF5923DC-2AC5-4BDF-9F51-5D5E80EDAB86}"/>
              </a:ext>
            </a:extLst>
          </p:cNvPr>
          <p:cNvSpPr>
            <a:spLocks xmlns:a="http://schemas.openxmlformats.org/drawingml/2006/main" noGrp="1"/>
          </p:cNvSpPr>
          <p:nvPr/>
        </p:nvSpPr>
        <p:spPr>
          <a:xfrm xmlns:a="http://schemas.openxmlformats.org/drawingml/2006/main">
            <a:off x="1428750" y="54864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023"/>
          </a:bodyPr>
          <a:lstStyle xmlns:a="http://schemas.openxmlformats.org/drawingml/2006/main"/>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共同启发：候选结构是否合理，不只由这一张谱图决定；</a:t>
            </a:r>
          </a:p>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它还应当与样本中已经出现的高置信代谢物、一步反应关系和共现证据相容。</a:t>
            </a:r>
          </a:p>
        </p:txBody>
      </p:sp>
    </p:spTree>
    <p:extLst>
      <p:ext uri="{BB962C8B-B14F-4D97-AF65-F5344CB8AC3E}">
        <p14:creationId xmlns:p14="http://schemas.microsoft.com/office/powerpoint/2010/main" val="4815847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4FA345D-153C-4801-909E-CA5554A0AD3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5998E5-0856-4BEF-AB8A-E20580C7CC74}"/>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956C31-35BA-4607-B40B-749D894C6EB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0E8F24-5A45-43D2-9103-DE524029004A}"/>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DF9046-8B60-4D5A-88A7-3A22EFF14E03}"/>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生物网络重排：把“候选是否符合当前样本”转化为可计算分数</a:t>
            </a:r>
          </a:p>
        </p:txBody>
      </p:sp>
      <p:sp>
        <p:nvSpPr>
          <p:cNvPr id="6" name="">
            <a:extLst xmlns:a="http://schemas.openxmlformats.org/drawingml/2006/main">
              <a:ext uri="{FF2B5EF4-FFF2-40B4-BE49-F238E27FC236}">
                <a16:creationId xmlns:a16="http://schemas.microsoft.com/office/drawing/2014/main" id="{CFD82E00-A87A-4280-8DB3-FB2FFCD59CBC}"/>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F9EC28-CE48-4FAF-917F-3754BB7B6048}"/>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0DAC94-6428-47E9-BBE7-78983EB2340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08BD74-1E9E-4766-8BF4-D2409575BB99}"/>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28E0FF5B-6B33-4456-9565-460BB85825A7}"/>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360BBF85-5674-4159-878D-2B82C4631ADA}"/>
              </a:ext>
            </a:extLst>
          </p:cNvPr>
          <p:cNvSpPr>
            <a:spLocks xmlns:a="http://schemas.openxmlformats.org/drawingml/2006/main" noGrp="1"/>
          </p:cNvSpPr>
          <p:nvPr/>
        </p:nvSpPr>
        <p:spPr>
          <a:xfrm xmlns:a="http://schemas.openxmlformats.org/drawingml/2006/main">
            <a:off x="1524000" y="2000250"/>
            <a:ext cx="1428750" cy="628650"/>
          </a:xfrm>
          <a:prstGeom xmlns:a="http://schemas.openxmlformats.org/drawingml/2006/main" prst="ellipse">
            <a:avLst/>
          </a:prstGeom>
          <a:solidFill xmlns:a="http://schemas.openxmlformats.org/drawingml/2006/main">
            <a:srgbClr val="EEE4F0"/>
          </a:solidFill>
          <a:ln xmlns:a="http://schemas.openxmlformats.org/drawingml/2006/main" w="19050">
            <a:solidFill>
              <a:srgbClr val="7A1F86"/>
            </a:solidFill>
            <a:prstDash val="solid"/>
          </a:ln>
        </p:spPr>
      </p:sp>
      <p:sp>
        <p:nvSpPr>
          <p:cNvPr id="12" name="">
            <a:extLst xmlns:a="http://schemas.openxmlformats.org/drawingml/2006/main">
              <a:ext uri="{FF2B5EF4-FFF2-40B4-BE49-F238E27FC236}">
                <a16:creationId xmlns:a16="http://schemas.microsoft.com/office/drawing/2014/main" id="{DB12A67A-7CCE-4B51-A6BC-4B366185FD25}"/>
              </a:ext>
            </a:extLst>
          </p:cNvPr>
          <p:cNvSpPr>
            <a:spLocks xmlns:a="http://schemas.openxmlformats.org/drawingml/2006/main" noGrp="1"/>
          </p:cNvSpPr>
          <p:nvPr/>
        </p:nvSpPr>
        <p:spPr>
          <a:xfrm xmlns:a="http://schemas.openxmlformats.org/drawingml/2006/main">
            <a:off x="1600200" y="2162175"/>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06"/>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高置信种子 A</a:t>
            </a:r>
          </a:p>
        </p:txBody>
      </p:sp>
      <p:sp>
        <p:nvSpPr>
          <p:cNvPr id="13" name="">
            <a:extLst xmlns:a="http://schemas.openxmlformats.org/drawingml/2006/main">
              <a:ext uri="{FF2B5EF4-FFF2-40B4-BE49-F238E27FC236}">
                <a16:creationId xmlns:a16="http://schemas.microsoft.com/office/drawing/2014/main" id="{83E10829-4436-4913-AA89-4849F0367F19}"/>
              </a:ext>
            </a:extLst>
          </p:cNvPr>
          <p:cNvSpPr>
            <a:spLocks xmlns:a="http://schemas.openxmlformats.org/drawingml/2006/main" noGrp="1"/>
          </p:cNvSpPr>
          <p:nvPr/>
        </p:nvSpPr>
        <p:spPr>
          <a:xfrm xmlns:a="http://schemas.openxmlformats.org/drawingml/2006/main">
            <a:off x="1524000" y="3714750"/>
            <a:ext cx="1428750" cy="628650"/>
          </a:xfrm>
          <a:prstGeom xmlns:a="http://schemas.openxmlformats.org/drawingml/2006/main" prst="ellipse">
            <a:avLst/>
          </a:prstGeom>
          <a:solidFill xmlns:a="http://schemas.openxmlformats.org/drawingml/2006/main">
            <a:srgbClr val="EEE4F0"/>
          </a:solidFill>
          <a:ln xmlns:a="http://schemas.openxmlformats.org/drawingml/2006/main" w="19050">
            <a:solidFill>
              <a:srgbClr val="7A1F86"/>
            </a:solidFill>
            <a:prstDash val="solid"/>
          </a:ln>
        </p:spPr>
      </p:sp>
      <p:sp>
        <p:nvSpPr>
          <p:cNvPr id="14" name="">
            <a:extLst xmlns:a="http://schemas.openxmlformats.org/drawingml/2006/main">
              <a:ext uri="{FF2B5EF4-FFF2-40B4-BE49-F238E27FC236}">
                <a16:creationId xmlns:a16="http://schemas.microsoft.com/office/drawing/2014/main" id="{F9B4F1DD-5568-4397-BCD2-E11FA7AAD64A}"/>
              </a:ext>
            </a:extLst>
          </p:cNvPr>
          <p:cNvSpPr>
            <a:spLocks xmlns:a="http://schemas.openxmlformats.org/drawingml/2006/main" noGrp="1"/>
          </p:cNvSpPr>
          <p:nvPr/>
        </p:nvSpPr>
        <p:spPr>
          <a:xfrm xmlns:a="http://schemas.openxmlformats.org/drawingml/2006/main">
            <a:off x="1600200" y="3876675"/>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06"/>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高置信种子 B</a:t>
            </a:r>
          </a:p>
        </p:txBody>
      </p:sp>
      <p:sp>
        <p:nvSpPr>
          <p:cNvPr id="15" name="">
            <a:extLst xmlns:a="http://schemas.openxmlformats.org/drawingml/2006/main">
              <a:ext uri="{FF2B5EF4-FFF2-40B4-BE49-F238E27FC236}">
                <a16:creationId xmlns:a16="http://schemas.microsoft.com/office/drawing/2014/main" id="{B18B0FE8-7B72-4050-87B7-19A76E78B192}"/>
              </a:ext>
            </a:extLst>
          </p:cNvPr>
          <p:cNvSpPr>
            <a:spLocks xmlns:a="http://schemas.openxmlformats.org/drawingml/2006/main" noGrp="1"/>
          </p:cNvSpPr>
          <p:nvPr/>
        </p:nvSpPr>
        <p:spPr>
          <a:xfrm xmlns:a="http://schemas.openxmlformats.org/drawingml/2006/main">
            <a:off x="4810125" y="1428750"/>
            <a:ext cx="1428750" cy="628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A1F86"/>
            </a:solidFill>
            <a:prstDash val="solid"/>
          </a:ln>
        </p:spPr>
      </p:sp>
      <p:sp>
        <p:nvSpPr>
          <p:cNvPr id="16" name="">
            <a:extLst xmlns:a="http://schemas.openxmlformats.org/drawingml/2006/main">
              <a:ext uri="{FF2B5EF4-FFF2-40B4-BE49-F238E27FC236}">
                <a16:creationId xmlns:a16="http://schemas.microsoft.com/office/drawing/2014/main" id="{D83F3847-93FF-460C-BD6B-951E824CAD8C}"/>
              </a:ext>
            </a:extLst>
          </p:cNvPr>
          <p:cNvSpPr>
            <a:spLocks xmlns:a="http://schemas.openxmlformats.org/drawingml/2006/main" noGrp="1"/>
          </p:cNvSpPr>
          <p:nvPr/>
        </p:nvSpPr>
        <p:spPr>
          <a:xfrm xmlns:a="http://schemas.openxmlformats.org/drawingml/2006/main">
            <a:off x="4886325" y="1590675"/>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06"/>
          </a:bodyPr>
          <a:lstStyle xmlns:a="http://schemas.openxmlformats.org/drawingml/2006/main"/>
          <a:p xmlns:a="http://schemas.openxmlformats.org/drawingml/2006/main">
            <a:pPr algn="ctr">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候选 1</a:t>
            </a:r>
          </a:p>
        </p:txBody>
      </p:sp>
      <p:sp>
        <p:nvSpPr>
          <p:cNvPr id="17" name="">
            <a:extLst xmlns:a="http://schemas.openxmlformats.org/drawingml/2006/main">
              <a:ext uri="{FF2B5EF4-FFF2-40B4-BE49-F238E27FC236}">
                <a16:creationId xmlns:a16="http://schemas.microsoft.com/office/drawing/2014/main" id="{8DAB9140-3E19-4958-9E8D-5228A635912D}"/>
              </a:ext>
            </a:extLst>
          </p:cNvPr>
          <p:cNvSpPr>
            <a:spLocks xmlns:a="http://schemas.openxmlformats.org/drawingml/2006/main" noGrp="1"/>
          </p:cNvSpPr>
          <p:nvPr/>
        </p:nvSpPr>
        <p:spPr>
          <a:xfrm xmlns:a="http://schemas.openxmlformats.org/drawingml/2006/main">
            <a:off x="4810125" y="2857500"/>
            <a:ext cx="1428750" cy="628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A1F86"/>
            </a:solidFill>
            <a:prstDash val="solid"/>
          </a:ln>
        </p:spPr>
      </p:sp>
      <p:sp>
        <p:nvSpPr>
          <p:cNvPr id="18" name="">
            <a:extLst xmlns:a="http://schemas.openxmlformats.org/drawingml/2006/main">
              <a:ext uri="{FF2B5EF4-FFF2-40B4-BE49-F238E27FC236}">
                <a16:creationId xmlns:a16="http://schemas.microsoft.com/office/drawing/2014/main" id="{3925B0C4-355A-4C5B-B6A7-FAC03A261476}"/>
              </a:ext>
            </a:extLst>
          </p:cNvPr>
          <p:cNvSpPr>
            <a:spLocks xmlns:a="http://schemas.openxmlformats.org/drawingml/2006/main" noGrp="1"/>
          </p:cNvSpPr>
          <p:nvPr/>
        </p:nvSpPr>
        <p:spPr>
          <a:xfrm xmlns:a="http://schemas.openxmlformats.org/drawingml/2006/main">
            <a:off x="4886325" y="3019425"/>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06"/>
          </a:bodyPr>
          <a:lstStyle xmlns:a="http://schemas.openxmlformats.org/drawingml/2006/main"/>
          <a:p xmlns:a="http://schemas.openxmlformats.org/drawingml/2006/main">
            <a:pPr algn="ctr">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候选 2</a:t>
            </a:r>
          </a:p>
        </p:txBody>
      </p:sp>
      <p:sp>
        <p:nvSpPr>
          <p:cNvPr id="19" name="">
            <a:extLst xmlns:a="http://schemas.openxmlformats.org/drawingml/2006/main">
              <a:ext uri="{FF2B5EF4-FFF2-40B4-BE49-F238E27FC236}">
                <a16:creationId xmlns:a16="http://schemas.microsoft.com/office/drawing/2014/main" id="{07BDFD80-3B5D-4B96-9C93-DAF53B1E40CC}"/>
              </a:ext>
            </a:extLst>
          </p:cNvPr>
          <p:cNvSpPr>
            <a:spLocks xmlns:a="http://schemas.openxmlformats.org/drawingml/2006/main" noGrp="1"/>
          </p:cNvSpPr>
          <p:nvPr/>
        </p:nvSpPr>
        <p:spPr>
          <a:xfrm xmlns:a="http://schemas.openxmlformats.org/drawingml/2006/main">
            <a:off x="4810125" y="4286250"/>
            <a:ext cx="1428750" cy="628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A1F86"/>
            </a:solidFill>
            <a:prstDash val="solid"/>
          </a:ln>
        </p:spPr>
      </p:sp>
      <p:sp>
        <p:nvSpPr>
          <p:cNvPr id="20" name="">
            <a:extLst xmlns:a="http://schemas.openxmlformats.org/drawingml/2006/main">
              <a:ext uri="{FF2B5EF4-FFF2-40B4-BE49-F238E27FC236}">
                <a16:creationId xmlns:a16="http://schemas.microsoft.com/office/drawing/2014/main" id="{E25930D9-B152-487B-80BA-1564AC5CFFF3}"/>
              </a:ext>
            </a:extLst>
          </p:cNvPr>
          <p:cNvSpPr>
            <a:spLocks xmlns:a="http://schemas.openxmlformats.org/drawingml/2006/main" noGrp="1"/>
          </p:cNvSpPr>
          <p:nvPr/>
        </p:nvSpPr>
        <p:spPr>
          <a:xfrm xmlns:a="http://schemas.openxmlformats.org/drawingml/2006/main">
            <a:off x="4886325" y="4448175"/>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06"/>
          </a:bodyPr>
          <a:lstStyle xmlns:a="http://schemas.openxmlformats.org/drawingml/2006/main"/>
          <a:p xmlns:a="http://schemas.openxmlformats.org/drawingml/2006/main">
            <a:pPr algn="ctr">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候选 3</a:t>
            </a:r>
          </a:p>
        </p:txBody>
      </p:sp>
      <p:sp>
        <p:nvSpPr>
          <p:cNvPr id="21" name="">
            <a:extLst xmlns:a="http://schemas.openxmlformats.org/drawingml/2006/main">
              <a:ext uri="{FF2B5EF4-FFF2-40B4-BE49-F238E27FC236}">
                <a16:creationId xmlns:a16="http://schemas.microsoft.com/office/drawing/2014/main" id="{9AFB4604-1485-4D7B-92F6-0FD7E5CFF331}"/>
              </a:ext>
            </a:extLst>
          </p:cNvPr>
          <p:cNvSpPr>
            <a:spLocks xmlns:a="http://schemas.openxmlformats.org/drawingml/2006/main" noGrp="1"/>
          </p:cNvSpPr>
          <p:nvPr/>
        </p:nvSpPr>
        <p:spPr>
          <a:xfrm xmlns:a="http://schemas.openxmlformats.org/drawingml/2006/main">
            <a:off x="2952750" y="2305050"/>
            <a:ext cx="904875" cy="285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F520619-CA8F-4A70-A3B3-5FC923CD5998}"/>
              </a:ext>
            </a:extLst>
          </p:cNvPr>
          <p:cNvSpPr>
            <a:spLocks xmlns:a="http://schemas.openxmlformats.org/drawingml/2006/main" noGrp="1"/>
          </p:cNvSpPr>
          <p:nvPr/>
        </p:nvSpPr>
        <p:spPr>
          <a:xfrm xmlns:a="http://schemas.openxmlformats.org/drawingml/2006/main">
            <a:off x="3829050" y="1733550"/>
            <a:ext cx="28575" cy="20288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519707E-80E6-436B-A4F1-34C0E717E1FD}"/>
              </a:ext>
            </a:extLst>
          </p:cNvPr>
          <p:cNvSpPr>
            <a:spLocks xmlns:a="http://schemas.openxmlformats.org/drawingml/2006/main" noGrp="1"/>
          </p:cNvSpPr>
          <p:nvPr/>
        </p:nvSpPr>
        <p:spPr>
          <a:xfrm xmlns:a="http://schemas.openxmlformats.org/drawingml/2006/main">
            <a:off x="3829050" y="1733550"/>
            <a:ext cx="981075" cy="285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76EC173-7999-461D-8673-13EA820342DE}"/>
              </a:ext>
            </a:extLst>
          </p:cNvPr>
          <p:cNvSpPr>
            <a:spLocks xmlns:a="http://schemas.openxmlformats.org/drawingml/2006/main" noGrp="1"/>
          </p:cNvSpPr>
          <p:nvPr/>
        </p:nvSpPr>
        <p:spPr>
          <a:xfrm xmlns:a="http://schemas.openxmlformats.org/drawingml/2006/main">
            <a:off x="3829050" y="3162300"/>
            <a:ext cx="981075" cy="285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337AA-6E4A-42C5-ABAD-F88D789F01D5}"/>
              </a:ext>
            </a:extLst>
          </p:cNvPr>
          <p:cNvSpPr>
            <a:spLocks xmlns:a="http://schemas.openxmlformats.org/drawingml/2006/main" noGrp="1"/>
          </p:cNvSpPr>
          <p:nvPr/>
        </p:nvSpPr>
        <p:spPr>
          <a:xfrm xmlns:a="http://schemas.openxmlformats.org/drawingml/2006/main">
            <a:off x="2952750" y="4019550"/>
            <a:ext cx="904875" cy="285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5236122-F110-4280-800A-07A12FCAB027}"/>
              </a:ext>
            </a:extLst>
          </p:cNvPr>
          <p:cNvSpPr>
            <a:spLocks xmlns:a="http://schemas.openxmlformats.org/drawingml/2006/main" noGrp="1"/>
          </p:cNvSpPr>
          <p:nvPr/>
        </p:nvSpPr>
        <p:spPr>
          <a:xfrm xmlns:a="http://schemas.openxmlformats.org/drawingml/2006/main">
            <a:off x="3829050" y="4591050"/>
            <a:ext cx="981075" cy="285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16F21A0-4F57-490B-A4C4-EEC35A18BDED}"/>
              </a:ext>
            </a:extLst>
          </p:cNvPr>
          <p:cNvSpPr>
            <a:spLocks xmlns:a="http://schemas.openxmlformats.org/drawingml/2006/main" noGrp="1"/>
          </p:cNvSpPr>
          <p:nvPr/>
        </p:nvSpPr>
        <p:spPr>
          <a:xfrm xmlns:a="http://schemas.openxmlformats.org/drawingml/2006/main">
            <a:off x="1381125" y="11430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Rhea/人工整理的一步反应关系</a:t>
            </a:r>
          </a:p>
        </p:txBody>
      </p:sp>
      <p:sp>
        <p:nvSpPr>
          <p:cNvPr id="28" name="">
            <a:extLst xmlns:a="http://schemas.openxmlformats.org/drawingml/2006/main">
              <a:ext uri="{FF2B5EF4-FFF2-40B4-BE49-F238E27FC236}">
                <a16:creationId xmlns:a16="http://schemas.microsoft.com/office/drawing/2014/main" id="{4E73E233-28FC-4706-BBFB-1D0854B712F9}"/>
              </a:ext>
            </a:extLst>
          </p:cNvPr>
          <p:cNvSpPr>
            <a:spLocks xmlns:a="http://schemas.openxmlformats.org/drawingml/2006/main" noGrp="1"/>
          </p:cNvSpPr>
          <p:nvPr/>
        </p:nvSpPr>
        <p:spPr>
          <a:xfrm xmlns:a="http://schemas.openxmlformats.org/drawingml/2006/main">
            <a:off x="6858000" y="1000125"/>
            <a:ext cx="4619625"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B34E5FA9-D645-450E-9E2A-853A59F8D7C6}"/>
              </a:ext>
            </a:extLst>
          </p:cNvPr>
          <p:cNvSpPr>
            <a:spLocks xmlns:a="http://schemas.openxmlformats.org/drawingml/2006/main" noGrp="1"/>
          </p:cNvSpPr>
          <p:nvPr/>
        </p:nvSpPr>
        <p:spPr>
          <a:xfrm xmlns:a="http://schemas.openxmlformats.org/drawingml/2006/main">
            <a:off x="7096125" y="1238250"/>
            <a:ext cx="414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对每个候选 c 计算上下文得分</a:t>
            </a:r>
          </a:p>
        </p:txBody>
      </p:sp>
      <p:sp>
        <p:nvSpPr>
          <p:cNvPr id="30" name="">
            <a:extLst xmlns:a="http://schemas.openxmlformats.org/drawingml/2006/main">
              <a:ext uri="{FF2B5EF4-FFF2-40B4-BE49-F238E27FC236}">
                <a16:creationId xmlns:a16="http://schemas.microsoft.com/office/drawing/2014/main" id="{BF2BD667-F324-4ACF-A75B-D74A934BA9B9}"/>
              </a:ext>
            </a:extLst>
          </p:cNvPr>
          <p:cNvSpPr>
            <a:spLocks xmlns:a="http://schemas.openxmlformats.org/drawingml/2006/main" noGrp="1"/>
          </p:cNvSpPr>
          <p:nvPr/>
        </p:nvSpPr>
        <p:spPr>
          <a:xfrm xmlns:a="http://schemas.openxmlformats.org/drawingml/2006/main">
            <a:off x="7191375" y="1762125"/>
            <a:ext cx="3952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22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g(c) = Σ  w反应(c,s) · w种子(s) · w证据(c,s)</a:t>
            </a:r>
          </a:p>
        </p:txBody>
      </p:sp>
      <p:sp>
        <p:nvSpPr>
          <p:cNvPr id="31" name="">
            <a:extLst xmlns:a="http://schemas.openxmlformats.org/drawingml/2006/main">
              <a:ext uri="{FF2B5EF4-FFF2-40B4-BE49-F238E27FC236}">
                <a16:creationId xmlns:a16="http://schemas.microsoft.com/office/drawing/2014/main" id="{9C3519EE-E7A1-44C6-921A-3A8B6468623A}"/>
              </a:ext>
            </a:extLst>
          </p:cNvPr>
          <p:cNvSpPr>
            <a:spLocks xmlns:a="http://schemas.openxmlformats.org/drawingml/2006/main" noGrp="1"/>
          </p:cNvSpPr>
          <p:nvPr/>
        </p:nvSpPr>
        <p:spPr>
          <a:xfrm xmlns:a="http://schemas.openxmlformats.org/drawingml/2006/main">
            <a:off x="7239000" y="2428875"/>
            <a:ext cx="3857625"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w反应：是否存在方向合理的一步生化转化</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w种子：邻居代谢物本身的鉴定可信度</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w证据：保留时间、共现、峰相关或谱学支持</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对连接度过高的 hub 代谢物降权，避免“谁都相连”</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没有可靠上下文时保留 DreaMS 原排名</a:t>
            </a:r>
          </a:p>
        </p:txBody>
      </p:sp>
      <p:sp>
        <p:nvSpPr>
          <p:cNvPr id="32" name="">
            <a:extLst xmlns:a="http://schemas.openxmlformats.org/drawingml/2006/main">
              <a:ext uri="{FF2B5EF4-FFF2-40B4-BE49-F238E27FC236}">
                <a16:creationId xmlns:a16="http://schemas.microsoft.com/office/drawing/2014/main" id="{9EBF8502-18FD-49FE-8E59-8E8064C97EBE}"/>
              </a:ext>
            </a:extLst>
          </p:cNvPr>
          <p:cNvSpPr>
            <a:spLocks xmlns:a="http://schemas.openxmlformats.org/drawingml/2006/main" noGrp="1"/>
          </p:cNvSpPr>
          <p:nvPr/>
        </p:nvSpPr>
        <p:spPr>
          <a:xfrm xmlns:a="http://schemas.openxmlformats.org/drawingml/2006/main">
            <a:off x="2000250" y="5286375"/>
            <a:ext cx="8191500" cy="7048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3" name="">
            <a:extLst xmlns:a="http://schemas.openxmlformats.org/drawingml/2006/main">
              <a:ext uri="{FF2B5EF4-FFF2-40B4-BE49-F238E27FC236}">
                <a16:creationId xmlns:a16="http://schemas.microsoft.com/office/drawing/2014/main" id="{45B2CD57-E69A-4966-935F-E49E822FA346}"/>
              </a:ext>
            </a:extLst>
          </p:cNvPr>
          <p:cNvSpPr>
            <a:spLocks xmlns:a="http://schemas.openxmlformats.org/drawingml/2006/main" noGrp="1"/>
          </p:cNvSpPr>
          <p:nvPr/>
        </p:nvSpPr>
        <p:spPr>
          <a:xfrm xmlns:a="http://schemas.openxmlformats.org/drawingml/2006/main">
            <a:off x="2286000" y="5400675"/>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最终分数 S(q,c) = S_DreaMS(q,c) + α · g(c)</a:t>
            </a:r>
          </a:p>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评估采用按数据来源留一：测试来源不参与权重选择。</a:t>
            </a:r>
          </a:p>
        </p:txBody>
      </p:sp>
    </p:spTree>
    <p:extLst>
      <p:ext uri="{BB962C8B-B14F-4D97-AF65-F5344CB8AC3E}">
        <p14:creationId xmlns:p14="http://schemas.microsoft.com/office/powerpoint/2010/main" val="10619106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3F16348-B5FE-42AD-B427-4BF3E6FDA7C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6FB1E4-256C-4A34-8F9A-43A664DCDEFC}"/>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9D109C-9D02-4AE0-992D-090483CFB66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9C75CB-AC7F-4C50-A0F6-D6146EB23FE7}"/>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2A5441-08FD-477D-9BF6-FB93450432B1}"/>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752"/>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生物网络重排：860 条跨来源查询中 Recall@1 提升 5.93 个百分点</a:t>
            </a:r>
          </a:p>
        </p:txBody>
      </p:sp>
      <p:sp>
        <p:nvSpPr>
          <p:cNvPr id="6" name="">
            <a:extLst xmlns:a="http://schemas.openxmlformats.org/drawingml/2006/main">
              <a:ext uri="{FF2B5EF4-FFF2-40B4-BE49-F238E27FC236}">
                <a16:creationId xmlns:a16="http://schemas.microsoft.com/office/drawing/2014/main" id="{17F408BE-122E-443F-AB03-5618A8B42021}"/>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69C4E9-A990-4BCF-A8BC-CF5051BFFFA5}"/>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D8042D-70A3-4E6C-A07E-0EB3BEB83A49}"/>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13EBFA9-E89A-43DE-BE94-07E5743CB80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BB341190-CAA9-463C-A4A6-D25277375D70}"/>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47" name="Chart"/>
          <p:cNvGraphicFramePr/>
          <p:nvPr/>
        </p:nvGraphicFramePr>
        <p:xfrm>
          <a:off xmlns:a="http://schemas.openxmlformats.org/drawingml/2006/main" x="428625" y="1000125"/>
          <a:ext xmlns:a="http://schemas.openxmlformats.org/drawingml/2006/main" cx="5095875" cy="3048000"/>
        </p:xfrm>
        <a:graphic xmlns:a="http://schemas.openxmlformats.org/drawingml/2006/main">
          <a:graphicData uri="http://schemas.openxmlformats.org/drawingml/2006/chart">
            <c:chart xmlns:r="http://schemas.openxmlformats.org/officeDocument/2006/relationships" xmlns:c="http://schemas.openxmlformats.org/drawingml/2006/chart" r:id="R32fe84668c754c22"/>
          </a:graphicData>
        </a:graphic>
      </p:graphicFrame>
      <p:sp>
        <p:nvSpPr>
          <p:cNvPr id="12" name="">
            <a:extLst xmlns:a="http://schemas.openxmlformats.org/drawingml/2006/main">
              <a:ext uri="{FF2B5EF4-FFF2-40B4-BE49-F238E27FC236}">
                <a16:creationId xmlns:a16="http://schemas.microsoft.com/office/drawing/2014/main" id="{8F0DA94E-6439-448E-8461-39227DAFD71B}"/>
              </a:ext>
            </a:extLst>
          </p:cNvPr>
          <p:cNvSpPr>
            <a:spLocks xmlns:a="http://schemas.openxmlformats.org/drawingml/2006/main" noGrp="1"/>
          </p:cNvSpPr>
          <p:nvPr/>
        </p:nvSpPr>
        <p:spPr>
          <a:xfrm xmlns:a="http://schemas.openxmlformats.org/drawingml/2006/main">
            <a:off x="5857875" y="100012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078BA989-57F2-47CC-A697-F40FE176A5F8}"/>
              </a:ext>
            </a:extLst>
          </p:cNvPr>
          <p:cNvSpPr>
            <a:spLocks xmlns:a="http://schemas.openxmlformats.org/drawingml/2006/main" noGrp="1"/>
          </p:cNvSpPr>
          <p:nvPr/>
        </p:nvSpPr>
        <p:spPr>
          <a:xfrm xmlns:a="http://schemas.openxmlformats.org/drawingml/2006/main">
            <a:off x="5953125" y="1085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DreaMS Recall@1</a:t>
            </a:r>
          </a:p>
        </p:txBody>
      </p:sp>
      <p:sp>
        <p:nvSpPr>
          <p:cNvPr id="14" name="">
            <a:extLst xmlns:a="http://schemas.openxmlformats.org/drawingml/2006/main">
              <a:ext uri="{FF2B5EF4-FFF2-40B4-BE49-F238E27FC236}">
                <a16:creationId xmlns:a16="http://schemas.microsoft.com/office/drawing/2014/main" id="{9E2F3CDE-6716-4129-8DAE-138D05D451A8}"/>
              </a:ext>
            </a:extLst>
          </p:cNvPr>
          <p:cNvSpPr>
            <a:spLocks xmlns:a="http://schemas.openxmlformats.org/drawingml/2006/main" noGrp="1"/>
          </p:cNvSpPr>
          <p:nvPr/>
        </p:nvSpPr>
        <p:spPr>
          <a:xfrm xmlns:a="http://schemas.openxmlformats.org/drawingml/2006/main">
            <a:off x="5934075" y="129540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66.05%</a:t>
            </a:r>
          </a:p>
        </p:txBody>
      </p:sp>
      <p:sp>
        <p:nvSpPr>
          <p:cNvPr id="15" name="">
            <a:extLst xmlns:a="http://schemas.openxmlformats.org/drawingml/2006/main">
              <a:ext uri="{FF2B5EF4-FFF2-40B4-BE49-F238E27FC236}">
                <a16:creationId xmlns:a16="http://schemas.microsoft.com/office/drawing/2014/main" id="{8910B809-C84D-461F-BDDD-533B017C035B}"/>
              </a:ext>
            </a:extLst>
          </p:cNvPr>
          <p:cNvSpPr>
            <a:spLocks xmlns:a="http://schemas.openxmlformats.org/drawingml/2006/main" noGrp="1"/>
          </p:cNvSpPr>
          <p:nvPr/>
        </p:nvSpPr>
        <p:spPr>
          <a:xfrm xmlns:a="http://schemas.openxmlformats.org/drawingml/2006/main">
            <a:off x="7667625" y="100012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FF6AD7EB-D698-4FEE-9326-17277D4DF529}"/>
              </a:ext>
            </a:extLst>
          </p:cNvPr>
          <p:cNvSpPr>
            <a:spLocks xmlns:a="http://schemas.openxmlformats.org/drawingml/2006/main" noGrp="1"/>
          </p:cNvSpPr>
          <p:nvPr/>
        </p:nvSpPr>
        <p:spPr>
          <a:xfrm xmlns:a="http://schemas.openxmlformats.org/drawingml/2006/main">
            <a:off x="7762875" y="1085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重排后 Recall@1</a:t>
            </a:r>
          </a:p>
        </p:txBody>
      </p:sp>
      <p:sp>
        <p:nvSpPr>
          <p:cNvPr id="17" name="">
            <a:extLst xmlns:a="http://schemas.openxmlformats.org/drawingml/2006/main">
              <a:ext uri="{FF2B5EF4-FFF2-40B4-BE49-F238E27FC236}">
                <a16:creationId xmlns:a16="http://schemas.microsoft.com/office/drawing/2014/main" id="{185CFB5C-DE2C-4642-9048-C2F8E97F6C77}"/>
              </a:ext>
            </a:extLst>
          </p:cNvPr>
          <p:cNvSpPr>
            <a:spLocks xmlns:a="http://schemas.openxmlformats.org/drawingml/2006/main" noGrp="1"/>
          </p:cNvSpPr>
          <p:nvPr/>
        </p:nvSpPr>
        <p:spPr>
          <a:xfrm xmlns:a="http://schemas.openxmlformats.org/drawingml/2006/main">
            <a:off x="7743825" y="129540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71.98%</a:t>
            </a:r>
          </a:p>
        </p:txBody>
      </p:sp>
      <p:sp>
        <p:nvSpPr>
          <p:cNvPr id="18" name="">
            <a:extLst xmlns:a="http://schemas.openxmlformats.org/drawingml/2006/main">
              <a:ext uri="{FF2B5EF4-FFF2-40B4-BE49-F238E27FC236}">
                <a16:creationId xmlns:a16="http://schemas.microsoft.com/office/drawing/2014/main" id="{6D45A518-411C-4A5E-A366-08095A4E95AC}"/>
              </a:ext>
            </a:extLst>
          </p:cNvPr>
          <p:cNvSpPr>
            <a:spLocks xmlns:a="http://schemas.openxmlformats.org/drawingml/2006/main" noGrp="1"/>
          </p:cNvSpPr>
          <p:nvPr/>
        </p:nvSpPr>
        <p:spPr>
          <a:xfrm xmlns:a="http://schemas.openxmlformats.org/drawingml/2006/main">
            <a:off x="9477375" y="100012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BA1A8B9C-569E-44AC-B258-A20C0771857C}"/>
              </a:ext>
            </a:extLst>
          </p:cNvPr>
          <p:cNvSpPr>
            <a:spLocks xmlns:a="http://schemas.openxmlformats.org/drawingml/2006/main" noGrp="1"/>
          </p:cNvSpPr>
          <p:nvPr/>
        </p:nvSpPr>
        <p:spPr>
          <a:xfrm xmlns:a="http://schemas.openxmlformats.org/drawingml/2006/main">
            <a:off x="9572625" y="1085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提升</a:t>
            </a:r>
          </a:p>
        </p:txBody>
      </p:sp>
      <p:sp>
        <p:nvSpPr>
          <p:cNvPr id="20" name="">
            <a:extLst xmlns:a="http://schemas.openxmlformats.org/drawingml/2006/main">
              <a:ext uri="{FF2B5EF4-FFF2-40B4-BE49-F238E27FC236}">
                <a16:creationId xmlns:a16="http://schemas.microsoft.com/office/drawing/2014/main" id="{2362F2D4-D6B1-4F1D-ABBD-A50756C81359}"/>
              </a:ext>
            </a:extLst>
          </p:cNvPr>
          <p:cNvSpPr>
            <a:spLocks xmlns:a="http://schemas.openxmlformats.org/drawingml/2006/main" noGrp="1"/>
          </p:cNvSpPr>
          <p:nvPr/>
        </p:nvSpPr>
        <p:spPr>
          <a:xfrm xmlns:a="http://schemas.openxmlformats.org/drawingml/2006/main">
            <a:off x="9553575" y="129540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+5.93 pp</a:t>
            </a:r>
          </a:p>
        </p:txBody>
      </p:sp>
      <p:sp>
        <p:nvSpPr>
          <p:cNvPr id="21" name="">
            <a:extLst xmlns:a="http://schemas.openxmlformats.org/drawingml/2006/main">
              <a:ext uri="{FF2B5EF4-FFF2-40B4-BE49-F238E27FC236}">
                <a16:creationId xmlns:a16="http://schemas.microsoft.com/office/drawing/2014/main" id="{2CCC1FCC-2FDB-466E-8270-436C944F4A33}"/>
              </a:ext>
            </a:extLst>
          </p:cNvPr>
          <p:cNvSpPr>
            <a:spLocks xmlns:a="http://schemas.openxmlformats.org/drawingml/2006/main" noGrp="1"/>
          </p:cNvSpPr>
          <p:nvPr/>
        </p:nvSpPr>
        <p:spPr>
          <a:xfrm xmlns:a="http://schemas.openxmlformats.org/drawingml/2006/main">
            <a:off x="5857875" y="2047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0AE4641C-626C-4CDE-8DCE-7E438EB1BCFE}"/>
              </a:ext>
            </a:extLst>
          </p:cNvPr>
          <p:cNvSpPr>
            <a:spLocks xmlns:a="http://schemas.openxmlformats.org/drawingml/2006/main" noGrp="1"/>
          </p:cNvSpPr>
          <p:nvPr/>
        </p:nvSpPr>
        <p:spPr>
          <a:xfrm xmlns:a="http://schemas.openxmlformats.org/drawingml/2006/main">
            <a:off x="5953125" y="2133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查询数</a:t>
            </a:r>
          </a:p>
        </p:txBody>
      </p:sp>
      <p:sp>
        <p:nvSpPr>
          <p:cNvPr id="23" name="">
            <a:extLst xmlns:a="http://schemas.openxmlformats.org/drawingml/2006/main">
              <a:ext uri="{FF2B5EF4-FFF2-40B4-BE49-F238E27FC236}">
                <a16:creationId xmlns:a16="http://schemas.microsoft.com/office/drawing/2014/main" id="{BECBE598-E740-4E2B-ACDE-1A63442790B8}"/>
              </a:ext>
            </a:extLst>
          </p:cNvPr>
          <p:cNvSpPr>
            <a:spLocks xmlns:a="http://schemas.openxmlformats.org/drawingml/2006/main" noGrp="1"/>
          </p:cNvSpPr>
          <p:nvPr/>
        </p:nvSpPr>
        <p:spPr>
          <a:xfrm xmlns:a="http://schemas.openxmlformats.org/drawingml/2006/main">
            <a:off x="5934075" y="234315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860</a:t>
            </a:r>
          </a:p>
        </p:txBody>
      </p:sp>
      <p:sp>
        <p:nvSpPr>
          <p:cNvPr id="24" name="">
            <a:extLst xmlns:a="http://schemas.openxmlformats.org/drawingml/2006/main">
              <a:ext uri="{FF2B5EF4-FFF2-40B4-BE49-F238E27FC236}">
                <a16:creationId xmlns:a16="http://schemas.microsoft.com/office/drawing/2014/main" id="{7160D065-C9A7-437F-AC4F-0D2181317096}"/>
              </a:ext>
            </a:extLst>
          </p:cNvPr>
          <p:cNvSpPr>
            <a:spLocks xmlns:a="http://schemas.openxmlformats.org/drawingml/2006/main" noGrp="1"/>
          </p:cNvSpPr>
          <p:nvPr/>
        </p:nvSpPr>
        <p:spPr>
          <a:xfrm xmlns:a="http://schemas.openxmlformats.org/drawingml/2006/main">
            <a:off x="7667625" y="2047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5" name="">
            <a:extLst xmlns:a="http://schemas.openxmlformats.org/drawingml/2006/main">
              <a:ext uri="{FF2B5EF4-FFF2-40B4-BE49-F238E27FC236}">
                <a16:creationId xmlns:a16="http://schemas.microsoft.com/office/drawing/2014/main" id="{9F500E51-8853-46DD-8C90-E1259BEED27E}"/>
              </a:ext>
            </a:extLst>
          </p:cNvPr>
          <p:cNvSpPr>
            <a:spLocks xmlns:a="http://schemas.openxmlformats.org/drawingml/2006/main" noGrp="1"/>
          </p:cNvSpPr>
          <p:nvPr/>
        </p:nvSpPr>
        <p:spPr>
          <a:xfrm xmlns:a="http://schemas.openxmlformats.org/drawingml/2006/main">
            <a:off x="7762875" y="2133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纠正</a:t>
            </a:r>
          </a:p>
        </p:txBody>
      </p:sp>
      <p:sp>
        <p:nvSpPr>
          <p:cNvPr id="26" name="">
            <a:extLst xmlns:a="http://schemas.openxmlformats.org/drawingml/2006/main">
              <a:ext uri="{FF2B5EF4-FFF2-40B4-BE49-F238E27FC236}">
                <a16:creationId xmlns:a16="http://schemas.microsoft.com/office/drawing/2014/main" id="{D8A30BF9-D39D-4F60-A7FA-4B80814FC892}"/>
              </a:ext>
            </a:extLst>
          </p:cNvPr>
          <p:cNvSpPr>
            <a:spLocks xmlns:a="http://schemas.openxmlformats.org/drawingml/2006/main" noGrp="1"/>
          </p:cNvSpPr>
          <p:nvPr/>
        </p:nvSpPr>
        <p:spPr>
          <a:xfrm xmlns:a="http://schemas.openxmlformats.org/drawingml/2006/main">
            <a:off x="7743825" y="234315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54</a:t>
            </a:r>
          </a:p>
        </p:txBody>
      </p:sp>
      <p:sp>
        <p:nvSpPr>
          <p:cNvPr id="27" name="">
            <a:extLst xmlns:a="http://schemas.openxmlformats.org/drawingml/2006/main">
              <a:ext uri="{FF2B5EF4-FFF2-40B4-BE49-F238E27FC236}">
                <a16:creationId xmlns:a16="http://schemas.microsoft.com/office/drawing/2014/main" id="{9B12E463-1E75-4DC6-BFC4-C9F7F1C4E8B9}"/>
              </a:ext>
            </a:extLst>
          </p:cNvPr>
          <p:cNvSpPr>
            <a:spLocks xmlns:a="http://schemas.openxmlformats.org/drawingml/2006/main" noGrp="1"/>
          </p:cNvSpPr>
          <p:nvPr/>
        </p:nvSpPr>
        <p:spPr>
          <a:xfrm xmlns:a="http://schemas.openxmlformats.org/drawingml/2006/main">
            <a:off x="9477375" y="2047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8" name="">
            <a:extLst xmlns:a="http://schemas.openxmlformats.org/drawingml/2006/main">
              <a:ext uri="{FF2B5EF4-FFF2-40B4-BE49-F238E27FC236}">
                <a16:creationId xmlns:a16="http://schemas.microsoft.com/office/drawing/2014/main" id="{72387B28-23B9-4C5A-AD90-6B0DEA36D3DB}"/>
              </a:ext>
            </a:extLst>
          </p:cNvPr>
          <p:cNvSpPr>
            <a:spLocks xmlns:a="http://schemas.openxmlformats.org/drawingml/2006/main" noGrp="1"/>
          </p:cNvSpPr>
          <p:nvPr/>
        </p:nvSpPr>
        <p:spPr>
          <a:xfrm xmlns:a="http://schemas.openxmlformats.org/drawingml/2006/main">
            <a:off x="9572625" y="2133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新引入错误</a:t>
            </a:r>
          </a:p>
        </p:txBody>
      </p:sp>
      <p:sp>
        <p:nvSpPr>
          <p:cNvPr id="29" name="">
            <a:extLst xmlns:a="http://schemas.openxmlformats.org/drawingml/2006/main">
              <a:ext uri="{FF2B5EF4-FFF2-40B4-BE49-F238E27FC236}">
                <a16:creationId xmlns:a16="http://schemas.microsoft.com/office/drawing/2014/main" id="{D72C9BA4-AF89-4D31-A129-BC50B3726244}"/>
              </a:ext>
            </a:extLst>
          </p:cNvPr>
          <p:cNvSpPr>
            <a:spLocks xmlns:a="http://schemas.openxmlformats.org/drawingml/2006/main" noGrp="1"/>
          </p:cNvSpPr>
          <p:nvPr/>
        </p:nvSpPr>
        <p:spPr>
          <a:xfrm xmlns:a="http://schemas.openxmlformats.org/drawingml/2006/main">
            <a:off x="9553575" y="2343150"/>
            <a:ext cx="1466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3</a:t>
            </a:r>
          </a:p>
        </p:txBody>
      </p:sp>
      <p:sp>
        <p:nvSpPr>
          <p:cNvPr id="30" name="">
            <a:extLst xmlns:a="http://schemas.openxmlformats.org/drawingml/2006/main">
              <a:ext uri="{FF2B5EF4-FFF2-40B4-BE49-F238E27FC236}">
                <a16:creationId xmlns:a16="http://schemas.microsoft.com/office/drawing/2014/main" id="{21A3D4ED-B81F-4057-804D-6653FB62D05F}"/>
              </a:ext>
            </a:extLst>
          </p:cNvPr>
          <p:cNvSpPr>
            <a:spLocks xmlns:a="http://schemas.openxmlformats.org/drawingml/2006/main" noGrp="1"/>
          </p:cNvSpPr>
          <p:nvPr/>
        </p:nvSpPr>
        <p:spPr>
          <a:xfrm xmlns:a="http://schemas.openxmlformats.org/drawingml/2006/main">
            <a:off x="5715000" y="3143250"/>
            <a:ext cx="5572125" cy="25241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1" name="">
            <a:extLst xmlns:a="http://schemas.openxmlformats.org/drawingml/2006/main">
              <a:ext uri="{FF2B5EF4-FFF2-40B4-BE49-F238E27FC236}">
                <a16:creationId xmlns:a16="http://schemas.microsoft.com/office/drawing/2014/main" id="{77FAD832-D1E4-4F9F-B2E2-0C3482BBD156}"/>
              </a:ext>
            </a:extLst>
          </p:cNvPr>
          <p:cNvSpPr>
            <a:spLocks xmlns:a="http://schemas.openxmlformats.org/drawingml/2006/main" noGrp="1"/>
          </p:cNvSpPr>
          <p:nvPr/>
        </p:nvSpPr>
        <p:spPr>
          <a:xfrm xmlns:a="http://schemas.openxmlformats.org/drawingml/2006/main">
            <a:off x="5905500" y="3314700"/>
            <a:ext cx="519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真实纠错：BV2 HILIC，分子式 C5H4N4O2</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0e407ae3dff94f30"/>
          <a:stretch xmlns:a="http://schemas.openxmlformats.org/drawingml/2006/main"/>
        </p:blipFill>
        <p:spPr>
          <a:xfrm xmlns:a="http://schemas.openxmlformats.org/drawingml/2006/main">
            <a:off x="6334125" y="3810000"/>
            <a:ext cx="1238250" cy="1238250"/>
          </a:xfrm>
          <a:prstGeom xmlns:a="http://schemas.openxmlformats.org/drawingml/2006/main" prst="rect">
            <a:avLst/>
          </a:prstGeom>
        </p:spPr>
      </p:pic>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2b2bd0adacbe4fba"/>
          <a:stretch xmlns:a="http://schemas.openxmlformats.org/drawingml/2006/main"/>
        </p:blipFill>
        <p:spPr>
          <a:xfrm xmlns:a="http://schemas.openxmlformats.org/drawingml/2006/main">
            <a:off x="9286875" y="3810000"/>
            <a:ext cx="1238250" cy="12382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A4A8E755-F6E4-4355-8804-19E131D4F2E6}"/>
              </a:ext>
            </a:extLst>
          </p:cNvPr>
          <p:cNvSpPr>
            <a:spLocks xmlns:a="http://schemas.openxmlformats.org/drawingml/2006/main" noGrp="1"/>
          </p:cNvSpPr>
          <p:nvPr/>
        </p:nvSpPr>
        <p:spPr>
          <a:xfrm xmlns:a="http://schemas.openxmlformats.org/drawingml/2006/main">
            <a:off x="6000750" y="50482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43"/>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Xanthine（真实）</a:t>
            </a:r>
          </a:p>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反应邻居支持后升至 Top-1</a:t>
            </a:r>
          </a:p>
        </p:txBody>
      </p:sp>
      <p:sp>
        <p:nvSpPr>
          <p:cNvPr id="35" name="">
            <a:extLst xmlns:a="http://schemas.openxmlformats.org/drawingml/2006/main">
              <a:ext uri="{FF2B5EF4-FFF2-40B4-BE49-F238E27FC236}">
                <a16:creationId xmlns:a16="http://schemas.microsoft.com/office/drawing/2014/main" id="{AADF9CD0-55AC-4683-81A7-87236A48D9F1}"/>
              </a:ext>
            </a:extLst>
          </p:cNvPr>
          <p:cNvSpPr>
            <a:spLocks xmlns:a="http://schemas.openxmlformats.org/drawingml/2006/main" noGrp="1"/>
          </p:cNvSpPr>
          <p:nvPr/>
        </p:nvSpPr>
        <p:spPr>
          <a:xfrm xmlns:a="http://schemas.openxmlformats.org/drawingml/2006/main">
            <a:off x="8858250" y="50482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Oxypurinol（原 Top-1）</a:t>
            </a:r>
          </a:p>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谱图相近但样本上下文较弱</a:t>
            </a:r>
          </a:p>
        </p:txBody>
      </p:sp>
      <p:sp>
        <p:nvSpPr>
          <p:cNvPr id="36" name="">
            <a:extLst xmlns:a="http://schemas.openxmlformats.org/drawingml/2006/main">
              <a:ext uri="{FF2B5EF4-FFF2-40B4-BE49-F238E27FC236}">
                <a16:creationId xmlns:a16="http://schemas.microsoft.com/office/drawing/2014/main" id="{E7153A2E-BA45-404D-B96B-136D7867094F}"/>
              </a:ext>
            </a:extLst>
          </p:cNvPr>
          <p:cNvSpPr>
            <a:spLocks xmlns:a="http://schemas.openxmlformats.org/drawingml/2006/main" noGrp="1"/>
          </p:cNvSpPr>
          <p:nvPr/>
        </p:nvSpPr>
        <p:spPr>
          <a:xfrm xmlns:a="http://schemas.openxmlformats.org/drawingml/2006/main">
            <a:off x="1238250" y="581025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六个来源方向一致：生物上下文不是替代谱图，而是在谱图难分时提供正交证据。</a:t>
            </a:r>
          </a:p>
        </p:txBody>
      </p:sp>
    </p:spTree>
    <p:extLst>
      <p:ext uri="{BB962C8B-B14F-4D97-AF65-F5344CB8AC3E}">
        <p14:creationId xmlns:p14="http://schemas.microsoft.com/office/powerpoint/2010/main" val="9349220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D05643-C023-471B-B4E1-11203FCFC247}"/>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2C90E2-5578-43ED-BFA4-04E054D78479}"/>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5C2BB0-A3F7-4B0D-B1AF-3691ACB33F5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1831BA-EB2D-4A9B-8695-D3FD776904BE}"/>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9580F0-A684-4907-9CBC-02EAD9972BD4}"/>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DreaMS ChemAware Workbench：从实验谱图到可追溯候选</a:t>
            </a:r>
          </a:p>
        </p:txBody>
      </p:sp>
      <p:sp>
        <p:nvSpPr>
          <p:cNvPr id="6" name="">
            <a:extLst xmlns:a="http://schemas.openxmlformats.org/drawingml/2006/main">
              <a:ext uri="{FF2B5EF4-FFF2-40B4-BE49-F238E27FC236}">
                <a16:creationId xmlns:a16="http://schemas.microsoft.com/office/drawing/2014/main" id="{221A4583-5A2F-4EFF-85CC-9FBFE915C35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68E01BD-C215-4C47-87D2-4D004C2F2500}"/>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3FEB7C-5161-4DC3-A9B4-429E5800CF55}"/>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826D2E-C0FA-4801-B945-39D9B1F7795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平台与真实数据应用</a:t>
            </a:r>
          </a:p>
        </p:txBody>
      </p:sp>
      <p:sp>
        <p:nvSpPr>
          <p:cNvPr id="10" name="">
            <a:extLst xmlns:a="http://schemas.openxmlformats.org/drawingml/2006/main">
              <a:ext uri="{FF2B5EF4-FFF2-40B4-BE49-F238E27FC236}">
                <a16:creationId xmlns:a16="http://schemas.microsoft.com/office/drawing/2014/main" id="{34FD09B5-DF8A-4E29-9DA8-4E66C5FD24A3}"/>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F236ABDA-CD51-4C66-8807-907AF4BE037B}"/>
              </a:ext>
            </a:extLst>
          </p:cNvPr>
          <p:cNvSpPr>
            <a:spLocks xmlns:a="http://schemas.openxmlformats.org/drawingml/2006/main" noGrp="1"/>
          </p:cNvSpPr>
          <p:nvPr/>
        </p:nvSpPr>
        <p:spPr>
          <a:xfrm xmlns:a="http://schemas.openxmlformats.org/drawingml/2006/main">
            <a:off x="428625" y="876300"/>
            <a:ext cx="4905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DA49AB2-AED6-4676-B4AE-0D355D62ACD1}"/>
              </a:ext>
            </a:extLst>
          </p:cNvPr>
          <p:cNvSpPr>
            <a:spLocks xmlns:a="http://schemas.openxmlformats.org/drawingml/2006/main" noGrp="1"/>
          </p:cNvSpPr>
          <p:nvPr/>
        </p:nvSpPr>
        <p:spPr>
          <a:xfrm xmlns:a="http://schemas.openxmlformats.org/drawingml/2006/main">
            <a:off x="504825" y="904875"/>
            <a:ext cx="4752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1｜输入实验谱图与元数据</a:t>
            </a:r>
          </a:p>
        </p:txBody>
      </p:sp>
      <p:sp>
        <p:nvSpPr>
          <p:cNvPr id="13" name="">
            <a:extLst xmlns:a="http://schemas.openxmlformats.org/drawingml/2006/main">
              <a:ext uri="{FF2B5EF4-FFF2-40B4-BE49-F238E27FC236}">
                <a16:creationId xmlns:a16="http://schemas.microsoft.com/office/drawing/2014/main" id="{DF1B5E87-D872-493F-A2B3-B61D4C8A9722}"/>
              </a:ext>
            </a:extLst>
          </p:cNvPr>
          <p:cNvSpPr>
            <a:spLocks xmlns:a="http://schemas.openxmlformats.org/drawingml/2006/main" noGrp="1"/>
          </p:cNvSpPr>
          <p:nvPr/>
        </p:nvSpPr>
        <p:spPr>
          <a:xfrm xmlns:a="http://schemas.openxmlformats.org/drawingml/2006/main">
            <a:off x="428625" y="1238250"/>
            <a:ext cx="4905375" cy="43624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421a058fdd64d37"/>
          <a:stretch xmlns:a="http://schemas.openxmlformats.org/drawingml/2006/main"/>
        </p:blipFill>
        <p:spPr>
          <a:xfrm xmlns:a="http://schemas.openxmlformats.org/drawingml/2006/main">
            <a:off x="495300" y="1495271"/>
            <a:ext cx="4772025" cy="3848407"/>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A3D28D6-7BE1-4125-A36A-92C23758DF7F}"/>
              </a:ext>
            </a:extLst>
          </p:cNvPr>
          <p:cNvSpPr>
            <a:spLocks xmlns:a="http://schemas.openxmlformats.org/drawingml/2006/main" noGrp="1"/>
          </p:cNvSpPr>
          <p:nvPr/>
        </p:nvSpPr>
        <p:spPr>
          <a:xfrm xmlns:a="http://schemas.openxmlformats.org/drawingml/2006/main">
            <a:off x="5715000" y="876300"/>
            <a:ext cx="6048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4EE72F-5CB9-4BD8-A094-DD6ED6AD0606}"/>
              </a:ext>
            </a:extLst>
          </p:cNvPr>
          <p:cNvSpPr>
            <a:spLocks xmlns:a="http://schemas.openxmlformats.org/drawingml/2006/main" noGrp="1"/>
          </p:cNvSpPr>
          <p:nvPr/>
        </p:nvSpPr>
        <p:spPr>
          <a:xfrm xmlns:a="http://schemas.openxmlformats.org/drawingml/2006/main">
            <a:off x="5791200" y="904875"/>
            <a:ext cx="5895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2｜先检查实际进入模型的谱图</a:t>
            </a:r>
          </a:p>
        </p:txBody>
      </p:sp>
      <p:sp>
        <p:nvSpPr>
          <p:cNvPr id="17" name="">
            <a:extLst xmlns:a="http://schemas.openxmlformats.org/drawingml/2006/main">
              <a:ext uri="{FF2B5EF4-FFF2-40B4-BE49-F238E27FC236}">
                <a16:creationId xmlns:a16="http://schemas.microsoft.com/office/drawing/2014/main" id="{D6E8BAAE-7984-4AB2-8268-D287B80D6E5C}"/>
              </a:ext>
            </a:extLst>
          </p:cNvPr>
          <p:cNvSpPr>
            <a:spLocks xmlns:a="http://schemas.openxmlformats.org/drawingml/2006/main" noGrp="1"/>
          </p:cNvSpPr>
          <p:nvPr/>
        </p:nvSpPr>
        <p:spPr>
          <a:xfrm xmlns:a="http://schemas.openxmlformats.org/drawingml/2006/main">
            <a:off x="5715000" y="1238250"/>
            <a:ext cx="6048375"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d7ecba753d94ff1"/>
          <a:stretch xmlns:a="http://schemas.openxmlformats.org/drawingml/2006/main"/>
        </p:blipFill>
        <p:spPr>
          <a:xfrm xmlns:a="http://schemas.openxmlformats.org/drawingml/2006/main">
            <a:off x="5781675" y="1342221"/>
            <a:ext cx="5915025" cy="1744684"/>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047DCEC8-7433-4CA4-A052-62BC45DAC946}"/>
              </a:ext>
            </a:extLst>
          </p:cNvPr>
          <p:cNvSpPr>
            <a:spLocks xmlns:a="http://schemas.openxmlformats.org/drawingml/2006/main" noGrp="1"/>
          </p:cNvSpPr>
          <p:nvPr/>
        </p:nvSpPr>
        <p:spPr>
          <a:xfrm xmlns:a="http://schemas.openxmlformats.org/drawingml/2006/main">
            <a:off x="5715000" y="3371850"/>
            <a:ext cx="6048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2D70BFB-7B76-4D10-83DA-DB7B2BD57472}"/>
              </a:ext>
            </a:extLst>
          </p:cNvPr>
          <p:cNvSpPr>
            <a:spLocks xmlns:a="http://schemas.openxmlformats.org/drawingml/2006/main" noGrp="1"/>
          </p:cNvSpPr>
          <p:nvPr/>
        </p:nvSpPr>
        <p:spPr>
          <a:xfrm xmlns:a="http://schemas.openxmlformats.org/drawingml/2006/main">
            <a:off x="5791200" y="3400425"/>
            <a:ext cx="5895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3｜查看候选结构与分层证据</a:t>
            </a:r>
          </a:p>
        </p:txBody>
      </p:sp>
      <p:sp>
        <p:nvSpPr>
          <p:cNvPr id="21" name="">
            <a:extLst xmlns:a="http://schemas.openxmlformats.org/drawingml/2006/main">
              <a:ext uri="{FF2B5EF4-FFF2-40B4-BE49-F238E27FC236}">
                <a16:creationId xmlns:a16="http://schemas.microsoft.com/office/drawing/2014/main" id="{47C7D728-3AC5-47C8-9A85-8EB692417E69}"/>
              </a:ext>
            </a:extLst>
          </p:cNvPr>
          <p:cNvSpPr>
            <a:spLocks xmlns:a="http://schemas.openxmlformats.org/drawingml/2006/main" noGrp="1"/>
          </p:cNvSpPr>
          <p:nvPr/>
        </p:nvSpPr>
        <p:spPr>
          <a:xfrm xmlns:a="http://schemas.openxmlformats.org/drawingml/2006/main">
            <a:off x="5715000" y="3733800"/>
            <a:ext cx="6048375"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8346fd839b04ee0"/>
          <a:stretch xmlns:a="http://schemas.openxmlformats.org/drawingml/2006/main"/>
        </p:blipFill>
        <p:spPr>
          <a:xfrm xmlns:a="http://schemas.openxmlformats.org/drawingml/2006/main">
            <a:off x="5793349" y="3800475"/>
            <a:ext cx="5891677" cy="187642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5412834E-9FDB-4327-9A6E-F8421E8EC0F0}"/>
              </a:ext>
            </a:extLst>
          </p:cNvPr>
          <p:cNvSpPr>
            <a:spLocks xmlns:a="http://schemas.openxmlformats.org/drawingml/2006/main" noGrp="1"/>
          </p:cNvSpPr>
          <p:nvPr/>
        </p:nvSpPr>
        <p:spPr>
          <a:xfrm xmlns:a="http://schemas.openxmlformats.org/drawingml/2006/main">
            <a:off x="1285875" y="5857875"/>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输出不只是一个分数：候选结构、原始/重排结果、Δppm 与证据来源均可回查。</a:t>
            </a:r>
          </a:p>
        </p:txBody>
      </p:sp>
    </p:spTree>
    <p:extLst>
      <p:ext uri="{BB962C8B-B14F-4D97-AF65-F5344CB8AC3E}">
        <p14:creationId xmlns:p14="http://schemas.microsoft.com/office/powerpoint/2010/main" val="177496030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3445C57-6704-4731-B3BA-7878C0C59F1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50B07A-A28A-4531-BDD5-303D4BFFF7C6}"/>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5EB741-88EA-4E1D-85AA-8F3CED135A1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08D17A-E772-45B6-A31D-83E2837D3C69}"/>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F01CDA-2BDA-423A-A436-D044BD6E6CF8}"/>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真实数据应用与下一步：从候选排序走向可验证的生物学发现</a:t>
            </a:r>
          </a:p>
        </p:txBody>
      </p:sp>
      <p:sp>
        <p:nvSpPr>
          <p:cNvPr id="6" name="">
            <a:extLst xmlns:a="http://schemas.openxmlformats.org/drawingml/2006/main">
              <a:ext uri="{FF2B5EF4-FFF2-40B4-BE49-F238E27FC236}">
                <a16:creationId xmlns:a16="http://schemas.microsoft.com/office/drawing/2014/main" id="{881CD7CA-E453-4572-AF32-9CDC972835B1}"/>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E31261-29DB-487C-BC0F-06F00E930D2F}"/>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3EC060-29A7-433E-BDA0-DB9AC4D539DB}"/>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46B71F-895B-4144-B0F3-321CC00DB302}"/>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平台与真实数据应用</a:t>
            </a:r>
          </a:p>
        </p:txBody>
      </p:sp>
      <p:sp>
        <p:nvSpPr>
          <p:cNvPr id="10" name="">
            <a:extLst xmlns:a="http://schemas.openxmlformats.org/drawingml/2006/main">
              <a:ext uri="{FF2B5EF4-FFF2-40B4-BE49-F238E27FC236}">
                <a16:creationId xmlns:a16="http://schemas.microsoft.com/office/drawing/2014/main" id="{7C2FA8F7-6664-4646-9126-9D1EFFBCCD30}"/>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49ea225c87647ac"/>
          <a:stretch xmlns:a="http://schemas.openxmlformats.org/drawingml/2006/main"/>
        </p:blipFill>
        <p:spPr>
          <a:xfrm xmlns:a="http://schemas.openxmlformats.org/drawingml/2006/main">
            <a:off x="383738" y="971550"/>
            <a:ext cx="7138273" cy="2333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AA61AA0-9115-4C92-B463-E8839C06615F}"/>
              </a:ext>
            </a:extLst>
          </p:cNvPr>
          <p:cNvSpPr>
            <a:spLocks xmlns:a="http://schemas.openxmlformats.org/drawingml/2006/main" noGrp="1"/>
          </p:cNvSpPr>
          <p:nvPr/>
        </p:nvSpPr>
        <p:spPr>
          <a:xfrm xmlns:a="http://schemas.openxmlformats.org/drawingml/2006/main">
            <a:off x="428625" y="3333750"/>
            <a:ext cx="2190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E2D429E1-2669-4F23-84A5-66DECFC24404}"/>
              </a:ext>
            </a:extLst>
          </p:cNvPr>
          <p:cNvSpPr>
            <a:spLocks xmlns:a="http://schemas.openxmlformats.org/drawingml/2006/main" noGrp="1"/>
          </p:cNvSpPr>
          <p:nvPr/>
        </p:nvSpPr>
        <p:spPr>
          <a:xfrm xmlns:a="http://schemas.openxmlformats.org/drawingml/2006/main">
            <a:off x="523875" y="3467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A｜原论文注释率</a:t>
            </a:r>
          </a:p>
        </p:txBody>
      </p:sp>
      <p:sp>
        <p:nvSpPr>
          <p:cNvPr id="14" name="">
            <a:extLst xmlns:a="http://schemas.openxmlformats.org/drawingml/2006/main">
              <a:ext uri="{FF2B5EF4-FFF2-40B4-BE49-F238E27FC236}">
                <a16:creationId xmlns:a16="http://schemas.microsoft.com/office/drawing/2014/main" id="{3E27B3C0-62E6-4553-8AF9-5CE7E42728E5}"/>
              </a:ext>
            </a:extLst>
          </p:cNvPr>
          <p:cNvSpPr>
            <a:spLocks xmlns:a="http://schemas.openxmlformats.org/drawingml/2006/main" noGrp="1"/>
          </p:cNvSpPr>
          <p:nvPr/>
        </p:nvSpPr>
        <p:spPr>
          <a:xfrm xmlns:a="http://schemas.openxmlformats.org/drawingml/2006/main">
            <a:off x="561975" y="3857625"/>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9"/>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345 个已注释代谢物：占全部 9,766 个特征的 3.53%；若只看带 MS2 的 6,054 个特征，则为 5.70%。</a:t>
            </a:r>
          </a:p>
        </p:txBody>
      </p:sp>
      <p:sp>
        <p:nvSpPr>
          <p:cNvPr id="15" name="">
            <a:extLst xmlns:a="http://schemas.openxmlformats.org/drawingml/2006/main">
              <a:ext uri="{FF2B5EF4-FFF2-40B4-BE49-F238E27FC236}">
                <a16:creationId xmlns:a16="http://schemas.microsoft.com/office/drawing/2014/main" id="{3941B3C7-DEC8-4003-A848-3F7903ECF289}"/>
              </a:ext>
            </a:extLst>
          </p:cNvPr>
          <p:cNvSpPr>
            <a:spLocks xmlns:a="http://schemas.openxmlformats.org/drawingml/2006/main" noGrp="1"/>
          </p:cNvSpPr>
          <p:nvPr/>
        </p:nvSpPr>
        <p:spPr>
          <a:xfrm xmlns:a="http://schemas.openxmlformats.org/drawingml/2006/main">
            <a:off x="2809875" y="3333750"/>
            <a:ext cx="2190750" cy="142875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E7D90D8B-A025-45A0-AE50-FE989EE2478A}"/>
              </a:ext>
            </a:extLst>
          </p:cNvPr>
          <p:cNvSpPr>
            <a:spLocks xmlns:a="http://schemas.openxmlformats.org/drawingml/2006/main" noGrp="1"/>
          </p:cNvSpPr>
          <p:nvPr/>
        </p:nvSpPr>
        <p:spPr>
          <a:xfrm xmlns:a="http://schemas.openxmlformats.org/drawingml/2006/main">
            <a:off x="2905125" y="3467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B｜统一分母的候选覆盖</a:t>
            </a:r>
          </a:p>
        </p:txBody>
      </p:sp>
      <p:sp>
        <p:nvSpPr>
          <p:cNvPr id="17" name="">
            <a:extLst xmlns:a="http://schemas.openxmlformats.org/drawingml/2006/main">
              <a:ext uri="{FF2B5EF4-FFF2-40B4-BE49-F238E27FC236}">
                <a16:creationId xmlns:a16="http://schemas.microsoft.com/office/drawing/2014/main" id="{5E810893-19F6-4932-9A39-E46DCBBA1CBB}"/>
              </a:ext>
            </a:extLst>
          </p:cNvPr>
          <p:cNvSpPr>
            <a:spLocks xmlns:a="http://schemas.openxmlformats.org/drawingml/2006/main" noGrp="1"/>
          </p:cNvSpPr>
          <p:nvPr/>
        </p:nvSpPr>
        <p:spPr>
          <a:xfrm xmlns:a="http://schemas.openxmlformats.org/drawingml/2006/main">
            <a:off x="2943225" y="3857625"/>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495"/>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在 16,953 个 RPLC 目标上，DreaMS、E6 与 P2b 的候选覆盖约为 20%–21%；这里不是准确率。</a:t>
            </a:r>
          </a:p>
        </p:txBody>
      </p:sp>
      <p:sp>
        <p:nvSpPr>
          <p:cNvPr id="18" name="">
            <a:extLst xmlns:a="http://schemas.openxmlformats.org/drawingml/2006/main">
              <a:ext uri="{FF2B5EF4-FFF2-40B4-BE49-F238E27FC236}">
                <a16:creationId xmlns:a16="http://schemas.microsoft.com/office/drawing/2014/main" id="{2908DD0E-96A1-4E46-AC64-CA298A7238D2}"/>
              </a:ext>
            </a:extLst>
          </p:cNvPr>
          <p:cNvSpPr>
            <a:spLocks xmlns:a="http://schemas.openxmlformats.org/drawingml/2006/main" noGrp="1"/>
          </p:cNvSpPr>
          <p:nvPr/>
        </p:nvSpPr>
        <p:spPr>
          <a:xfrm xmlns:a="http://schemas.openxmlformats.org/drawingml/2006/main">
            <a:off x="5191125" y="3333750"/>
            <a:ext cx="233362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D9AA8ADE-994A-43AC-915E-0C0D9571DDA5}"/>
              </a:ext>
            </a:extLst>
          </p:cNvPr>
          <p:cNvSpPr>
            <a:spLocks xmlns:a="http://schemas.openxmlformats.org/drawingml/2006/main" noGrp="1"/>
          </p:cNvSpPr>
          <p:nvPr/>
        </p:nvSpPr>
        <p:spPr>
          <a:xfrm xmlns:a="http://schemas.openxmlformats.org/drawingml/2006/main">
            <a:off x="5286375" y="34671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C｜强谱学证据层</a:t>
            </a:r>
          </a:p>
        </p:txBody>
      </p:sp>
      <p:sp>
        <p:nvSpPr>
          <p:cNvPr id="20" name="">
            <a:extLst xmlns:a="http://schemas.openxmlformats.org/drawingml/2006/main">
              <a:ext uri="{FF2B5EF4-FFF2-40B4-BE49-F238E27FC236}">
                <a16:creationId xmlns:a16="http://schemas.microsoft.com/office/drawing/2014/main" id="{67803F16-8F5C-4707-833B-FE6710480291}"/>
              </a:ext>
            </a:extLst>
          </p:cNvPr>
          <p:cNvSpPr>
            <a:spLocks xmlns:a="http://schemas.openxmlformats.org/drawingml/2006/main" noGrp="1"/>
          </p:cNvSpPr>
          <p:nvPr/>
        </p:nvSpPr>
        <p:spPr>
          <a:xfrm xmlns:a="http://schemas.openxmlformats.org/drawingml/2006/main">
            <a:off x="5324475" y="3857625"/>
            <a:ext cx="20669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364"/>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Level 2a-supported：DreaMS 254、E6 276、P2b 230；候选覆盖与证据质量是两个终点。</a:t>
            </a:r>
          </a:p>
        </p:txBody>
      </p:sp>
      <p:sp>
        <p:nvSpPr>
          <p:cNvPr id="21" name="">
            <a:extLst xmlns:a="http://schemas.openxmlformats.org/drawingml/2006/main">
              <a:ext uri="{FF2B5EF4-FFF2-40B4-BE49-F238E27FC236}">
                <a16:creationId xmlns:a16="http://schemas.microsoft.com/office/drawing/2014/main" id="{63EC5DDE-0C4F-4EA2-8CBD-0D337598103C}"/>
              </a:ext>
            </a:extLst>
          </p:cNvPr>
          <p:cNvSpPr>
            <a:spLocks xmlns:a="http://schemas.openxmlformats.org/drawingml/2006/main" noGrp="1"/>
          </p:cNvSpPr>
          <p:nvPr/>
        </p:nvSpPr>
        <p:spPr>
          <a:xfrm xmlns:a="http://schemas.openxmlformats.org/drawingml/2006/main">
            <a:off x="7905750" y="100012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MTBLS13729 应用原则</a:t>
            </a:r>
          </a:p>
        </p:txBody>
      </p:sp>
      <p:sp>
        <p:nvSpPr>
          <p:cNvPr id="22" name="">
            <a:extLst xmlns:a="http://schemas.openxmlformats.org/drawingml/2006/main">
              <a:ext uri="{FF2B5EF4-FFF2-40B4-BE49-F238E27FC236}">
                <a16:creationId xmlns:a16="http://schemas.microsoft.com/office/drawing/2014/main" id="{F8D3E5D5-28E9-4985-9C66-8CCBFBD6A0F2}"/>
              </a:ext>
            </a:extLst>
          </p:cNvPr>
          <p:cNvSpPr>
            <a:spLocks xmlns:a="http://schemas.openxmlformats.org/drawingml/2006/main" noGrp="1"/>
          </p:cNvSpPr>
          <p:nvPr/>
        </p:nvSpPr>
        <p:spPr>
          <a:xfrm xmlns:a="http://schemas.openxmlformats.org/drawingml/2006/main">
            <a:off x="7810500" y="15716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1</a:t>
            </a:r>
          </a:p>
        </p:txBody>
      </p:sp>
      <p:sp>
        <p:nvSpPr>
          <p:cNvPr id="23" name="">
            <a:extLst xmlns:a="http://schemas.openxmlformats.org/drawingml/2006/main">
              <a:ext uri="{FF2B5EF4-FFF2-40B4-BE49-F238E27FC236}">
                <a16:creationId xmlns:a16="http://schemas.microsoft.com/office/drawing/2014/main" id="{B7FB577A-CAFC-4E6F-BF33-287ACB518CB8}"/>
              </a:ext>
            </a:extLst>
          </p:cNvPr>
          <p:cNvSpPr>
            <a:spLocks xmlns:a="http://schemas.openxmlformats.org/drawingml/2006/main" noGrp="1"/>
          </p:cNvSpPr>
          <p:nvPr/>
        </p:nvSpPr>
        <p:spPr>
          <a:xfrm xmlns:a="http://schemas.openxmlformats.org/drawingml/2006/main">
            <a:off x="8172450" y="157162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9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所有模型使用同一批 RPLC 目标与同一候选协议比较，不跨任务拼接数字。</a:t>
            </a:r>
          </a:p>
        </p:txBody>
      </p:sp>
      <p:sp>
        <p:nvSpPr>
          <p:cNvPr id="24" name="">
            <a:extLst xmlns:a="http://schemas.openxmlformats.org/drawingml/2006/main">
              <a:ext uri="{FF2B5EF4-FFF2-40B4-BE49-F238E27FC236}">
                <a16:creationId xmlns:a16="http://schemas.microsoft.com/office/drawing/2014/main" id="{5FE2FD9C-415C-4CA9-81B4-919D65FF7ECA}"/>
              </a:ext>
            </a:extLst>
          </p:cNvPr>
          <p:cNvSpPr>
            <a:spLocks xmlns:a="http://schemas.openxmlformats.org/drawingml/2006/main" noGrp="1"/>
          </p:cNvSpPr>
          <p:nvPr/>
        </p:nvSpPr>
        <p:spPr>
          <a:xfrm xmlns:a="http://schemas.openxmlformats.org/drawingml/2006/main">
            <a:off x="7810500" y="24288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2</a:t>
            </a:r>
          </a:p>
        </p:txBody>
      </p:sp>
      <p:sp>
        <p:nvSpPr>
          <p:cNvPr id="25" name="">
            <a:extLst xmlns:a="http://schemas.openxmlformats.org/drawingml/2006/main">
              <a:ext uri="{FF2B5EF4-FFF2-40B4-BE49-F238E27FC236}">
                <a16:creationId xmlns:a16="http://schemas.microsoft.com/office/drawing/2014/main" id="{C9EDF4C7-45FA-40F3-A83C-2FB138944C6C}"/>
              </a:ext>
            </a:extLst>
          </p:cNvPr>
          <p:cNvSpPr>
            <a:spLocks xmlns:a="http://schemas.openxmlformats.org/drawingml/2006/main" noGrp="1"/>
          </p:cNvSpPr>
          <p:nvPr/>
        </p:nvSpPr>
        <p:spPr>
          <a:xfrm xmlns:a="http://schemas.openxmlformats.org/drawingml/2006/main">
            <a:off x="8172450" y="242887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923"/>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数据库命中、模型候选与生物网络支持属于不同证据层级；模型新增身份仍是待验证假设。</a:t>
            </a:r>
          </a:p>
        </p:txBody>
      </p:sp>
      <p:sp>
        <p:nvSpPr>
          <p:cNvPr id="26" name="">
            <a:extLst xmlns:a="http://schemas.openxmlformats.org/drawingml/2006/main">
              <a:ext uri="{FF2B5EF4-FFF2-40B4-BE49-F238E27FC236}">
                <a16:creationId xmlns:a16="http://schemas.microsoft.com/office/drawing/2014/main" id="{27FEFD26-AC00-4363-ADA5-8364E732A488}"/>
              </a:ext>
            </a:extLst>
          </p:cNvPr>
          <p:cNvSpPr>
            <a:spLocks xmlns:a="http://schemas.openxmlformats.org/drawingml/2006/main" noGrp="1"/>
          </p:cNvSpPr>
          <p:nvPr/>
        </p:nvSpPr>
        <p:spPr>
          <a:xfrm xmlns:a="http://schemas.openxmlformats.org/drawingml/2006/main">
            <a:off x="7810500" y="32861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3</a:t>
            </a:r>
          </a:p>
        </p:txBody>
      </p:sp>
      <p:sp>
        <p:nvSpPr>
          <p:cNvPr id="27" name="">
            <a:extLst xmlns:a="http://schemas.openxmlformats.org/drawingml/2006/main">
              <a:ext uri="{FF2B5EF4-FFF2-40B4-BE49-F238E27FC236}">
                <a16:creationId xmlns:a16="http://schemas.microsoft.com/office/drawing/2014/main" id="{C9D6A662-1885-40D9-9BAC-6955F75CE975}"/>
              </a:ext>
            </a:extLst>
          </p:cNvPr>
          <p:cNvSpPr>
            <a:spLocks xmlns:a="http://schemas.openxmlformats.org/drawingml/2006/main" noGrp="1"/>
          </p:cNvSpPr>
          <p:nvPr/>
        </p:nvSpPr>
        <p:spPr>
          <a:xfrm xmlns:a="http://schemas.openxmlformats.org/drawingml/2006/main">
            <a:off x="8172450" y="328612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静态丰度差异只支持组间关联，不能直接解释为代谢通量或酶活性变化。</a:t>
            </a:r>
          </a:p>
        </p:txBody>
      </p:sp>
      <p:sp>
        <p:nvSpPr>
          <p:cNvPr id="28" name="">
            <a:extLst xmlns:a="http://schemas.openxmlformats.org/drawingml/2006/main">
              <a:ext uri="{FF2B5EF4-FFF2-40B4-BE49-F238E27FC236}">
                <a16:creationId xmlns:a16="http://schemas.microsoft.com/office/drawing/2014/main" id="{029D1209-3867-4D7C-B4CA-B3807B285CA9}"/>
              </a:ext>
            </a:extLst>
          </p:cNvPr>
          <p:cNvSpPr>
            <a:spLocks xmlns:a="http://schemas.openxmlformats.org/drawingml/2006/main" noGrp="1"/>
          </p:cNvSpPr>
          <p:nvPr/>
        </p:nvSpPr>
        <p:spPr>
          <a:xfrm xmlns:a="http://schemas.openxmlformats.org/drawingml/2006/main">
            <a:off x="7858125" y="4238625"/>
            <a:ext cx="3429000" cy="19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8C7144A-0AA8-4D81-BF52-8FB0F84E2E3A}"/>
              </a:ext>
            </a:extLst>
          </p:cNvPr>
          <p:cNvSpPr>
            <a:spLocks xmlns:a="http://schemas.openxmlformats.org/drawingml/2006/main" noGrp="1"/>
          </p:cNvSpPr>
          <p:nvPr/>
        </p:nvSpPr>
        <p:spPr>
          <a:xfrm xmlns:a="http://schemas.openxmlformats.org/drawingml/2006/main">
            <a:off x="7953375" y="4429125"/>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后续只对优先候选补充标准品或针对性生物学验证。</a:t>
            </a:r>
          </a:p>
        </p:txBody>
      </p:sp>
      <p:sp>
        <p:nvSpPr>
          <p:cNvPr id="30" name="">
            <a:extLst xmlns:a="http://schemas.openxmlformats.org/drawingml/2006/main">
              <a:ext uri="{FF2B5EF4-FFF2-40B4-BE49-F238E27FC236}">
                <a16:creationId xmlns:a16="http://schemas.microsoft.com/office/drawing/2014/main" id="{627B59FC-A00B-40D5-BD5F-32B73BB0C921}"/>
              </a:ext>
            </a:extLst>
          </p:cNvPr>
          <p:cNvSpPr>
            <a:spLocks xmlns:a="http://schemas.openxmlformats.org/drawingml/2006/main" noGrp="1"/>
          </p:cNvSpPr>
          <p:nvPr/>
        </p:nvSpPr>
        <p:spPr>
          <a:xfrm xmlns:a="http://schemas.openxmlformats.org/drawingml/2006/main">
            <a:off x="904875" y="52863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总结：四类改进都回到同一候选排序任务——补强全局表征、局部谱学、化学碎裂与生物上下文。</a:t>
            </a:r>
          </a:p>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候选覆盖、证据质量与最终鉴定必须分别报告。</a:t>
            </a:r>
          </a:p>
        </p:txBody>
      </p:sp>
    </p:spTree>
    <p:extLst>
      <p:ext uri="{BB962C8B-B14F-4D97-AF65-F5344CB8AC3E}">
        <p14:creationId xmlns:p14="http://schemas.microsoft.com/office/powerpoint/2010/main" val="1189215792"/>
      </p:ext>
    </p:extLst>
  </p:cSld>
</p:sld>
</file>

<file path=ppt/theme/theme1.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2026-09-08T12:07:26.3420000Z</dcterms:created>
  <dcterms:modified xsi:type="dcterms:W3CDTF">2026-09-08T12:07:26.3420000Z</dcterms:modified>
</coreProperties>
</file>